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0058400" cy="7772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16.png"/><Relationship Id="rId18" Type="http://schemas.openxmlformats.org/officeDocument/2006/relationships/image" Target="../media/image17.png"/><Relationship Id="rId19" Type="http://schemas.openxmlformats.org/officeDocument/2006/relationships/image" Target="../media/image18.png"/><Relationship Id="rId20" Type="http://schemas.openxmlformats.org/officeDocument/2006/relationships/image" Target="../media/image19.png"/><Relationship Id="rId21"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 Id="rId10" Type="http://schemas.openxmlformats.org/officeDocument/2006/relationships/image" Target="../media/image29.png"/><Relationship Id="rId11" Type="http://schemas.openxmlformats.org/officeDocument/2006/relationships/image" Target="../media/image30.png"/><Relationship Id="rId12" Type="http://schemas.openxmlformats.org/officeDocument/2006/relationships/image" Target="../media/image31.png"/><Relationship Id="rId13" Type="http://schemas.openxmlformats.org/officeDocument/2006/relationships/image" Target="../media/image32.png"/><Relationship Id="rId14" Type="http://schemas.openxmlformats.org/officeDocument/2006/relationships/image" Target="../media/image33.png"/><Relationship Id="rId15" Type="http://schemas.openxmlformats.org/officeDocument/2006/relationships/image" Target="../media/image34.png"/><Relationship Id="rId16" Type="http://schemas.openxmlformats.org/officeDocument/2006/relationships/image" Target="../media/image35.png"/><Relationship Id="rId17" Type="http://schemas.openxmlformats.org/officeDocument/2006/relationships/image" Target="../media/image36.png"/><Relationship Id="rId18" Type="http://schemas.openxmlformats.org/officeDocument/2006/relationships/image" Target="../media/image37.png"/><Relationship Id="rId19" Type="http://schemas.openxmlformats.org/officeDocument/2006/relationships/image" Target="../media/image38.png"/><Relationship Id="rId20" Type="http://schemas.openxmlformats.org/officeDocument/2006/relationships/image" Target="../media/image39.png"/><Relationship Id="rId21" Type="http://schemas.openxmlformats.org/officeDocument/2006/relationships/image" Target="../media/image4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 panel 3 ground"/>
          <p:cNvSpPr/>
          <p:nvPr/>
        </p:nvSpPr>
        <p:spPr>
          <a:xfrm>
            <a:off x="-114300" y="-114300"/>
            <a:ext cx="3314700" cy="8001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 panel 3 colour field"/>
          <p:cNvSpPr/>
          <p:nvPr/>
        </p:nvSpPr>
        <p:spPr>
          <a:xfrm>
            <a:off x="-114300" y="-114300"/>
            <a:ext cx="3314700" cy="8001000"/>
          </a:xfrm>
          <a:prstGeom prst="rect">
            <a:avLst/>
          </a:prstGeom>
          <a:gradFill rotWithShape="1">
            <a:gsLst>
              <a:gs pos="0">
                <a:srgbClr val="3780B8"/>
              </a:gs>
              <a:gs pos="100000">
                <a:srgbClr val="1F4E73"/>
              </a:gs>
            </a:gsLst>
            <a:lin ang="468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eyebrow eyebrow--edu"/>
          <p:cNvSpPr txBox="1"/>
          <p:nvPr/>
        </p:nvSpPr>
        <p:spPr>
          <a:xfrm>
            <a:off x="255984" y="260152"/>
            <a:ext cx="2878312" cy="112068"/>
          </a:xfrm>
          <a:prstGeom prst="rect">
            <a:avLst/>
          </a:prstGeom>
          <a:noFill/>
        </p:spPr>
        <p:txBody>
          <a:bodyPr wrap="square" lIns="0" rIns="0" tIns="0" bIns="0">
            <a:noAutofit/>
          </a:bodyPr>
          <a:lstStyle/>
          <a:p>
            <a:pPr algn="l">
              <a:lnSpc>
                <a:spcPts val="883"/>
              </a:lnSpc>
            </a:pPr>
            <a:r>
              <a:rPr sz="650" b="1" i="0" spc="96">
                <a:solidFill>
                  <a:srgbClr val="FFFFFF">
                    <a:alpha val="86000"/>
                  </a:srgbClr>
                </a:solidFill>
                <a:latin typeface="Montserrat"/>
              </a:rPr>
              <a:t>TEACHING</a:t>
            </a:r>
          </a:p>
        </p:txBody>
      </p:sp>
      <p:sp>
        <p:nvSpPr>
          <p:cNvPr id="5" name="text: h2"/>
          <p:cNvSpPr txBox="1"/>
          <p:nvPr/>
        </p:nvSpPr>
        <p:spPr>
          <a:xfrm>
            <a:off x="255984" y="422374"/>
            <a:ext cx="2878312" cy="373261"/>
          </a:xfrm>
          <a:prstGeom prst="rect">
            <a:avLst/>
          </a:prstGeom>
          <a:noFill/>
        </p:spPr>
        <p:txBody>
          <a:bodyPr wrap="square" lIns="0" rIns="0" tIns="0" bIns="0">
            <a:noAutofit/>
          </a:bodyPr>
          <a:lstStyle/>
          <a:p>
            <a:pPr algn="l">
              <a:lnSpc>
                <a:spcPts val="1470"/>
              </a:lnSpc>
            </a:pPr>
            <a:r>
              <a:rPr sz="1400" b="1" i="0" spc="-8">
                <a:solidFill>
                  <a:srgbClr val="FFFFFF"/>
                </a:solidFill>
                <a:latin typeface="Montserrat"/>
              </a:rPr>
              <a:t>Anyone, anywhere, can learn to restore living soil.</a:t>
            </a:r>
          </a:p>
        </p:txBody>
      </p:sp>
      <p:pic>
        <p:nvPicPr>
          <p:cNvPr id="6" name="image: Loida Teaching 3.JPG" descr="outside-000.png"/>
          <p:cNvPicPr>
            <a:picLocks noChangeAspect="1"/>
          </p:cNvPicPr>
          <p:nvPr/>
        </p:nvPicPr>
        <p:blipFill>
          <a:blip r:embed="rId2"/>
          <a:stretch>
            <a:fillRect/>
          </a:stretch>
        </p:blipFill>
        <p:spPr>
          <a:xfrm>
            <a:off x="-132606" y="896094"/>
            <a:ext cx="3333006" cy="1097161"/>
          </a:xfrm>
          <a:prstGeom prst="rect">
            <a:avLst/>
          </a:prstGeom>
        </p:spPr>
      </p:pic>
      <p:pic>
        <p:nvPicPr>
          <p:cNvPr id="7" name="image: photo fade" descr="outside-001.png"/>
          <p:cNvPicPr>
            <a:picLocks noChangeAspect="1"/>
          </p:cNvPicPr>
          <p:nvPr/>
        </p:nvPicPr>
        <p:blipFill>
          <a:blip r:embed="rId3"/>
          <a:stretch>
            <a:fillRect/>
          </a:stretch>
        </p:blipFill>
        <p:spPr>
          <a:xfrm>
            <a:off x="-132606" y="1547217"/>
            <a:ext cx="3333006" cy="639961"/>
          </a:xfrm>
          <a:prstGeom prst="rect">
            <a:avLst/>
          </a:prstGeom>
        </p:spPr>
      </p:pic>
      <p:sp>
        <p:nvSpPr>
          <p:cNvPr id="8" name="text: caption"/>
          <p:cNvSpPr txBox="1"/>
          <p:nvPr/>
        </p:nvSpPr>
        <p:spPr>
          <a:xfrm>
            <a:off x="237679" y="2025253"/>
            <a:ext cx="2897716" cy="107156"/>
          </a:xfrm>
          <a:prstGeom prst="rect">
            <a:avLst/>
          </a:prstGeom>
          <a:noFill/>
        </p:spPr>
        <p:txBody>
          <a:bodyPr wrap="square" lIns="0" rIns="0" tIns="0" bIns="0">
            <a:noAutofit/>
          </a:bodyPr>
          <a:lstStyle/>
          <a:p>
            <a:pPr algn="l">
              <a:lnSpc>
                <a:spcPts val="844"/>
              </a:lnSpc>
            </a:pPr>
            <a:r>
              <a:rPr sz="650" b="0" i="1">
                <a:solidFill>
                  <a:srgbClr val="FFFFFF">
                    <a:alpha val="70000"/>
                  </a:srgbClr>
                </a:solidFill>
                <a:latin typeface="Source Sans 3"/>
              </a:rPr>
              <a:t>A mentor teaching on working land.</a:t>
            </a:r>
          </a:p>
        </p:txBody>
      </p:sp>
      <p:sp>
        <p:nvSpPr>
          <p:cNvPr id="9" name="text: lede"/>
          <p:cNvSpPr txBox="1"/>
          <p:nvPr/>
        </p:nvSpPr>
        <p:spPr>
          <a:xfrm>
            <a:off x="255984" y="2328714"/>
            <a:ext cx="2878312" cy="646509"/>
          </a:xfrm>
          <a:prstGeom prst="rect">
            <a:avLst/>
          </a:prstGeom>
          <a:noFill/>
        </p:spPr>
        <p:txBody>
          <a:bodyPr wrap="square" lIns="0" rIns="0" tIns="0" bIns="0">
            <a:noAutofit/>
          </a:bodyPr>
          <a:lstStyle/>
          <a:p>
            <a:pPr algn="l">
              <a:lnSpc>
                <a:spcPts val="1274"/>
              </a:lnSpc>
            </a:pPr>
            <a:r>
              <a:rPr sz="1000" b="0" i="0">
                <a:solidFill>
                  <a:srgbClr val="FFFFFF"/>
                </a:solidFill>
                <a:latin typeface="Source Sans 3"/>
              </a:rPr>
              <a:t>From first curiosity to professional practice. Everyone starts with the Foundation Courses. Where you go next depends on whether you want to grow better yourself, or help others do it.</a:t>
            </a:r>
          </a:p>
        </p:txBody>
      </p:sp>
      <p:pic>
        <p:nvPicPr>
          <p:cNvPr id="10" name="image: icon #i-document" descr="outside-002.png"/>
          <p:cNvPicPr>
            <a:picLocks noChangeAspect="1"/>
          </p:cNvPicPr>
          <p:nvPr/>
        </p:nvPicPr>
        <p:blipFill>
          <a:blip r:embed="rId4"/>
          <a:stretch>
            <a:fillRect/>
          </a:stretch>
        </p:blipFill>
        <p:spPr>
          <a:xfrm>
            <a:off x="255984" y="3029992"/>
            <a:ext cx="173682" cy="173682"/>
          </a:xfrm>
          <a:prstGeom prst="rect">
            <a:avLst/>
          </a:prstGeom>
        </p:spPr>
      </p:pic>
      <p:sp>
        <p:nvSpPr>
          <p:cNvPr id="11" name="text: h3"/>
          <p:cNvSpPr txBox="1"/>
          <p:nvPr/>
        </p:nvSpPr>
        <p:spPr>
          <a:xfrm>
            <a:off x="498128" y="3052762"/>
            <a:ext cx="1199769" cy="127992"/>
          </a:xfrm>
          <a:prstGeom prst="rect">
            <a:avLst/>
          </a:prstGeom>
          <a:noFill/>
        </p:spPr>
        <p:txBody>
          <a:bodyPr wrap="square" lIns="0" rIns="0" tIns="0" bIns="0">
            <a:noAutofit/>
          </a:bodyPr>
          <a:lstStyle/>
          <a:p>
            <a:pPr algn="l">
              <a:lnSpc>
                <a:spcPts val="1008"/>
              </a:lnSpc>
            </a:pPr>
            <a:r>
              <a:rPr sz="850" b="1" i="0">
                <a:solidFill>
                  <a:srgbClr val="FFFFFF"/>
                </a:solidFill>
                <a:latin typeface="Montserrat"/>
              </a:rPr>
              <a:t>Foundation Courses</a:t>
            </a:r>
          </a:p>
        </p:txBody>
      </p:sp>
      <p:sp>
        <p:nvSpPr>
          <p:cNvPr id="12" name="text: p"/>
          <p:cNvSpPr txBox="1"/>
          <p:nvPr/>
        </p:nvSpPr>
        <p:spPr>
          <a:xfrm>
            <a:off x="255984" y="3235672"/>
            <a:ext cx="2878312" cy="534591"/>
          </a:xfrm>
          <a:prstGeom prst="rect">
            <a:avLst/>
          </a:prstGeom>
          <a:noFill/>
        </p:spPr>
        <p:txBody>
          <a:bodyPr wrap="square" lIns="0" rIns="0" tIns="0" bIns="0">
            <a:noAutofit/>
          </a:bodyPr>
          <a:lstStyle/>
          <a:p>
            <a:pPr algn="l">
              <a:lnSpc>
                <a:spcPts val="1053"/>
              </a:lnSpc>
            </a:pPr>
            <a:r>
              <a:rPr sz="800" b="0" i="0">
                <a:solidFill>
                  <a:srgbClr val="FFFFFF"/>
                </a:solidFill>
                <a:latin typeface="Source Sans 3"/>
              </a:rPr>
              <a:t>The science of the soil food web, the organisms and their roles, and how biological amendments are made and applied. Online, self-paced, about 150 hours, and required before any Advanced Program.</a:t>
            </a:r>
          </a:p>
        </p:txBody>
      </p:sp>
      <p:sp>
        <p:nvSpPr>
          <p:cNvPr id="13" name="rect: hairline"/>
          <p:cNvSpPr/>
          <p:nvPr/>
        </p:nvSpPr>
        <p:spPr>
          <a:xfrm>
            <a:off x="255984" y="3825032"/>
            <a:ext cx="2688431" cy="9525"/>
          </a:xfrm>
          <a:prstGeom prst="rect">
            <a:avLst/>
          </a:prstGeom>
          <a:solidFill>
            <a:srgbClr val="4F3433">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image: icon #i-microscope" descr="outside-003.png"/>
          <p:cNvPicPr>
            <a:picLocks noChangeAspect="1"/>
          </p:cNvPicPr>
          <p:nvPr/>
        </p:nvPicPr>
        <p:blipFill>
          <a:blip r:embed="rId5"/>
          <a:stretch>
            <a:fillRect/>
          </a:stretch>
        </p:blipFill>
        <p:spPr>
          <a:xfrm>
            <a:off x="255984" y="3889325"/>
            <a:ext cx="173682" cy="173682"/>
          </a:xfrm>
          <a:prstGeom prst="rect">
            <a:avLst/>
          </a:prstGeom>
        </p:spPr>
      </p:pic>
      <p:sp>
        <p:nvSpPr>
          <p:cNvPr id="15" name="text: h3"/>
          <p:cNvSpPr txBox="1"/>
          <p:nvPr/>
        </p:nvSpPr>
        <p:spPr>
          <a:xfrm>
            <a:off x="498128" y="3912096"/>
            <a:ext cx="1230058" cy="127992"/>
          </a:xfrm>
          <a:prstGeom prst="rect">
            <a:avLst/>
          </a:prstGeom>
          <a:noFill/>
        </p:spPr>
        <p:txBody>
          <a:bodyPr wrap="square" lIns="0" rIns="0" tIns="0" bIns="0">
            <a:noAutofit/>
          </a:bodyPr>
          <a:lstStyle/>
          <a:p>
            <a:pPr algn="l">
              <a:lnSpc>
                <a:spcPts val="1008"/>
              </a:lnSpc>
            </a:pPr>
            <a:r>
              <a:rPr sz="850" b="1" i="0">
                <a:solidFill>
                  <a:srgbClr val="FFFFFF"/>
                </a:solidFill>
                <a:latin typeface="Montserrat"/>
              </a:rPr>
              <a:t>Advanced Programs</a:t>
            </a:r>
          </a:p>
        </p:txBody>
      </p:sp>
      <p:sp>
        <p:nvSpPr>
          <p:cNvPr id="16" name="text: p"/>
          <p:cNvSpPr txBox="1"/>
          <p:nvPr/>
        </p:nvSpPr>
        <p:spPr>
          <a:xfrm>
            <a:off x="255984" y="4095006"/>
            <a:ext cx="2878312" cy="400943"/>
          </a:xfrm>
          <a:prstGeom prst="rect">
            <a:avLst/>
          </a:prstGeom>
          <a:noFill/>
        </p:spPr>
        <p:txBody>
          <a:bodyPr wrap="square" lIns="0" rIns="0" tIns="0" bIns="0">
            <a:noAutofit/>
          </a:bodyPr>
          <a:lstStyle/>
          <a:p>
            <a:pPr algn="l">
              <a:lnSpc>
                <a:spcPts val="1053"/>
              </a:lnSpc>
            </a:pPr>
            <a:r>
              <a:rPr sz="800" b="0" i="0">
                <a:solidFill>
                  <a:srgbClr val="FFFFFF"/>
                </a:solidFill>
                <a:latin typeface="Source Sans 3"/>
              </a:rPr>
              <a:t>Soil Microscopy, BioComplete™ Compost Production, Biological Liquid Amendments and Field Trial, each with its own mentor. All four together are the full path.</a:t>
            </a:r>
          </a:p>
        </p:txBody>
      </p:sp>
      <p:sp>
        <p:nvSpPr>
          <p:cNvPr id="17" name="rect: hairline"/>
          <p:cNvSpPr/>
          <p:nvPr/>
        </p:nvSpPr>
        <p:spPr>
          <a:xfrm>
            <a:off x="255984" y="4550718"/>
            <a:ext cx="2688431" cy="9525"/>
          </a:xfrm>
          <a:prstGeom prst="rect">
            <a:avLst/>
          </a:prstGeom>
          <a:solidFill>
            <a:srgbClr val="4F3433">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image: icon #i-hourglass" descr="outside-004.png"/>
          <p:cNvPicPr>
            <a:picLocks noChangeAspect="1"/>
          </p:cNvPicPr>
          <p:nvPr/>
        </p:nvPicPr>
        <p:blipFill>
          <a:blip r:embed="rId6"/>
          <a:stretch>
            <a:fillRect/>
          </a:stretch>
        </p:blipFill>
        <p:spPr>
          <a:xfrm>
            <a:off x="255984" y="4615011"/>
            <a:ext cx="173682" cy="173682"/>
          </a:xfrm>
          <a:prstGeom prst="rect">
            <a:avLst/>
          </a:prstGeom>
        </p:spPr>
      </p:pic>
      <p:sp>
        <p:nvSpPr>
          <p:cNvPr id="19" name="text: h3"/>
          <p:cNvSpPr txBox="1"/>
          <p:nvPr/>
        </p:nvSpPr>
        <p:spPr>
          <a:xfrm>
            <a:off x="498128" y="4637782"/>
            <a:ext cx="1391602" cy="127992"/>
          </a:xfrm>
          <a:prstGeom prst="rect">
            <a:avLst/>
          </a:prstGeom>
          <a:noFill/>
        </p:spPr>
        <p:txBody>
          <a:bodyPr wrap="square" lIns="0" rIns="0" tIns="0" bIns="0">
            <a:noAutofit/>
          </a:bodyPr>
          <a:lstStyle/>
          <a:p>
            <a:pPr algn="l">
              <a:lnSpc>
                <a:spcPts val="1008"/>
              </a:lnSpc>
            </a:pPr>
            <a:r>
              <a:rPr sz="850" b="1" i="0">
                <a:solidFill>
                  <a:srgbClr val="FFFFFF"/>
                </a:solidFill>
                <a:latin typeface="Montserrat"/>
              </a:rPr>
              <a:t>Accelerator Workshops</a:t>
            </a:r>
          </a:p>
        </p:txBody>
      </p:sp>
      <p:sp>
        <p:nvSpPr>
          <p:cNvPr id="20" name="text: p"/>
          <p:cNvSpPr txBox="1"/>
          <p:nvPr/>
        </p:nvSpPr>
        <p:spPr>
          <a:xfrm>
            <a:off x="255984" y="4820692"/>
            <a:ext cx="2878312" cy="534591"/>
          </a:xfrm>
          <a:prstGeom prst="rect">
            <a:avLst/>
          </a:prstGeom>
          <a:noFill/>
        </p:spPr>
        <p:txBody>
          <a:bodyPr wrap="square" lIns="0" rIns="0" tIns="0" bIns="0">
            <a:noAutofit/>
          </a:bodyPr>
          <a:lstStyle/>
          <a:p>
            <a:pPr algn="l">
              <a:lnSpc>
                <a:spcPts val="1053"/>
              </a:lnSpc>
            </a:pPr>
            <a:r>
              <a:rPr sz="800" b="0" i="0">
                <a:solidFill>
                  <a:srgbClr val="FFFFFF"/>
                </a:solidFill>
                <a:latin typeface="Source Sans 3"/>
              </a:rPr>
              <a:t>The Advanced Programs worked through as a group on working land, the whole method applied at once. Held periodically, and hosted with a partner on their land. Dates and places go up on the school site.</a:t>
            </a:r>
          </a:p>
        </p:txBody>
      </p:sp>
      <p:sp>
        <p:nvSpPr>
          <p:cNvPr id="21" name="rect: hairline"/>
          <p:cNvSpPr/>
          <p:nvPr/>
        </p:nvSpPr>
        <p:spPr>
          <a:xfrm>
            <a:off x="255984" y="5410051"/>
            <a:ext cx="2688431" cy="9525"/>
          </a:xfrm>
          <a:prstGeom prst="rect">
            <a:avLst/>
          </a:prstGeom>
          <a:solidFill>
            <a:srgbClr val="4F3433">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image: icon #i-person" descr="outside-005.png"/>
          <p:cNvPicPr>
            <a:picLocks noChangeAspect="1"/>
          </p:cNvPicPr>
          <p:nvPr/>
        </p:nvPicPr>
        <p:blipFill>
          <a:blip r:embed="rId7"/>
          <a:stretch>
            <a:fillRect/>
          </a:stretch>
        </p:blipFill>
        <p:spPr>
          <a:xfrm>
            <a:off x="255984" y="5474345"/>
            <a:ext cx="173682" cy="173682"/>
          </a:xfrm>
          <a:prstGeom prst="rect">
            <a:avLst/>
          </a:prstGeom>
        </p:spPr>
      </p:pic>
      <p:sp>
        <p:nvSpPr>
          <p:cNvPr id="23" name="text: h3"/>
          <p:cNvSpPr txBox="1"/>
          <p:nvPr/>
        </p:nvSpPr>
        <p:spPr>
          <a:xfrm>
            <a:off x="498128" y="5497116"/>
            <a:ext cx="886778" cy="127992"/>
          </a:xfrm>
          <a:prstGeom prst="rect">
            <a:avLst/>
          </a:prstGeom>
          <a:noFill/>
        </p:spPr>
        <p:txBody>
          <a:bodyPr wrap="square" lIns="0" rIns="0" tIns="0" bIns="0">
            <a:noAutofit/>
          </a:bodyPr>
          <a:lstStyle/>
          <a:p>
            <a:pPr algn="l">
              <a:lnSpc>
                <a:spcPts val="1008"/>
              </a:lnSpc>
            </a:pPr>
            <a:r>
              <a:rPr sz="850" b="1" i="0">
                <a:solidFill>
                  <a:srgbClr val="FFFFFF"/>
                </a:solidFill>
                <a:latin typeface="Montserrat"/>
              </a:rPr>
              <a:t>Where it leads</a:t>
            </a:r>
          </a:p>
        </p:txBody>
      </p:sp>
      <p:sp>
        <p:nvSpPr>
          <p:cNvPr id="24" name="text: p"/>
          <p:cNvSpPr txBox="1"/>
          <p:nvPr/>
        </p:nvSpPr>
        <p:spPr>
          <a:xfrm>
            <a:off x="255984" y="5680025"/>
            <a:ext cx="2878312" cy="534591"/>
          </a:xfrm>
          <a:prstGeom prst="rect">
            <a:avLst/>
          </a:prstGeom>
          <a:noFill/>
        </p:spPr>
        <p:txBody>
          <a:bodyPr wrap="square" lIns="0" rIns="0" tIns="0" bIns="0">
            <a:noAutofit/>
          </a:bodyPr>
          <a:lstStyle/>
          <a:p>
            <a:pPr algn="l">
              <a:lnSpc>
                <a:spcPts val="1053"/>
              </a:lnSpc>
            </a:pPr>
            <a:r>
              <a:rPr sz="800" b="0" i="0">
                <a:solidFill>
                  <a:srgbClr val="FFFFFF"/>
                </a:solidFill>
                <a:latin typeface="Source Sans 3"/>
              </a:rPr>
              <a:t>All four Advanced Programs together carry the Soil Food Web Consultant title; Soil Microscopy alone, the Lab Technician title. Every program, with its price, is listed at </a:t>
            </a:r>
            <a:r>
              <a:rPr sz="700" b="0" i="0">
                <a:solidFill>
                  <a:srgbClr val="FFFFFF"/>
                </a:solidFill>
                <a:latin typeface="Source Sans 3"/>
              </a:rPr>
              <a:t>school.soilfoodweb.com</a:t>
            </a:r>
          </a:p>
        </p:txBody>
      </p:sp>
      <p:pic>
        <p:nvPicPr>
          <p:cNvPr id="25" name="image: courses.svg" descr="outside-006.png"/>
          <p:cNvPicPr>
            <a:picLocks noChangeAspect="1"/>
          </p:cNvPicPr>
          <p:nvPr/>
        </p:nvPicPr>
        <p:blipFill>
          <a:blip r:embed="rId8"/>
          <a:stretch>
            <a:fillRect/>
          </a:stretch>
        </p:blipFill>
        <p:spPr>
          <a:xfrm>
            <a:off x="255984" y="6464945"/>
            <a:ext cx="1051471" cy="1051471"/>
          </a:xfrm>
          <a:prstGeom prst="rect">
            <a:avLst/>
          </a:prstGeom>
        </p:spPr>
      </p:pic>
      <p:sp>
        <p:nvSpPr>
          <p:cNvPr id="26" name="text: t"/>
          <p:cNvSpPr txBox="1"/>
          <p:nvPr/>
        </p:nvSpPr>
        <p:spPr>
          <a:xfrm>
            <a:off x="1417141" y="6584752"/>
            <a:ext cx="1647486" cy="264914"/>
          </a:xfrm>
          <a:prstGeom prst="rect">
            <a:avLst/>
          </a:prstGeom>
          <a:noFill/>
        </p:spPr>
        <p:txBody>
          <a:bodyPr wrap="square" lIns="0" rIns="0" tIns="0" bIns="0">
            <a:noAutofit/>
          </a:bodyPr>
          <a:lstStyle/>
          <a:p>
            <a:pPr algn="l">
              <a:lnSpc>
                <a:spcPts val="1044"/>
              </a:lnSpc>
            </a:pPr>
            <a:r>
              <a:rPr sz="900" b="1" i="0">
                <a:solidFill>
                  <a:srgbClr val="FFFFFF"/>
                </a:solidFill>
                <a:latin typeface="Montserrat"/>
              </a:rPr>
              <a:t>Enroll in the Foundation Courses</a:t>
            </a:r>
          </a:p>
        </p:txBody>
      </p:sp>
      <p:sp>
        <p:nvSpPr>
          <p:cNvPr id="27" name="text: d"/>
          <p:cNvSpPr txBox="1"/>
          <p:nvPr/>
        </p:nvSpPr>
        <p:spPr>
          <a:xfrm>
            <a:off x="1417141" y="6881664"/>
            <a:ext cx="1647486" cy="360313"/>
          </a:xfrm>
          <a:prstGeom prst="rect">
            <a:avLst/>
          </a:prstGeom>
          <a:noFill/>
        </p:spPr>
        <p:txBody>
          <a:bodyPr wrap="square" lIns="0" rIns="0" tIns="0" bIns="0">
            <a:noAutofit/>
          </a:bodyPr>
          <a:lstStyle/>
          <a:p>
            <a:pPr algn="l">
              <a:lnSpc>
                <a:spcPts val="947"/>
              </a:lnSpc>
            </a:pPr>
            <a:r>
              <a:rPr sz="750" b="0" i="0">
                <a:solidFill>
                  <a:srgbClr val="FFFFFF">
                    <a:alpha val="86000"/>
                  </a:srgbClr>
                </a:solidFill>
                <a:latin typeface="Source Sans 3"/>
              </a:rPr>
              <a:t>Online, self-paced, about 150 hours. Required before any Advanced Program.</a:t>
            </a:r>
          </a:p>
        </p:txBody>
      </p:sp>
      <p:sp>
        <p:nvSpPr>
          <p:cNvPr id="28" name="text: h"/>
          <p:cNvSpPr txBox="1"/>
          <p:nvPr/>
        </p:nvSpPr>
        <p:spPr>
          <a:xfrm>
            <a:off x="1417141" y="7273975"/>
            <a:ext cx="1647486" cy="122486"/>
          </a:xfrm>
          <a:prstGeom prst="rect">
            <a:avLst/>
          </a:prstGeom>
          <a:noFill/>
        </p:spPr>
        <p:txBody>
          <a:bodyPr wrap="square" lIns="0" rIns="0" tIns="0" bIns="0">
            <a:noAutofit/>
          </a:bodyPr>
          <a:lstStyle/>
          <a:p>
            <a:pPr algn="l">
              <a:lnSpc>
                <a:spcPts val="966"/>
              </a:lnSpc>
            </a:pPr>
            <a:r>
              <a:rPr sz="700" b="0" i="1">
                <a:solidFill>
                  <a:srgbClr val="FFFFFF">
                    <a:alpha val="70000"/>
                  </a:srgbClr>
                </a:solidFill>
                <a:latin typeface="Source Sans 3"/>
              </a:rPr>
              <a:t>sfw.one/brochure-courses</a:t>
            </a:r>
          </a:p>
        </p:txBody>
      </p:sp>
      <p:sp>
        <p:nvSpPr>
          <p:cNvPr id="29" name="rect: panel 6 ground"/>
          <p:cNvSpPr/>
          <p:nvPr/>
        </p:nvSpPr>
        <p:spPr>
          <a:xfrm>
            <a:off x="3200400" y="-114300"/>
            <a:ext cx="3429000" cy="8001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 banner background"/>
          <p:cNvSpPr/>
          <p:nvPr/>
        </p:nvSpPr>
        <p:spPr>
          <a:xfrm>
            <a:off x="3200400" y="-132606"/>
            <a:ext cx="3429000" cy="1028700"/>
          </a:xfrm>
          <a:prstGeom prst="rect">
            <a:avLst/>
          </a:prstGeom>
          <a:gradFill rotWithShape="1">
            <a:gsLst>
              <a:gs pos="0">
                <a:srgbClr val="156826"/>
              </a:gs>
              <a:gs pos="100000">
                <a:srgbClr val="22371F"/>
              </a:gs>
            </a:gsLst>
            <a:lin ang="408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 eyebrow"/>
          <p:cNvSpPr txBox="1"/>
          <p:nvPr/>
        </p:nvSpPr>
        <p:spPr>
          <a:xfrm>
            <a:off x="3456384" y="260152"/>
            <a:ext cx="3120628" cy="112068"/>
          </a:xfrm>
          <a:prstGeom prst="rect">
            <a:avLst/>
          </a:prstGeom>
          <a:noFill/>
        </p:spPr>
        <p:txBody>
          <a:bodyPr wrap="square" lIns="0" rIns="0" tIns="0" bIns="0">
            <a:noAutofit/>
          </a:bodyPr>
          <a:lstStyle/>
          <a:p>
            <a:pPr algn="l">
              <a:lnSpc>
                <a:spcPts val="883"/>
              </a:lnSpc>
            </a:pPr>
            <a:r>
              <a:rPr sz="650" b="1" i="0" spc="96">
                <a:solidFill>
                  <a:srgbClr val="FFFFFF">
                    <a:alpha val="86000"/>
                  </a:srgbClr>
                </a:solidFill>
                <a:latin typeface="Montserrat"/>
              </a:rPr>
              <a:t>COMMUNITY</a:t>
            </a:r>
          </a:p>
        </p:txBody>
      </p:sp>
      <p:sp>
        <p:nvSpPr>
          <p:cNvPr id="32" name="text: h2"/>
          <p:cNvSpPr txBox="1"/>
          <p:nvPr/>
        </p:nvSpPr>
        <p:spPr>
          <a:xfrm>
            <a:off x="3456384" y="422374"/>
            <a:ext cx="3120628" cy="373261"/>
          </a:xfrm>
          <a:prstGeom prst="rect">
            <a:avLst/>
          </a:prstGeom>
          <a:noFill/>
        </p:spPr>
        <p:txBody>
          <a:bodyPr wrap="square" lIns="0" rIns="0" tIns="0" bIns="0">
            <a:noAutofit/>
          </a:bodyPr>
          <a:lstStyle/>
          <a:p>
            <a:pPr algn="l">
              <a:lnSpc>
                <a:spcPts val="1470"/>
              </a:lnSpc>
            </a:pPr>
            <a:r>
              <a:rPr sz="1400" b="1" i="0" spc="-8">
                <a:solidFill>
                  <a:srgbClr val="FFFFFF"/>
                </a:solidFill>
                <a:latin typeface="Montserrat"/>
              </a:rPr>
              <a:t>A global community makes this work outlast any one of us.</a:t>
            </a:r>
          </a:p>
        </p:txBody>
      </p:sp>
      <p:pic>
        <p:nvPicPr>
          <p:cNvPr id="33" name="image: MAR Group Photo 2.jpg" descr="outside-007.png"/>
          <p:cNvPicPr>
            <a:picLocks noChangeAspect="1"/>
          </p:cNvPicPr>
          <p:nvPr/>
        </p:nvPicPr>
        <p:blipFill>
          <a:blip r:embed="rId9"/>
          <a:stretch>
            <a:fillRect/>
          </a:stretch>
        </p:blipFill>
        <p:spPr>
          <a:xfrm>
            <a:off x="3200400" y="896094"/>
            <a:ext cx="3429000" cy="1097161"/>
          </a:xfrm>
          <a:prstGeom prst="rect">
            <a:avLst/>
          </a:prstGeom>
        </p:spPr>
      </p:pic>
      <p:sp>
        <p:nvSpPr>
          <p:cNvPr id="34" name="text: caption"/>
          <p:cNvSpPr txBox="1"/>
          <p:nvPr/>
        </p:nvSpPr>
        <p:spPr>
          <a:xfrm>
            <a:off x="3456384" y="2025253"/>
            <a:ext cx="3120628" cy="107156"/>
          </a:xfrm>
          <a:prstGeom prst="rect">
            <a:avLst/>
          </a:prstGeom>
          <a:noFill/>
        </p:spPr>
        <p:txBody>
          <a:bodyPr wrap="square" lIns="0" rIns="0" tIns="0" bIns="0">
            <a:noAutofit/>
          </a:bodyPr>
          <a:lstStyle/>
          <a:p>
            <a:pPr algn="l">
              <a:lnSpc>
                <a:spcPts val="844"/>
              </a:lnSpc>
            </a:pPr>
            <a:r>
              <a:rPr sz="650" b="0" i="1">
                <a:solidFill>
                  <a:srgbClr val="6A665C"/>
                </a:solidFill>
                <a:latin typeface="Source Sans 3"/>
              </a:rPr>
              <a:t>A workshop group around a finished compost pile.</a:t>
            </a:r>
          </a:p>
        </p:txBody>
      </p:sp>
      <p:sp>
        <p:nvSpPr>
          <p:cNvPr id="35" name="text: h3"/>
          <p:cNvSpPr txBox="1"/>
          <p:nvPr/>
        </p:nvSpPr>
        <p:spPr>
          <a:xfrm>
            <a:off x="3456384" y="2328714"/>
            <a:ext cx="3120628" cy="127992"/>
          </a:xfrm>
          <a:prstGeom prst="rect">
            <a:avLst/>
          </a:prstGeom>
          <a:noFill/>
        </p:spPr>
        <p:txBody>
          <a:bodyPr wrap="square" lIns="0" rIns="0" tIns="0" bIns="0">
            <a:noAutofit/>
          </a:bodyPr>
          <a:lstStyle/>
          <a:p>
            <a:pPr algn="l">
              <a:lnSpc>
                <a:spcPts val="1008"/>
              </a:lnSpc>
            </a:pPr>
            <a:r>
              <a:rPr sz="850" b="1" i="0">
                <a:solidFill>
                  <a:srgbClr val="4F3433"/>
                </a:solidFill>
                <a:latin typeface="Montserrat"/>
              </a:rPr>
              <a:t>Curious about the Soil Food Web approach?</a:t>
            </a:r>
          </a:p>
        </p:txBody>
      </p:sp>
      <p:sp>
        <p:nvSpPr>
          <p:cNvPr id="36" name="text: p"/>
          <p:cNvSpPr txBox="1"/>
          <p:nvPr/>
        </p:nvSpPr>
        <p:spPr>
          <a:xfrm>
            <a:off x="3456384" y="2488704"/>
            <a:ext cx="3120628" cy="441573"/>
          </a:xfrm>
          <a:prstGeom prst="rect">
            <a:avLst/>
          </a:prstGeom>
          <a:noFill/>
        </p:spPr>
        <p:txBody>
          <a:bodyPr wrap="square" lIns="0" rIns="0" tIns="0" bIns="0">
            <a:noAutofit/>
          </a:bodyPr>
          <a:lstStyle/>
          <a:p>
            <a:pPr algn="l">
              <a:lnSpc>
                <a:spcPts val="1159"/>
              </a:lnSpc>
            </a:pPr>
            <a:r>
              <a:rPr sz="850" b="0" i="0">
                <a:solidFill>
                  <a:srgbClr val="333130"/>
                </a:solidFill>
                <a:latin typeface="Source Sans 3"/>
              </a:rPr>
              <a:t>Visit our website to explore our courses, workshops, and free resources. Learn how soil biology supports healthy plants and discover ways to get involved.</a:t>
            </a:r>
          </a:p>
        </p:txBody>
      </p:sp>
      <p:pic>
        <p:nvPicPr>
          <p:cNvPr id="37" name="image: website.svg" descr="outside-008.png"/>
          <p:cNvPicPr>
            <a:picLocks noChangeAspect="1"/>
          </p:cNvPicPr>
          <p:nvPr/>
        </p:nvPicPr>
        <p:blipFill>
          <a:blip r:embed="rId10"/>
          <a:stretch>
            <a:fillRect/>
          </a:stretch>
        </p:blipFill>
        <p:spPr>
          <a:xfrm>
            <a:off x="3456384" y="3113038"/>
            <a:ext cx="1051471" cy="1051471"/>
          </a:xfrm>
          <a:prstGeom prst="rect">
            <a:avLst/>
          </a:prstGeom>
        </p:spPr>
      </p:pic>
      <p:sp>
        <p:nvSpPr>
          <p:cNvPr id="38" name="text: t"/>
          <p:cNvSpPr txBox="1"/>
          <p:nvPr/>
        </p:nvSpPr>
        <p:spPr>
          <a:xfrm>
            <a:off x="4617541" y="3495229"/>
            <a:ext cx="917067" cy="132457"/>
          </a:xfrm>
          <a:prstGeom prst="rect">
            <a:avLst/>
          </a:prstGeom>
          <a:noFill/>
        </p:spPr>
        <p:txBody>
          <a:bodyPr wrap="square" lIns="0" rIns="0" tIns="0" bIns="0">
            <a:noAutofit/>
          </a:bodyPr>
          <a:lstStyle/>
          <a:p>
            <a:pPr algn="l">
              <a:lnSpc>
                <a:spcPts val="1044"/>
              </a:lnSpc>
            </a:pPr>
            <a:r>
              <a:rPr sz="900" b="1" i="0">
                <a:solidFill>
                  <a:srgbClr val="4F3433"/>
                </a:solidFill>
                <a:latin typeface="Montserrat"/>
              </a:rPr>
              <a:t>Learn more</a:t>
            </a:r>
          </a:p>
        </p:txBody>
      </p:sp>
      <p:sp>
        <p:nvSpPr>
          <p:cNvPr id="39" name="text: h"/>
          <p:cNvSpPr txBox="1"/>
          <p:nvPr/>
        </p:nvSpPr>
        <p:spPr>
          <a:xfrm>
            <a:off x="4617541" y="3659684"/>
            <a:ext cx="917067" cy="122486"/>
          </a:xfrm>
          <a:prstGeom prst="rect">
            <a:avLst/>
          </a:prstGeom>
          <a:noFill/>
        </p:spPr>
        <p:txBody>
          <a:bodyPr wrap="square" lIns="0" rIns="0" tIns="0" bIns="0">
            <a:noAutofit/>
          </a:bodyPr>
          <a:lstStyle/>
          <a:p>
            <a:pPr algn="l">
              <a:lnSpc>
                <a:spcPts val="966"/>
              </a:lnSpc>
            </a:pPr>
            <a:r>
              <a:rPr sz="700" b="0" i="1">
                <a:solidFill>
                  <a:srgbClr val="6A665C"/>
                </a:solidFill>
                <a:latin typeface="Source Sans 3"/>
              </a:rPr>
              <a:t>www.soilfoodweb.com</a:t>
            </a:r>
          </a:p>
        </p:txBody>
      </p:sp>
      <p:pic>
        <p:nvPicPr>
          <p:cNvPr id="40" name="image: icon #i-scholarship" descr="outside-009.png"/>
          <p:cNvPicPr>
            <a:picLocks noChangeAspect="1"/>
          </p:cNvPicPr>
          <p:nvPr/>
        </p:nvPicPr>
        <p:blipFill>
          <a:blip r:embed="rId11"/>
          <a:stretch>
            <a:fillRect/>
          </a:stretch>
        </p:blipFill>
        <p:spPr>
          <a:xfrm>
            <a:off x="3649563" y="4292501"/>
            <a:ext cx="274290" cy="274290"/>
          </a:xfrm>
          <a:prstGeom prst="rect">
            <a:avLst/>
          </a:prstGeom>
        </p:spPr>
      </p:pic>
      <p:sp>
        <p:nvSpPr>
          <p:cNvPr id="41" name="text: l"/>
          <p:cNvSpPr txBox="1"/>
          <p:nvPr/>
        </p:nvSpPr>
        <p:spPr>
          <a:xfrm>
            <a:off x="3456384" y="4607868"/>
            <a:ext cx="729020" cy="91232"/>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STUDY</a:t>
            </a:r>
          </a:p>
        </p:txBody>
      </p:sp>
      <p:pic>
        <p:nvPicPr>
          <p:cNvPr id="42" name="image: icon #i-person" descr="outside-010.png"/>
          <p:cNvPicPr>
            <a:picLocks noChangeAspect="1"/>
          </p:cNvPicPr>
          <p:nvPr/>
        </p:nvPicPr>
        <p:blipFill>
          <a:blip r:embed="rId12"/>
          <a:stretch>
            <a:fillRect/>
          </a:stretch>
        </p:blipFill>
        <p:spPr>
          <a:xfrm>
            <a:off x="4401741" y="4292501"/>
            <a:ext cx="274290" cy="274290"/>
          </a:xfrm>
          <a:prstGeom prst="rect">
            <a:avLst/>
          </a:prstGeom>
        </p:spPr>
      </p:pic>
      <p:sp>
        <p:nvSpPr>
          <p:cNvPr id="43" name="text: l"/>
          <p:cNvSpPr txBox="1"/>
          <p:nvPr/>
        </p:nvSpPr>
        <p:spPr>
          <a:xfrm>
            <a:off x="4208562" y="4607868"/>
            <a:ext cx="729020" cy="91232"/>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VOLUNTEER</a:t>
            </a:r>
          </a:p>
        </p:txBody>
      </p:sp>
      <p:pic>
        <p:nvPicPr>
          <p:cNvPr id="44" name="image: icon #i-heart" descr="outside-011.png"/>
          <p:cNvPicPr>
            <a:picLocks noChangeAspect="1"/>
          </p:cNvPicPr>
          <p:nvPr/>
        </p:nvPicPr>
        <p:blipFill>
          <a:blip r:embed="rId13"/>
          <a:stretch>
            <a:fillRect/>
          </a:stretch>
        </p:blipFill>
        <p:spPr>
          <a:xfrm>
            <a:off x="5153918" y="4292501"/>
            <a:ext cx="274290" cy="274290"/>
          </a:xfrm>
          <a:prstGeom prst="rect">
            <a:avLst/>
          </a:prstGeom>
        </p:spPr>
      </p:pic>
      <p:sp>
        <p:nvSpPr>
          <p:cNvPr id="45" name="text: l"/>
          <p:cNvSpPr txBox="1"/>
          <p:nvPr/>
        </p:nvSpPr>
        <p:spPr>
          <a:xfrm>
            <a:off x="4960739" y="4607868"/>
            <a:ext cx="729020" cy="91232"/>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DONATE</a:t>
            </a:r>
          </a:p>
        </p:txBody>
      </p:sp>
      <p:pic>
        <p:nvPicPr>
          <p:cNvPr id="46" name="image: icon #i-dig" descr="outside-012.png"/>
          <p:cNvPicPr>
            <a:picLocks noChangeAspect="1"/>
          </p:cNvPicPr>
          <p:nvPr/>
        </p:nvPicPr>
        <p:blipFill>
          <a:blip r:embed="rId14"/>
          <a:stretch>
            <a:fillRect/>
          </a:stretch>
        </p:blipFill>
        <p:spPr>
          <a:xfrm>
            <a:off x="5906095" y="4292501"/>
            <a:ext cx="274290" cy="274290"/>
          </a:xfrm>
          <a:prstGeom prst="rect">
            <a:avLst/>
          </a:prstGeom>
        </p:spPr>
      </p:pic>
      <p:sp>
        <p:nvSpPr>
          <p:cNvPr id="47" name="text: l"/>
          <p:cNvSpPr txBox="1"/>
          <p:nvPr/>
        </p:nvSpPr>
        <p:spPr>
          <a:xfrm>
            <a:off x="5712916" y="4607868"/>
            <a:ext cx="729020" cy="91232"/>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HOST</a:t>
            </a:r>
          </a:p>
        </p:txBody>
      </p:sp>
      <p:sp>
        <p:nvSpPr>
          <p:cNvPr id="48" name="rect: field field--flush field--foot background"/>
          <p:cNvSpPr/>
          <p:nvPr/>
        </p:nvSpPr>
        <p:spPr>
          <a:xfrm>
            <a:off x="3200400" y="5344716"/>
            <a:ext cx="3429000" cy="2560290"/>
          </a:xfrm>
          <a:prstGeom prst="rect">
            <a:avLst/>
          </a:prstGeom>
          <a:gradFill rotWithShape="1">
            <a:gsLst>
              <a:gs pos="0">
                <a:srgbClr val="156826"/>
              </a:gs>
              <a:gs pos="100000">
                <a:srgbClr val="22371F"/>
              </a:gs>
            </a:gsLst>
            <a:lin ang="408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 card legal background"/>
          <p:cNvSpPr/>
          <p:nvPr/>
        </p:nvSpPr>
        <p:spPr>
          <a:xfrm>
            <a:off x="3456384" y="5467052"/>
            <a:ext cx="2917031" cy="869900"/>
          </a:xfrm>
          <a:prstGeom prst="roundRect">
            <a:avLst>
              <a:gd name="adj" fmla="val 4730"/>
            </a:avLst>
          </a:prstGeom>
          <a:solidFill>
            <a:srgbClr val="FFFFFF">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 left rule"/>
          <p:cNvSpPr/>
          <p:nvPr/>
        </p:nvSpPr>
        <p:spPr>
          <a:xfrm>
            <a:off x="3456384" y="5467052"/>
            <a:ext cx="19050" cy="869900"/>
          </a:xfrm>
          <a:prstGeom prst="rect">
            <a:avLst/>
          </a:prstGeom>
          <a:solidFill>
            <a:srgbClr val="FFFFFF">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 addr"/>
          <p:cNvSpPr txBox="1"/>
          <p:nvPr/>
        </p:nvSpPr>
        <p:spPr>
          <a:xfrm>
            <a:off x="3594199" y="5576739"/>
            <a:ext cx="2848654" cy="376386"/>
          </a:xfrm>
          <a:prstGeom prst="rect">
            <a:avLst/>
          </a:prstGeom>
          <a:noFill/>
        </p:spPr>
        <p:txBody>
          <a:bodyPr wrap="square" lIns="0" rIns="0" tIns="0" bIns="0">
            <a:noAutofit/>
          </a:bodyPr>
          <a:lstStyle/>
          <a:p>
            <a:pPr algn="l">
              <a:lnSpc>
                <a:spcPts val="987"/>
              </a:lnSpc>
            </a:pPr>
            <a:r>
              <a:rPr sz="750" b="1" i="0">
                <a:solidFill>
                  <a:srgbClr val="FFFFFF"/>
                </a:solidFill>
                <a:latin typeface="Montserrat"/>
              </a:rPr>
              <a:t>5441 S Macadam Ave Ste N</a:t>
            </a:r>
          </a:p>
          <a:p>
            <a:pPr algn="l">
              <a:lnSpc>
                <a:spcPts val="987"/>
              </a:lnSpc>
            </a:pPr>
            <a:r>
              <a:rPr sz="750" b="1" i="0">
                <a:solidFill>
                  <a:srgbClr val="FFFFFF"/>
                </a:solidFill>
                <a:latin typeface="Montserrat"/>
              </a:rPr>
              <a:t>Portland, Oregon 97239</a:t>
            </a:r>
          </a:p>
          <a:p>
            <a:pPr algn="l">
              <a:lnSpc>
                <a:spcPts val="987"/>
              </a:lnSpc>
            </a:pPr>
            <a:r>
              <a:rPr sz="750" b="1" i="0">
                <a:solidFill>
                  <a:srgbClr val="FFFFFF"/>
                </a:solidFill>
                <a:latin typeface="Montserrat"/>
              </a:rPr>
              <a:t>soilfoodweb.com</a:t>
            </a:r>
          </a:p>
        </p:txBody>
      </p:sp>
      <p:sp>
        <p:nvSpPr>
          <p:cNvPr id="52" name="text: p"/>
          <p:cNvSpPr txBox="1"/>
          <p:nvPr/>
        </p:nvSpPr>
        <p:spPr>
          <a:xfrm>
            <a:off x="3594199" y="5994202"/>
            <a:ext cx="2848654" cy="233065"/>
          </a:xfrm>
          <a:prstGeom prst="rect">
            <a:avLst/>
          </a:prstGeom>
          <a:noFill/>
        </p:spPr>
        <p:txBody>
          <a:bodyPr wrap="square" lIns="0" rIns="0" tIns="0" bIns="0">
            <a:noAutofit/>
          </a:bodyPr>
          <a:lstStyle/>
          <a:p>
            <a:pPr algn="l">
              <a:lnSpc>
                <a:spcPts val="918"/>
              </a:lnSpc>
            </a:pPr>
            <a:r>
              <a:rPr sz="700" b="0" i="0">
                <a:solidFill>
                  <a:srgbClr val="FFFFFF">
                    <a:alpha val="82000"/>
                  </a:srgbClr>
                </a:solidFill>
                <a:latin typeface="Source Sans 3"/>
              </a:rPr>
              <a:t>Soil Food Web Foundation is a 501(c)(3) nonprofit organization, EIN 39-4439236. The Soil Food Web School is a program of the Foundation.</a:t>
            </a:r>
          </a:p>
        </p:txBody>
      </p:sp>
      <p:pic>
        <p:nvPicPr>
          <p:cNvPr id="53" name="image: donate.svg" descr="outside-013.png"/>
          <p:cNvPicPr>
            <a:picLocks noChangeAspect="1"/>
          </p:cNvPicPr>
          <p:nvPr/>
        </p:nvPicPr>
        <p:blipFill>
          <a:blip r:embed="rId15"/>
          <a:stretch>
            <a:fillRect/>
          </a:stretch>
        </p:blipFill>
        <p:spPr>
          <a:xfrm>
            <a:off x="3456384" y="6464945"/>
            <a:ext cx="1051471" cy="1051471"/>
          </a:xfrm>
          <a:prstGeom prst="rect">
            <a:avLst/>
          </a:prstGeom>
        </p:spPr>
      </p:pic>
      <p:sp>
        <p:nvSpPr>
          <p:cNvPr id="54" name="text: t"/>
          <p:cNvSpPr txBox="1"/>
          <p:nvPr/>
        </p:nvSpPr>
        <p:spPr>
          <a:xfrm>
            <a:off x="4617541" y="6650980"/>
            <a:ext cx="1889802" cy="132457"/>
          </a:xfrm>
          <a:prstGeom prst="rect">
            <a:avLst/>
          </a:prstGeom>
          <a:noFill/>
        </p:spPr>
        <p:txBody>
          <a:bodyPr wrap="square" lIns="0" rIns="0" tIns="0" bIns="0">
            <a:noAutofit/>
          </a:bodyPr>
          <a:lstStyle/>
          <a:p>
            <a:pPr algn="l">
              <a:lnSpc>
                <a:spcPts val="1044"/>
              </a:lnSpc>
            </a:pPr>
            <a:r>
              <a:rPr sz="900" b="1" i="0">
                <a:solidFill>
                  <a:srgbClr val="FFFFFF"/>
                </a:solidFill>
                <a:latin typeface="Montserrat"/>
              </a:rPr>
              <a:t>Donate</a:t>
            </a:r>
          </a:p>
        </p:txBody>
      </p:sp>
      <p:sp>
        <p:nvSpPr>
          <p:cNvPr id="55" name="text: d"/>
          <p:cNvSpPr txBox="1"/>
          <p:nvPr/>
        </p:nvSpPr>
        <p:spPr>
          <a:xfrm>
            <a:off x="4617541" y="6815435"/>
            <a:ext cx="1889802" cy="360313"/>
          </a:xfrm>
          <a:prstGeom prst="rect">
            <a:avLst/>
          </a:prstGeom>
          <a:noFill/>
        </p:spPr>
        <p:txBody>
          <a:bodyPr wrap="square" lIns="0" rIns="0" tIns="0" bIns="0">
            <a:noAutofit/>
          </a:bodyPr>
          <a:lstStyle/>
          <a:p>
            <a:pPr algn="l">
              <a:lnSpc>
                <a:spcPts val="947"/>
              </a:lnSpc>
            </a:pPr>
            <a:r>
              <a:rPr sz="750" b="0" i="0">
                <a:solidFill>
                  <a:srgbClr val="FFFFFF">
                    <a:alpha val="86000"/>
                  </a:srgbClr>
                </a:solidFill>
                <a:latin typeface="Source Sans 3"/>
              </a:rPr>
              <a:t>Gifts fund open research, scholarships and field projects. Tax-deductible to the extent allowed by law.</a:t>
            </a:r>
          </a:p>
        </p:txBody>
      </p:sp>
      <p:sp>
        <p:nvSpPr>
          <p:cNvPr id="56" name="text: h"/>
          <p:cNvSpPr txBox="1"/>
          <p:nvPr/>
        </p:nvSpPr>
        <p:spPr>
          <a:xfrm>
            <a:off x="4617541" y="7207746"/>
            <a:ext cx="1889802" cy="122486"/>
          </a:xfrm>
          <a:prstGeom prst="rect">
            <a:avLst/>
          </a:prstGeom>
          <a:noFill/>
        </p:spPr>
        <p:txBody>
          <a:bodyPr wrap="square" lIns="0" rIns="0" tIns="0" bIns="0">
            <a:noAutofit/>
          </a:bodyPr>
          <a:lstStyle/>
          <a:p>
            <a:pPr algn="l">
              <a:lnSpc>
                <a:spcPts val="966"/>
              </a:lnSpc>
            </a:pPr>
            <a:r>
              <a:rPr sz="700" b="0" i="1">
                <a:solidFill>
                  <a:srgbClr val="FFFFFF">
                    <a:alpha val="70000"/>
                  </a:srgbClr>
                </a:solidFill>
                <a:latin typeface="Source Sans 3"/>
              </a:rPr>
              <a:t>sfw.one/brochure-donate</a:t>
            </a:r>
          </a:p>
        </p:txBody>
      </p:sp>
      <p:sp>
        <p:nvSpPr>
          <p:cNvPr id="57" name="rect: panel 1 ground"/>
          <p:cNvSpPr/>
          <p:nvPr/>
        </p:nvSpPr>
        <p:spPr>
          <a:xfrm>
            <a:off x="6629400" y="-114300"/>
            <a:ext cx="3543300" cy="8001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 mast banner banner--mast background"/>
          <p:cNvSpPr/>
          <p:nvPr/>
        </p:nvSpPr>
        <p:spPr>
          <a:xfrm>
            <a:off x="6629400" y="-132606"/>
            <a:ext cx="3561606" cy="1028700"/>
          </a:xfrm>
          <a:prstGeom prst="rect">
            <a:avLst/>
          </a:prstGeom>
          <a:solidFill>
            <a:srgbClr val="E6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9" name="image: sfwlogo-240.png" descr="outside-014.png"/>
          <p:cNvPicPr>
            <a:picLocks noChangeAspect="1"/>
          </p:cNvPicPr>
          <p:nvPr/>
        </p:nvPicPr>
        <p:blipFill>
          <a:blip r:embed="rId16"/>
          <a:stretch>
            <a:fillRect/>
          </a:stretch>
        </p:blipFill>
        <p:spPr>
          <a:xfrm>
            <a:off x="6885384" y="103584"/>
            <a:ext cx="731490" cy="633859"/>
          </a:xfrm>
          <a:prstGeom prst="rect">
            <a:avLst/>
          </a:prstGeom>
        </p:spPr>
      </p:pic>
      <p:sp>
        <p:nvSpPr>
          <p:cNvPr id="60" name="text: wordmark"/>
          <p:cNvSpPr txBox="1"/>
          <p:nvPr/>
        </p:nvSpPr>
        <p:spPr>
          <a:xfrm>
            <a:off x="7708255" y="178743"/>
            <a:ext cx="1153388" cy="329803"/>
          </a:xfrm>
          <a:prstGeom prst="rect">
            <a:avLst/>
          </a:prstGeom>
          <a:noFill/>
        </p:spPr>
        <p:txBody>
          <a:bodyPr wrap="square" lIns="0" rIns="0" tIns="0" bIns="0">
            <a:noAutofit/>
          </a:bodyPr>
          <a:lstStyle/>
          <a:p>
            <a:pPr algn="l">
              <a:lnSpc>
                <a:spcPts val="1299"/>
              </a:lnSpc>
            </a:pPr>
            <a:r>
              <a:rPr sz="1150" b="1" i="0" spc="-9">
                <a:solidFill>
                  <a:srgbClr val="4F3433"/>
                </a:solidFill>
                <a:latin typeface="Montserrat"/>
              </a:rPr>
              <a:t>Soil Food Web</a:t>
            </a:r>
          </a:p>
          <a:p>
            <a:pPr algn="l">
              <a:lnSpc>
                <a:spcPts val="1299"/>
              </a:lnSpc>
            </a:pPr>
            <a:r>
              <a:rPr sz="1150" b="1" i="0" spc="-9">
                <a:solidFill>
                  <a:srgbClr val="4F3433"/>
                </a:solidFill>
                <a:latin typeface="Montserrat"/>
              </a:rPr>
              <a:t>Foundation</a:t>
            </a:r>
          </a:p>
        </p:txBody>
      </p:sp>
      <p:sp>
        <p:nvSpPr>
          <p:cNvPr id="61" name="text: sub"/>
          <p:cNvSpPr txBox="1"/>
          <p:nvPr/>
        </p:nvSpPr>
        <p:spPr>
          <a:xfrm>
            <a:off x="7708255" y="522238"/>
            <a:ext cx="1153388" cy="140196"/>
          </a:xfrm>
          <a:prstGeom prst="rect">
            <a:avLst/>
          </a:prstGeom>
          <a:noFill/>
        </p:spPr>
        <p:txBody>
          <a:bodyPr wrap="square" lIns="0" rIns="0" tIns="0" bIns="0">
            <a:noAutofit/>
          </a:bodyPr>
          <a:lstStyle/>
          <a:p>
            <a:pPr algn="l">
              <a:lnSpc>
                <a:spcPts val="1104"/>
              </a:lnSpc>
            </a:pPr>
            <a:r>
              <a:rPr sz="800" b="0" i="1">
                <a:solidFill>
                  <a:srgbClr val="6A665C"/>
                </a:solidFill>
                <a:latin typeface="Source Sans 3"/>
              </a:rPr>
              <a:t>A 501(c)(3) nonprofit</a:t>
            </a:r>
          </a:p>
        </p:txBody>
      </p:sp>
      <p:pic>
        <p:nvPicPr>
          <p:cNvPr id="62" name="image: handling-loose-soil.jpg" descr="outside-015.png"/>
          <p:cNvPicPr>
            <a:picLocks noChangeAspect="1"/>
          </p:cNvPicPr>
          <p:nvPr/>
        </p:nvPicPr>
        <p:blipFill>
          <a:blip r:embed="rId17"/>
          <a:stretch>
            <a:fillRect/>
          </a:stretch>
        </p:blipFill>
        <p:spPr>
          <a:xfrm>
            <a:off x="6629400" y="896094"/>
            <a:ext cx="3561606" cy="1097161"/>
          </a:xfrm>
          <a:prstGeom prst="rect">
            <a:avLst/>
          </a:prstGeom>
        </p:spPr>
      </p:pic>
      <p:sp>
        <p:nvSpPr>
          <p:cNvPr id="63" name="text: h1"/>
          <p:cNvSpPr txBox="1"/>
          <p:nvPr/>
        </p:nvSpPr>
        <p:spPr>
          <a:xfrm>
            <a:off x="6885384" y="2048024"/>
            <a:ext cx="3120628" cy="822871"/>
          </a:xfrm>
          <a:prstGeom prst="rect">
            <a:avLst/>
          </a:prstGeom>
          <a:noFill/>
        </p:spPr>
        <p:txBody>
          <a:bodyPr wrap="square" lIns="0" rIns="0" tIns="0" bIns="0">
            <a:noAutofit/>
          </a:bodyPr>
          <a:lstStyle/>
          <a:p>
            <a:pPr algn="l">
              <a:lnSpc>
                <a:spcPts val="2160"/>
              </a:lnSpc>
            </a:pPr>
            <a:r>
              <a:rPr sz="2000" b="1" i="0" spc="-12">
                <a:solidFill>
                  <a:srgbClr val="4F3433"/>
                </a:solidFill>
                <a:latin typeface="Montserrat"/>
              </a:rPr>
              <a:t>The soil beneath our farms and forests is alive.</a:t>
            </a:r>
          </a:p>
        </p:txBody>
      </p:sp>
      <p:sp>
        <p:nvSpPr>
          <p:cNvPr id="64" name="text: lede"/>
          <p:cNvSpPr txBox="1"/>
          <p:nvPr/>
        </p:nvSpPr>
        <p:spPr>
          <a:xfrm>
            <a:off x="6885384" y="3039814"/>
            <a:ext cx="3120628" cy="484882"/>
          </a:xfrm>
          <a:prstGeom prst="rect">
            <a:avLst/>
          </a:prstGeom>
          <a:noFill/>
        </p:spPr>
        <p:txBody>
          <a:bodyPr wrap="square" lIns="0" rIns="0" tIns="0" bIns="0">
            <a:noAutofit/>
          </a:bodyPr>
          <a:lstStyle/>
          <a:p>
            <a:pPr algn="l">
              <a:lnSpc>
                <a:spcPts val="1274"/>
              </a:lnSpc>
            </a:pPr>
            <a:r>
              <a:rPr sz="1000" b="0" i="0">
                <a:solidFill>
                  <a:srgbClr val="333130"/>
                </a:solidFill>
                <a:latin typeface="Source Sans 3"/>
              </a:rPr>
              <a:t>A web of bacteria, fungi, protozoa, nematodes and microarthropods feeds plants, builds soil, stores carbon and cleans water </a:t>
            </a:r>
            <a:r>
              <a:rPr sz="1000" b="0" i="1">
                <a:solidFill>
                  <a:srgbClr val="333130"/>
                </a:solidFill>
                <a:latin typeface="Source Sans 3"/>
              </a:rPr>
              <a:t>when it is intact</a:t>
            </a:r>
            <a:r>
              <a:rPr sz="1000" b="0" i="0">
                <a:solidFill>
                  <a:srgbClr val="333130"/>
                </a:solidFill>
                <a:latin typeface="Source Sans 3"/>
              </a:rPr>
              <a:t>.</a:t>
            </a:r>
          </a:p>
        </p:txBody>
      </p:sp>
      <p:sp>
        <p:nvSpPr>
          <p:cNvPr id="65" name="text: p"/>
          <p:cNvSpPr txBox="1"/>
          <p:nvPr/>
        </p:nvSpPr>
        <p:spPr>
          <a:xfrm>
            <a:off x="6885384" y="3579465"/>
            <a:ext cx="3120628" cy="883146"/>
          </a:xfrm>
          <a:prstGeom prst="rect">
            <a:avLst/>
          </a:prstGeom>
          <a:noFill/>
        </p:spPr>
        <p:txBody>
          <a:bodyPr wrap="square" lIns="0" rIns="0" tIns="0" bIns="0">
            <a:noAutofit/>
          </a:bodyPr>
          <a:lstStyle/>
          <a:p>
            <a:pPr algn="l">
              <a:lnSpc>
                <a:spcPts val="1159"/>
              </a:lnSpc>
            </a:pPr>
            <a:r>
              <a:rPr sz="850" b="0" i="0">
                <a:solidFill>
                  <a:srgbClr val="333130"/>
                </a:solidFill>
                <a:latin typeface="Source Sans 3"/>
              </a:rPr>
              <a:t>For forty-five years, Dr. Elaine Ingham mapped the Soil Food Web and taught the world to restore it. We carry her legacy forward: showing </a:t>
            </a:r>
            <a:r>
              <a:rPr sz="850" b="1" i="0">
                <a:solidFill>
                  <a:srgbClr val="333130"/>
                </a:solidFill>
                <a:latin typeface="Source Sans 3"/>
              </a:rPr>
              <a:t>what</a:t>
            </a:r>
            <a:r>
              <a:rPr sz="850" b="0" i="0">
                <a:solidFill>
                  <a:srgbClr val="333130"/>
                </a:solidFill>
                <a:latin typeface="Source Sans 3"/>
              </a:rPr>
              <a:t> is possible, teaching </a:t>
            </a:r>
            <a:r>
              <a:rPr sz="850" b="1" i="0">
                <a:solidFill>
                  <a:srgbClr val="333130"/>
                </a:solidFill>
                <a:latin typeface="Source Sans 3"/>
              </a:rPr>
              <a:t>how</a:t>
            </a:r>
            <a:r>
              <a:rPr sz="850" b="0" i="0">
                <a:solidFill>
                  <a:srgbClr val="333130"/>
                </a:solidFill>
                <a:latin typeface="Source Sans 3"/>
              </a:rPr>
              <a:t> to partner with life in the soil, researching </a:t>
            </a:r>
            <a:r>
              <a:rPr sz="850" b="1" i="0">
                <a:solidFill>
                  <a:srgbClr val="333130"/>
                </a:solidFill>
                <a:latin typeface="Source Sans 3"/>
              </a:rPr>
              <a:t>why</a:t>
            </a:r>
            <a:r>
              <a:rPr sz="850" b="0" i="0">
                <a:solidFill>
                  <a:srgbClr val="333130"/>
                </a:solidFill>
                <a:latin typeface="Source Sans 3"/>
              </a:rPr>
              <a:t> things work or do not, and getting dirty through </a:t>
            </a:r>
            <a:r>
              <a:rPr sz="850" b="1" i="0">
                <a:solidFill>
                  <a:srgbClr val="333130"/>
                </a:solidFill>
                <a:latin typeface="Source Sans 3"/>
              </a:rPr>
              <a:t>direct action</a:t>
            </a:r>
            <a:r>
              <a:rPr sz="850" b="0" i="0">
                <a:solidFill>
                  <a:srgbClr val="333130"/>
                </a:solidFill>
                <a:latin typeface="Source Sans 3"/>
              </a:rPr>
              <a:t> on working land. Living soil is the solution, and it is beneath your feet.</a:t>
            </a:r>
          </a:p>
        </p:txBody>
      </p:sp>
      <p:pic>
        <p:nvPicPr>
          <p:cNvPr id="66" name="image: icon #i-scholarship" descr="outside-016.png"/>
          <p:cNvPicPr>
            <a:picLocks noChangeAspect="1"/>
          </p:cNvPicPr>
          <p:nvPr/>
        </p:nvPicPr>
        <p:blipFill>
          <a:blip r:embed="rId18"/>
          <a:stretch>
            <a:fillRect/>
          </a:stretch>
        </p:blipFill>
        <p:spPr>
          <a:xfrm>
            <a:off x="7078563" y="4604147"/>
            <a:ext cx="274290" cy="274290"/>
          </a:xfrm>
          <a:prstGeom prst="rect">
            <a:avLst/>
          </a:prstGeom>
        </p:spPr>
      </p:pic>
      <p:sp>
        <p:nvSpPr>
          <p:cNvPr id="67" name="text: l"/>
          <p:cNvSpPr txBox="1"/>
          <p:nvPr/>
        </p:nvSpPr>
        <p:spPr>
          <a:xfrm>
            <a:off x="6885384" y="4919514"/>
            <a:ext cx="729020" cy="91232"/>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EDUCATION</a:t>
            </a:r>
          </a:p>
        </p:txBody>
      </p:sp>
      <p:pic>
        <p:nvPicPr>
          <p:cNvPr id="68" name="image: icon #i-flask" descr="outside-017.png"/>
          <p:cNvPicPr>
            <a:picLocks noChangeAspect="1"/>
          </p:cNvPicPr>
          <p:nvPr/>
        </p:nvPicPr>
        <p:blipFill>
          <a:blip r:embed="rId19"/>
          <a:stretch>
            <a:fillRect/>
          </a:stretch>
        </p:blipFill>
        <p:spPr>
          <a:xfrm>
            <a:off x="7830741" y="4604147"/>
            <a:ext cx="274290" cy="274290"/>
          </a:xfrm>
          <a:prstGeom prst="rect">
            <a:avLst/>
          </a:prstGeom>
        </p:spPr>
      </p:pic>
      <p:sp>
        <p:nvSpPr>
          <p:cNvPr id="69" name="text: l"/>
          <p:cNvSpPr txBox="1"/>
          <p:nvPr/>
        </p:nvSpPr>
        <p:spPr>
          <a:xfrm>
            <a:off x="7637562" y="4919514"/>
            <a:ext cx="729020" cy="91232"/>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RESEARCH</a:t>
            </a:r>
          </a:p>
        </p:txBody>
      </p:sp>
      <p:pic>
        <p:nvPicPr>
          <p:cNvPr id="70" name="image: icon #i-weed" descr="outside-018.png"/>
          <p:cNvPicPr>
            <a:picLocks noChangeAspect="1"/>
          </p:cNvPicPr>
          <p:nvPr/>
        </p:nvPicPr>
        <p:blipFill>
          <a:blip r:embed="rId20"/>
          <a:stretch>
            <a:fillRect/>
          </a:stretch>
        </p:blipFill>
        <p:spPr>
          <a:xfrm>
            <a:off x="8582918" y="4604147"/>
            <a:ext cx="274290" cy="274290"/>
          </a:xfrm>
          <a:prstGeom prst="rect">
            <a:avLst/>
          </a:prstGeom>
        </p:spPr>
      </p:pic>
      <p:sp>
        <p:nvSpPr>
          <p:cNvPr id="71" name="text: l"/>
          <p:cNvSpPr txBox="1"/>
          <p:nvPr/>
        </p:nvSpPr>
        <p:spPr>
          <a:xfrm>
            <a:off x="8389739" y="4919514"/>
            <a:ext cx="729020" cy="91232"/>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PRACTICE</a:t>
            </a:r>
          </a:p>
        </p:txBody>
      </p:sp>
      <p:pic>
        <p:nvPicPr>
          <p:cNvPr id="72" name="image: icon #i-web" descr="outside-019.png"/>
          <p:cNvPicPr>
            <a:picLocks noChangeAspect="1"/>
          </p:cNvPicPr>
          <p:nvPr/>
        </p:nvPicPr>
        <p:blipFill>
          <a:blip r:embed="rId21"/>
          <a:stretch>
            <a:fillRect/>
          </a:stretch>
        </p:blipFill>
        <p:spPr>
          <a:xfrm>
            <a:off x="9335095" y="4604147"/>
            <a:ext cx="274290" cy="274290"/>
          </a:xfrm>
          <a:prstGeom prst="rect">
            <a:avLst/>
          </a:prstGeom>
        </p:spPr>
      </p:pic>
      <p:sp>
        <p:nvSpPr>
          <p:cNvPr id="73" name="text: l"/>
          <p:cNvSpPr txBox="1"/>
          <p:nvPr/>
        </p:nvSpPr>
        <p:spPr>
          <a:xfrm>
            <a:off x="9141916" y="4919514"/>
            <a:ext cx="729020" cy="91232"/>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COMMUNITY</a:t>
            </a:r>
          </a:p>
        </p:txBody>
      </p:sp>
      <p:sp>
        <p:nvSpPr>
          <p:cNvPr id="74" name="rect: field field--flush field--foot background"/>
          <p:cNvSpPr/>
          <p:nvPr/>
        </p:nvSpPr>
        <p:spPr>
          <a:xfrm>
            <a:off x="6629400" y="5344716"/>
            <a:ext cx="3561606" cy="2560290"/>
          </a:xfrm>
          <a:prstGeom prst="rect">
            <a:avLst/>
          </a:prstGeom>
          <a:gradFill rotWithShape="1">
            <a:gsLst>
              <a:gs pos="0">
                <a:srgbClr val="156826"/>
              </a:gs>
              <a:gs pos="100000">
                <a:srgbClr val="22371F"/>
              </a:gs>
            </a:gsLst>
            <a:lin ang="408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 n"/>
          <p:cNvSpPr txBox="1"/>
          <p:nvPr/>
        </p:nvSpPr>
        <p:spPr>
          <a:xfrm>
            <a:off x="6885384" y="5538936"/>
            <a:ext cx="3120628" cy="215950"/>
          </a:xfrm>
          <a:prstGeom prst="rect">
            <a:avLst/>
          </a:prstGeom>
          <a:noFill/>
        </p:spPr>
        <p:txBody>
          <a:bodyPr wrap="square" lIns="0" rIns="0" tIns="0" bIns="0">
            <a:noAutofit/>
          </a:bodyPr>
          <a:lstStyle/>
          <a:p>
            <a:pPr algn="l">
              <a:lnSpc>
                <a:spcPts val="1700"/>
              </a:lnSpc>
            </a:pPr>
            <a:r>
              <a:rPr sz="1700" b="1" i="0" spc="-33">
                <a:solidFill>
                  <a:srgbClr val="FFFFFF"/>
                </a:solidFill>
                <a:latin typeface="Montserrat"/>
              </a:rPr>
              <a:t>132+</a:t>
            </a:r>
          </a:p>
        </p:txBody>
      </p:sp>
      <p:sp>
        <p:nvSpPr>
          <p:cNvPr id="76" name="text: l"/>
          <p:cNvSpPr txBox="1"/>
          <p:nvPr/>
        </p:nvSpPr>
        <p:spPr>
          <a:xfrm>
            <a:off x="6885384" y="5786884"/>
            <a:ext cx="3120628" cy="124271"/>
          </a:xfrm>
          <a:prstGeom prst="rect">
            <a:avLst/>
          </a:prstGeom>
          <a:noFill/>
        </p:spPr>
        <p:txBody>
          <a:bodyPr wrap="square" lIns="0" rIns="0" tIns="0" bIns="0">
            <a:noAutofit/>
          </a:bodyPr>
          <a:lstStyle/>
          <a:p>
            <a:pPr algn="l">
              <a:lnSpc>
                <a:spcPts val="979"/>
              </a:lnSpc>
            </a:pPr>
            <a:r>
              <a:rPr sz="800" b="0" i="0">
                <a:solidFill>
                  <a:srgbClr val="FFFFFF">
                    <a:alpha val="86000"/>
                  </a:srgbClr>
                </a:solidFill>
                <a:latin typeface="Source Sans 3"/>
              </a:rPr>
              <a:t>Countries in our student and practitioner community</a:t>
            </a:r>
          </a:p>
        </p:txBody>
      </p:sp>
      <p:sp>
        <p:nvSpPr>
          <p:cNvPr id="77" name="rect: hairline"/>
          <p:cNvSpPr/>
          <p:nvPr/>
        </p:nvSpPr>
        <p:spPr>
          <a:xfrm>
            <a:off x="6885384" y="5965924"/>
            <a:ext cx="2917031" cy="9525"/>
          </a:xfrm>
          <a:prstGeom prst="rect">
            <a:avLst/>
          </a:prstGeom>
          <a:solidFill>
            <a:srgbClr val="FFFF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 n"/>
          <p:cNvSpPr txBox="1"/>
          <p:nvPr/>
        </p:nvSpPr>
        <p:spPr>
          <a:xfrm>
            <a:off x="6885384" y="6030218"/>
            <a:ext cx="3120628" cy="215950"/>
          </a:xfrm>
          <a:prstGeom prst="rect">
            <a:avLst/>
          </a:prstGeom>
          <a:noFill/>
        </p:spPr>
        <p:txBody>
          <a:bodyPr wrap="square" lIns="0" rIns="0" tIns="0" bIns="0">
            <a:noAutofit/>
          </a:bodyPr>
          <a:lstStyle/>
          <a:p>
            <a:pPr algn="l">
              <a:lnSpc>
                <a:spcPts val="1700"/>
              </a:lnSpc>
            </a:pPr>
            <a:r>
              <a:rPr sz="1700" b="1" i="0" spc="-33">
                <a:solidFill>
                  <a:srgbClr val="FFFFFF"/>
                </a:solidFill>
                <a:latin typeface="Montserrat"/>
              </a:rPr>
              <a:t>10,000+</a:t>
            </a:r>
          </a:p>
        </p:txBody>
      </p:sp>
      <p:sp>
        <p:nvSpPr>
          <p:cNvPr id="79" name="text: l"/>
          <p:cNvSpPr txBox="1"/>
          <p:nvPr/>
        </p:nvSpPr>
        <p:spPr>
          <a:xfrm>
            <a:off x="6885384" y="6278166"/>
            <a:ext cx="3120628" cy="124271"/>
          </a:xfrm>
          <a:prstGeom prst="rect">
            <a:avLst/>
          </a:prstGeom>
          <a:noFill/>
        </p:spPr>
        <p:txBody>
          <a:bodyPr wrap="square" lIns="0" rIns="0" tIns="0" bIns="0">
            <a:noAutofit/>
          </a:bodyPr>
          <a:lstStyle/>
          <a:p>
            <a:pPr algn="l">
              <a:lnSpc>
                <a:spcPts val="979"/>
              </a:lnSpc>
            </a:pPr>
            <a:r>
              <a:rPr sz="800" b="0" i="0">
                <a:solidFill>
                  <a:srgbClr val="FFFFFF">
                    <a:alpha val="86000"/>
                  </a:srgbClr>
                </a:solidFill>
                <a:latin typeface="Source Sans 3"/>
              </a:rPr>
              <a:t>Individuals enrolled in our programs</a:t>
            </a:r>
          </a:p>
        </p:txBody>
      </p:sp>
      <p:sp>
        <p:nvSpPr>
          <p:cNvPr id="80" name="rect: hairline"/>
          <p:cNvSpPr/>
          <p:nvPr/>
        </p:nvSpPr>
        <p:spPr>
          <a:xfrm>
            <a:off x="6885384" y="6457206"/>
            <a:ext cx="2917031" cy="9525"/>
          </a:xfrm>
          <a:prstGeom prst="rect">
            <a:avLst/>
          </a:prstGeom>
          <a:solidFill>
            <a:srgbClr val="FFFF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 n"/>
          <p:cNvSpPr txBox="1"/>
          <p:nvPr/>
        </p:nvSpPr>
        <p:spPr>
          <a:xfrm>
            <a:off x="6885384" y="6521500"/>
            <a:ext cx="3120628" cy="215950"/>
          </a:xfrm>
          <a:prstGeom prst="rect">
            <a:avLst/>
          </a:prstGeom>
          <a:noFill/>
        </p:spPr>
        <p:txBody>
          <a:bodyPr wrap="square" lIns="0" rIns="0" tIns="0" bIns="0">
            <a:noAutofit/>
          </a:bodyPr>
          <a:lstStyle/>
          <a:p>
            <a:pPr algn="l">
              <a:lnSpc>
                <a:spcPts val="1700"/>
              </a:lnSpc>
            </a:pPr>
            <a:r>
              <a:rPr sz="1700" b="1" i="0" spc="-33">
                <a:solidFill>
                  <a:srgbClr val="FFFFFF"/>
                </a:solidFill>
                <a:latin typeface="Montserrat"/>
              </a:rPr>
              <a:t>45</a:t>
            </a:r>
          </a:p>
        </p:txBody>
      </p:sp>
      <p:sp>
        <p:nvSpPr>
          <p:cNvPr id="82" name="text: l"/>
          <p:cNvSpPr txBox="1"/>
          <p:nvPr/>
        </p:nvSpPr>
        <p:spPr>
          <a:xfrm>
            <a:off x="6885384" y="6769447"/>
            <a:ext cx="3120628" cy="124271"/>
          </a:xfrm>
          <a:prstGeom prst="rect">
            <a:avLst/>
          </a:prstGeom>
          <a:noFill/>
        </p:spPr>
        <p:txBody>
          <a:bodyPr wrap="square" lIns="0" rIns="0" tIns="0" bIns="0">
            <a:noAutofit/>
          </a:bodyPr>
          <a:lstStyle/>
          <a:p>
            <a:pPr algn="l">
              <a:lnSpc>
                <a:spcPts val="979"/>
              </a:lnSpc>
            </a:pPr>
            <a:r>
              <a:rPr sz="800" b="0" i="0">
                <a:solidFill>
                  <a:srgbClr val="FFFFFF">
                    <a:alpha val="86000"/>
                  </a:srgbClr>
                </a:solidFill>
                <a:latin typeface="Source Sans 3"/>
              </a:rPr>
              <a:t>Years of pioneering soil biology research behind the method</a:t>
            </a:r>
          </a:p>
        </p:txBody>
      </p:sp>
      <p:sp>
        <p:nvSpPr>
          <p:cNvPr id="83" name="text: tagline"/>
          <p:cNvSpPr txBox="1"/>
          <p:nvPr/>
        </p:nvSpPr>
        <p:spPr>
          <a:xfrm>
            <a:off x="6885384" y="7021711"/>
            <a:ext cx="3120628" cy="494705"/>
          </a:xfrm>
          <a:prstGeom prst="rect">
            <a:avLst/>
          </a:prstGeom>
          <a:noFill/>
        </p:spPr>
        <p:txBody>
          <a:bodyPr wrap="square" lIns="0" rIns="0" tIns="0" bIns="0">
            <a:noAutofit/>
          </a:bodyPr>
          <a:lstStyle/>
          <a:p>
            <a:pPr algn="l">
              <a:lnSpc>
                <a:spcPts val="1299"/>
              </a:lnSpc>
            </a:pPr>
            <a:r>
              <a:rPr sz="1000" b="1" i="0" spc="-3">
                <a:solidFill>
                  <a:srgbClr val="FFFFFF"/>
                </a:solidFill>
                <a:latin typeface="Montserrat"/>
              </a:rPr>
              <a:t>Healing soil.</a:t>
            </a:r>
          </a:p>
          <a:p>
            <a:pPr algn="l">
              <a:lnSpc>
                <a:spcPts val="1299"/>
              </a:lnSpc>
            </a:pPr>
            <a:r>
              <a:rPr sz="1000" b="1" i="0" spc="-3">
                <a:solidFill>
                  <a:srgbClr val="FFFFFF"/>
                </a:solidFill>
                <a:latin typeface="Montserrat"/>
              </a:rPr>
              <a:t>Feeding humanity.</a:t>
            </a:r>
          </a:p>
          <a:p>
            <a:pPr algn="l">
              <a:lnSpc>
                <a:spcPts val="1299"/>
              </a:lnSpc>
            </a:pPr>
            <a:r>
              <a:rPr sz="1000" b="1" i="0" spc="-3">
                <a:solidFill>
                  <a:srgbClr val="FFFFFF"/>
                </a:solidFill>
                <a:latin typeface="Montserrat"/>
              </a:rPr>
              <a:t>Restoring the living world.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 panel 2 ground"/>
          <p:cNvSpPr/>
          <p:nvPr/>
        </p:nvSpPr>
        <p:spPr>
          <a:xfrm>
            <a:off x="-114300" y="-114300"/>
            <a:ext cx="3543300" cy="8001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 panel 2 colour field"/>
          <p:cNvSpPr/>
          <p:nvPr/>
        </p:nvSpPr>
        <p:spPr>
          <a:xfrm>
            <a:off x="-114300" y="-114300"/>
            <a:ext cx="3543300" cy="8001000"/>
          </a:xfrm>
          <a:prstGeom prst="rect">
            <a:avLst/>
          </a:prstGeom>
          <a:gradFill rotWithShape="1">
            <a:gsLst>
              <a:gs pos="0">
                <a:srgbClr val="6B4C7A"/>
              </a:gs>
              <a:gs pos="100000">
                <a:srgbClr val="3F2C4B"/>
              </a:gs>
            </a:gsLst>
            <a:lin ang="468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eyebrow eyebrow--legacy"/>
          <p:cNvSpPr txBox="1"/>
          <p:nvPr/>
        </p:nvSpPr>
        <p:spPr>
          <a:xfrm>
            <a:off x="255984" y="260152"/>
            <a:ext cx="3120628" cy="112068"/>
          </a:xfrm>
          <a:prstGeom prst="rect">
            <a:avLst/>
          </a:prstGeom>
          <a:noFill/>
        </p:spPr>
        <p:txBody>
          <a:bodyPr wrap="square" lIns="0" rIns="0" tIns="0" bIns="0">
            <a:noAutofit/>
          </a:bodyPr>
          <a:lstStyle/>
          <a:p>
            <a:pPr algn="l">
              <a:lnSpc>
                <a:spcPts val="883"/>
              </a:lnSpc>
            </a:pPr>
            <a:r>
              <a:rPr sz="650" b="1" i="0" spc="96">
                <a:solidFill>
                  <a:srgbClr val="FFFFFF">
                    <a:alpha val="86000"/>
                  </a:srgbClr>
                </a:solidFill>
                <a:latin typeface="Montserrat"/>
              </a:rPr>
              <a:t>OUR STORY</a:t>
            </a:r>
          </a:p>
        </p:txBody>
      </p:sp>
      <p:sp>
        <p:nvSpPr>
          <p:cNvPr id="5" name="text: h2"/>
          <p:cNvSpPr txBox="1"/>
          <p:nvPr/>
        </p:nvSpPr>
        <p:spPr>
          <a:xfrm>
            <a:off x="255984" y="422374"/>
            <a:ext cx="3120628" cy="373261"/>
          </a:xfrm>
          <a:prstGeom prst="rect">
            <a:avLst/>
          </a:prstGeom>
          <a:noFill/>
        </p:spPr>
        <p:txBody>
          <a:bodyPr wrap="square" lIns="0" rIns="0" tIns="0" bIns="0">
            <a:noAutofit/>
          </a:bodyPr>
          <a:lstStyle/>
          <a:p>
            <a:pPr algn="l">
              <a:lnSpc>
                <a:spcPts val="1470"/>
              </a:lnSpc>
            </a:pPr>
            <a:r>
              <a:rPr sz="1400" b="1" i="0" spc="-8">
                <a:solidFill>
                  <a:srgbClr val="FFFFFF"/>
                </a:solidFill>
                <a:latin typeface="Montserrat"/>
              </a:rPr>
              <a:t>It began with one scientist looking closer.</a:t>
            </a:r>
          </a:p>
        </p:txBody>
      </p:sp>
      <p:pic>
        <p:nvPicPr>
          <p:cNvPr id="6" name="image: Elaine Flower Shirt Microscope.png" descr="inside-000.png"/>
          <p:cNvPicPr>
            <a:picLocks noChangeAspect="1"/>
          </p:cNvPicPr>
          <p:nvPr/>
        </p:nvPicPr>
        <p:blipFill>
          <a:blip r:embed="rId2"/>
          <a:stretch>
            <a:fillRect/>
          </a:stretch>
        </p:blipFill>
        <p:spPr>
          <a:xfrm>
            <a:off x="-132606" y="896094"/>
            <a:ext cx="3561606" cy="1097161"/>
          </a:xfrm>
          <a:prstGeom prst="rect">
            <a:avLst/>
          </a:prstGeom>
        </p:spPr>
      </p:pic>
      <p:pic>
        <p:nvPicPr>
          <p:cNvPr id="7" name="image: photo fade" descr="inside-001.png"/>
          <p:cNvPicPr>
            <a:picLocks noChangeAspect="1"/>
          </p:cNvPicPr>
          <p:nvPr/>
        </p:nvPicPr>
        <p:blipFill>
          <a:blip r:embed="rId3"/>
          <a:stretch>
            <a:fillRect/>
          </a:stretch>
        </p:blipFill>
        <p:spPr>
          <a:xfrm>
            <a:off x="-132606" y="1547217"/>
            <a:ext cx="3561606" cy="639961"/>
          </a:xfrm>
          <a:prstGeom prst="rect">
            <a:avLst/>
          </a:prstGeom>
        </p:spPr>
      </p:pic>
      <p:sp>
        <p:nvSpPr>
          <p:cNvPr id="8" name="text: caption"/>
          <p:cNvSpPr txBox="1"/>
          <p:nvPr/>
        </p:nvSpPr>
        <p:spPr>
          <a:xfrm>
            <a:off x="237679" y="2025253"/>
            <a:ext cx="3140032" cy="107156"/>
          </a:xfrm>
          <a:prstGeom prst="rect">
            <a:avLst/>
          </a:prstGeom>
          <a:noFill/>
        </p:spPr>
        <p:txBody>
          <a:bodyPr wrap="square" lIns="0" rIns="0" tIns="0" bIns="0">
            <a:noAutofit/>
          </a:bodyPr>
          <a:lstStyle/>
          <a:p>
            <a:pPr algn="l">
              <a:lnSpc>
                <a:spcPts val="844"/>
              </a:lnSpc>
            </a:pPr>
            <a:r>
              <a:rPr sz="650" b="0" i="1">
                <a:solidFill>
                  <a:srgbClr val="FFFFFF">
                    <a:alpha val="70000"/>
                  </a:srgbClr>
                </a:solidFill>
                <a:latin typeface="Source Sans 3"/>
              </a:rPr>
              <a:t>Dr. Elaine Ingham at the microscope.</a:t>
            </a:r>
          </a:p>
        </p:txBody>
      </p:sp>
      <p:sp>
        <p:nvSpPr>
          <p:cNvPr id="9" name="text: p"/>
          <p:cNvSpPr txBox="1"/>
          <p:nvPr/>
        </p:nvSpPr>
        <p:spPr>
          <a:xfrm>
            <a:off x="255984" y="2241947"/>
            <a:ext cx="3120628" cy="588764"/>
          </a:xfrm>
          <a:prstGeom prst="rect">
            <a:avLst/>
          </a:prstGeom>
          <a:noFill/>
        </p:spPr>
        <p:txBody>
          <a:bodyPr wrap="square" lIns="0" rIns="0" tIns="0" bIns="0">
            <a:noAutofit/>
          </a:bodyPr>
          <a:lstStyle/>
          <a:p>
            <a:pPr algn="l">
              <a:lnSpc>
                <a:spcPts val="1159"/>
              </a:lnSpc>
            </a:pPr>
            <a:r>
              <a:rPr sz="850" b="0" i="0">
                <a:solidFill>
                  <a:srgbClr val="FFFFFF"/>
                </a:solidFill>
                <a:latin typeface="Source Sans 3"/>
              </a:rPr>
              <a:t>Dr. Elaine Ingham pioneered research in soil biology across forty-five years and made her science radically accessible, so that anyone anywhere could learn to restore the soil beneath their feet.</a:t>
            </a:r>
          </a:p>
        </p:txBody>
      </p:sp>
      <p:sp>
        <p:nvSpPr>
          <p:cNvPr id="10" name="text: p"/>
          <p:cNvSpPr txBox="1"/>
          <p:nvPr/>
        </p:nvSpPr>
        <p:spPr>
          <a:xfrm>
            <a:off x="255984" y="2885480"/>
            <a:ext cx="3120628" cy="735955"/>
          </a:xfrm>
          <a:prstGeom prst="rect">
            <a:avLst/>
          </a:prstGeom>
          <a:noFill/>
        </p:spPr>
        <p:txBody>
          <a:bodyPr wrap="square" lIns="0" rIns="0" tIns="0" bIns="0">
            <a:noAutofit/>
          </a:bodyPr>
          <a:lstStyle/>
          <a:p>
            <a:pPr algn="l">
              <a:lnSpc>
                <a:spcPts val="1159"/>
              </a:lnSpc>
            </a:pPr>
            <a:r>
              <a:rPr sz="850" b="0" i="0">
                <a:solidFill>
                  <a:srgbClr val="FFFFFF"/>
                </a:solidFill>
                <a:latin typeface="Source Sans 3"/>
              </a:rPr>
              <a:t>The Foundation was created in 2025 to carry that teaching forward. She passed in February 2026, and the work she started continues through the Foundation, the school inside it, and practitioners in more than 132 countries who bring the same close attention to their own soil.</a:t>
            </a:r>
          </a:p>
        </p:txBody>
      </p:sp>
      <p:sp>
        <p:nvSpPr>
          <p:cNvPr id="11" name="text: p"/>
          <p:cNvSpPr txBox="1"/>
          <p:nvPr/>
        </p:nvSpPr>
        <p:spPr>
          <a:xfrm>
            <a:off x="255984" y="3676204"/>
            <a:ext cx="3120628" cy="441573"/>
          </a:xfrm>
          <a:prstGeom prst="rect">
            <a:avLst/>
          </a:prstGeom>
          <a:noFill/>
        </p:spPr>
        <p:txBody>
          <a:bodyPr wrap="square" lIns="0" rIns="0" tIns="0" bIns="0">
            <a:noAutofit/>
          </a:bodyPr>
          <a:lstStyle/>
          <a:p>
            <a:pPr algn="l">
              <a:lnSpc>
                <a:spcPts val="1159"/>
              </a:lnSpc>
            </a:pPr>
            <a:r>
              <a:rPr sz="850" b="0" i="0">
                <a:solidFill>
                  <a:srgbClr val="FFFFFF"/>
                </a:solidFill>
                <a:latin typeface="Source Sans 3"/>
              </a:rPr>
              <a:t>She taught at Oregon State from 1986 to 2002, served as the first President of the Soil Ecology Society, and co-authored the USDA's Soil Biology Primer.</a:t>
            </a:r>
          </a:p>
        </p:txBody>
      </p:sp>
      <p:pic>
        <p:nvPicPr>
          <p:cNvPr id="12" name="image: elaine-and-nematode-extraction.jpg" descr="inside-002.png"/>
          <p:cNvPicPr>
            <a:picLocks noChangeAspect="1"/>
          </p:cNvPicPr>
          <p:nvPr/>
        </p:nvPicPr>
        <p:blipFill>
          <a:blip r:embed="rId4"/>
          <a:stretch>
            <a:fillRect/>
          </a:stretch>
        </p:blipFill>
        <p:spPr>
          <a:xfrm>
            <a:off x="255984" y="4259312"/>
            <a:ext cx="1078855" cy="658267"/>
          </a:xfrm>
          <a:prstGeom prst="rect">
            <a:avLst/>
          </a:prstGeom>
        </p:spPr>
      </p:pic>
      <p:sp>
        <p:nvSpPr>
          <p:cNvPr id="13" name="text: caption"/>
          <p:cNvSpPr txBox="1"/>
          <p:nvPr/>
        </p:nvSpPr>
        <p:spPr>
          <a:xfrm>
            <a:off x="1453604" y="4450705"/>
            <a:ext cx="1532954" cy="220712"/>
          </a:xfrm>
          <a:prstGeom prst="rect">
            <a:avLst/>
          </a:prstGeom>
          <a:noFill/>
        </p:spPr>
        <p:txBody>
          <a:bodyPr wrap="square" lIns="0" rIns="0" tIns="0" bIns="0">
            <a:noAutofit/>
          </a:bodyPr>
          <a:lstStyle/>
          <a:p>
            <a:pPr algn="l">
              <a:lnSpc>
                <a:spcPts val="844"/>
              </a:lnSpc>
            </a:pPr>
            <a:r>
              <a:rPr sz="650" b="0" i="1">
                <a:solidFill>
                  <a:srgbClr val="FFFFFF">
                    <a:alpha val="70000"/>
                  </a:srgbClr>
                </a:solidFill>
                <a:latin typeface="Source Sans 3"/>
              </a:rPr>
              <a:t>Her published record, in full, on our site:</a:t>
            </a:r>
          </a:p>
          <a:p>
            <a:pPr algn="l">
              <a:lnSpc>
                <a:spcPts val="844"/>
              </a:lnSpc>
            </a:pPr>
            <a:r>
              <a:rPr sz="700" b="0" i="1">
                <a:solidFill>
                  <a:srgbClr val="FFFFFF"/>
                </a:solidFill>
                <a:latin typeface="Source Sans 3"/>
              </a:rPr>
              <a:t>sfw.one/publications</a:t>
            </a:r>
          </a:p>
        </p:txBody>
      </p:sp>
      <p:sp>
        <p:nvSpPr>
          <p:cNvPr id="14" name="rect: card card--green background"/>
          <p:cNvSpPr/>
          <p:nvPr/>
        </p:nvSpPr>
        <p:spPr>
          <a:xfrm>
            <a:off x="255984" y="5004346"/>
            <a:ext cx="2917031" cy="1144339"/>
          </a:xfrm>
          <a:prstGeom prst="roundRect">
            <a:avLst>
              <a:gd name="adj" fmla="val 3595"/>
            </a:avLst>
          </a:prstGeom>
          <a:solidFill>
            <a:srgbClr val="FFFFFF">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 left rule"/>
          <p:cNvSpPr/>
          <p:nvPr/>
        </p:nvSpPr>
        <p:spPr>
          <a:xfrm>
            <a:off x="255984" y="5004346"/>
            <a:ext cx="19050" cy="1144339"/>
          </a:xfrm>
          <a:prstGeom prst="rect">
            <a:avLst/>
          </a:prstGeom>
          <a:solidFill>
            <a:srgbClr val="FFFFFF">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pull"/>
          <p:cNvSpPr txBox="1"/>
          <p:nvPr/>
        </p:nvSpPr>
        <p:spPr>
          <a:xfrm>
            <a:off x="393799" y="5114032"/>
            <a:ext cx="2848654" cy="924967"/>
          </a:xfrm>
          <a:prstGeom prst="rect">
            <a:avLst/>
          </a:prstGeom>
          <a:noFill/>
        </p:spPr>
        <p:txBody>
          <a:bodyPr wrap="square" lIns="0" rIns="0" tIns="0" bIns="0">
            <a:noAutofit/>
          </a:bodyPr>
          <a:lstStyle/>
          <a:p>
            <a:pPr algn="l" indent="207317">
              <a:lnSpc>
                <a:spcPts val="1148"/>
              </a:lnSpc>
            </a:pPr>
            <a:r>
              <a:rPr sz="750" b="1" i="0" spc="45">
                <a:solidFill>
                  <a:srgbClr val="FFFFFF"/>
                </a:solidFill>
                <a:latin typeface="Source Sans 3"/>
              </a:rPr>
              <a:t>WHY THIS MATTERS FOR CLIMATE</a:t>
            </a:r>
          </a:p>
          <a:p>
            <a:pPr algn="l">
              <a:lnSpc>
                <a:spcPts val="1148"/>
              </a:lnSpc>
            </a:pPr>
            <a:r>
              <a:rPr sz="900" b="0" i="0">
                <a:solidFill>
                  <a:srgbClr val="FFFFFF"/>
                </a:solidFill>
                <a:latin typeface="Source Sans 3"/>
              </a:rPr>
              <a:t>Plants pull carbon from the air and invest much of it in the soil, where it is built into microbial bodies, aggregates and long-lived fungal networks. Biological management also avoids emissions, because less fertilizer has to be made and moved, and the field needs fewer passes.</a:t>
            </a:r>
          </a:p>
        </p:txBody>
      </p:sp>
      <p:pic>
        <p:nvPicPr>
          <p:cNvPr id="17" name="image: icon #i-globe" descr="inside-003.png"/>
          <p:cNvPicPr>
            <a:picLocks noChangeAspect="1"/>
          </p:cNvPicPr>
          <p:nvPr/>
        </p:nvPicPr>
        <p:blipFill>
          <a:blip r:embed="rId5"/>
          <a:stretch>
            <a:fillRect/>
          </a:stretch>
        </p:blipFill>
        <p:spPr>
          <a:xfrm>
            <a:off x="393799" y="5114032"/>
            <a:ext cx="164455" cy="164455"/>
          </a:xfrm>
          <a:prstGeom prst="rect">
            <a:avLst/>
          </a:prstGeom>
        </p:spPr>
      </p:pic>
      <p:pic>
        <p:nvPicPr>
          <p:cNvPr id="18" name="image: webinar.svg" descr="inside-004.png"/>
          <p:cNvPicPr>
            <a:picLocks noChangeAspect="1"/>
          </p:cNvPicPr>
          <p:nvPr/>
        </p:nvPicPr>
        <p:blipFill>
          <a:blip r:embed="rId6"/>
          <a:stretch>
            <a:fillRect/>
          </a:stretch>
        </p:blipFill>
        <p:spPr>
          <a:xfrm>
            <a:off x="255984" y="6464945"/>
            <a:ext cx="1051471" cy="1051471"/>
          </a:xfrm>
          <a:prstGeom prst="rect">
            <a:avLst/>
          </a:prstGeom>
        </p:spPr>
      </p:pic>
      <p:sp>
        <p:nvSpPr>
          <p:cNvPr id="19" name="text: t"/>
          <p:cNvSpPr txBox="1"/>
          <p:nvPr/>
        </p:nvSpPr>
        <p:spPr>
          <a:xfrm>
            <a:off x="1417141" y="6711107"/>
            <a:ext cx="1889802" cy="132457"/>
          </a:xfrm>
          <a:prstGeom prst="rect">
            <a:avLst/>
          </a:prstGeom>
          <a:noFill/>
        </p:spPr>
        <p:txBody>
          <a:bodyPr wrap="square" lIns="0" rIns="0" tIns="0" bIns="0">
            <a:noAutofit/>
          </a:bodyPr>
          <a:lstStyle/>
          <a:p>
            <a:pPr algn="l">
              <a:lnSpc>
                <a:spcPts val="1044"/>
              </a:lnSpc>
            </a:pPr>
            <a:r>
              <a:rPr sz="900" b="1" i="0">
                <a:solidFill>
                  <a:srgbClr val="FFFFFF"/>
                </a:solidFill>
                <a:latin typeface="Montserrat"/>
              </a:rPr>
              <a:t>Watch a free webinar</a:t>
            </a:r>
          </a:p>
        </p:txBody>
      </p:sp>
      <p:sp>
        <p:nvSpPr>
          <p:cNvPr id="20" name="text: d"/>
          <p:cNvSpPr txBox="1"/>
          <p:nvPr/>
        </p:nvSpPr>
        <p:spPr>
          <a:xfrm>
            <a:off x="1417141" y="6875562"/>
            <a:ext cx="1889802" cy="240209"/>
          </a:xfrm>
          <a:prstGeom prst="rect">
            <a:avLst/>
          </a:prstGeom>
          <a:noFill/>
        </p:spPr>
        <p:txBody>
          <a:bodyPr wrap="square" lIns="0" rIns="0" tIns="0" bIns="0">
            <a:noAutofit/>
          </a:bodyPr>
          <a:lstStyle/>
          <a:p>
            <a:pPr algn="l">
              <a:lnSpc>
                <a:spcPts val="947"/>
              </a:lnSpc>
            </a:pPr>
            <a:r>
              <a:rPr sz="750" b="0" i="0">
                <a:solidFill>
                  <a:srgbClr val="FFFFFF">
                    <a:alpha val="86000"/>
                  </a:srgbClr>
                </a:solidFill>
                <a:latin typeface="Source Sans 3"/>
              </a:rPr>
              <a:t>A live hour with an instructor or a practitioner, every month. The easiest first step.</a:t>
            </a:r>
          </a:p>
        </p:txBody>
      </p:sp>
      <p:sp>
        <p:nvSpPr>
          <p:cNvPr id="21" name="text: h"/>
          <p:cNvSpPr txBox="1"/>
          <p:nvPr/>
        </p:nvSpPr>
        <p:spPr>
          <a:xfrm>
            <a:off x="1417141" y="7147768"/>
            <a:ext cx="1889802" cy="122486"/>
          </a:xfrm>
          <a:prstGeom prst="rect">
            <a:avLst/>
          </a:prstGeom>
          <a:noFill/>
        </p:spPr>
        <p:txBody>
          <a:bodyPr wrap="square" lIns="0" rIns="0" tIns="0" bIns="0">
            <a:noAutofit/>
          </a:bodyPr>
          <a:lstStyle/>
          <a:p>
            <a:pPr algn="l">
              <a:lnSpc>
                <a:spcPts val="966"/>
              </a:lnSpc>
            </a:pPr>
            <a:r>
              <a:rPr sz="700" b="0" i="1">
                <a:solidFill>
                  <a:srgbClr val="FFFFFF">
                    <a:alpha val="70000"/>
                  </a:srgbClr>
                </a:solidFill>
                <a:latin typeface="Source Sans 3"/>
              </a:rPr>
              <a:t>sfw.one/brochure-webinar</a:t>
            </a:r>
          </a:p>
        </p:txBody>
      </p:sp>
      <p:sp>
        <p:nvSpPr>
          <p:cNvPr id="22" name="rect: panel 4 ground"/>
          <p:cNvSpPr/>
          <p:nvPr/>
        </p:nvSpPr>
        <p:spPr>
          <a:xfrm>
            <a:off x="3429000" y="-114300"/>
            <a:ext cx="3429000" cy="8001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 banner background"/>
          <p:cNvSpPr/>
          <p:nvPr/>
        </p:nvSpPr>
        <p:spPr>
          <a:xfrm>
            <a:off x="3429000" y="-132606"/>
            <a:ext cx="3429000" cy="1028700"/>
          </a:xfrm>
          <a:prstGeom prst="rect">
            <a:avLst/>
          </a:prstGeom>
          <a:gradFill rotWithShape="1">
            <a:gsLst>
              <a:gs pos="0">
                <a:srgbClr val="156826"/>
              </a:gs>
              <a:gs pos="100000">
                <a:srgbClr val="22371F"/>
              </a:gs>
            </a:gsLst>
            <a:lin ang="408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eyebrow"/>
          <p:cNvSpPr txBox="1"/>
          <p:nvPr/>
        </p:nvSpPr>
        <p:spPr>
          <a:xfrm>
            <a:off x="3684984" y="260152"/>
            <a:ext cx="3120628" cy="112068"/>
          </a:xfrm>
          <a:prstGeom prst="rect">
            <a:avLst/>
          </a:prstGeom>
          <a:noFill/>
        </p:spPr>
        <p:txBody>
          <a:bodyPr wrap="square" lIns="0" rIns="0" tIns="0" bIns="0">
            <a:noAutofit/>
          </a:bodyPr>
          <a:lstStyle/>
          <a:p>
            <a:pPr algn="l">
              <a:lnSpc>
                <a:spcPts val="883"/>
              </a:lnSpc>
            </a:pPr>
            <a:r>
              <a:rPr sz="650" b="1" i="0" spc="96">
                <a:solidFill>
                  <a:srgbClr val="FFFFFF">
                    <a:alpha val="86000"/>
                  </a:srgbClr>
                </a:solidFill>
                <a:latin typeface="Montserrat"/>
              </a:rPr>
              <a:t>RESEARCH</a:t>
            </a:r>
          </a:p>
        </p:txBody>
      </p:sp>
      <p:sp>
        <p:nvSpPr>
          <p:cNvPr id="25" name="text: h2"/>
          <p:cNvSpPr txBox="1"/>
          <p:nvPr/>
        </p:nvSpPr>
        <p:spPr>
          <a:xfrm>
            <a:off x="3684984" y="422374"/>
            <a:ext cx="3120628" cy="373261"/>
          </a:xfrm>
          <a:prstGeom prst="rect">
            <a:avLst/>
          </a:prstGeom>
          <a:noFill/>
        </p:spPr>
        <p:txBody>
          <a:bodyPr wrap="square" lIns="0" rIns="0" tIns="0" bIns="0">
            <a:noAutofit/>
          </a:bodyPr>
          <a:lstStyle/>
          <a:p>
            <a:pPr algn="l">
              <a:lnSpc>
                <a:spcPts val="1470"/>
              </a:lnSpc>
            </a:pPr>
            <a:r>
              <a:rPr sz="1400" b="1" i="0" spc="-8">
                <a:solidFill>
                  <a:srgbClr val="FFFFFF"/>
                </a:solidFill>
                <a:latin typeface="Montserrat"/>
              </a:rPr>
              <a:t>The science is open, and anyone can test it.</a:t>
            </a:r>
          </a:p>
        </p:txBody>
      </p:sp>
      <p:pic>
        <p:nvPicPr>
          <p:cNvPr id="26" name="image: Test tubes with sample_.jpg" descr="inside-005.png"/>
          <p:cNvPicPr>
            <a:picLocks noChangeAspect="1"/>
          </p:cNvPicPr>
          <p:nvPr/>
        </p:nvPicPr>
        <p:blipFill>
          <a:blip r:embed="rId7"/>
          <a:stretch>
            <a:fillRect/>
          </a:stretch>
        </p:blipFill>
        <p:spPr>
          <a:xfrm>
            <a:off x="3429000" y="896094"/>
            <a:ext cx="3429000" cy="1097161"/>
          </a:xfrm>
          <a:prstGeom prst="rect">
            <a:avLst/>
          </a:prstGeom>
        </p:spPr>
      </p:pic>
      <p:sp>
        <p:nvSpPr>
          <p:cNvPr id="27" name="text: caption"/>
          <p:cNvSpPr txBox="1"/>
          <p:nvPr/>
        </p:nvSpPr>
        <p:spPr>
          <a:xfrm>
            <a:off x="3684984" y="2025253"/>
            <a:ext cx="3120628" cy="107156"/>
          </a:xfrm>
          <a:prstGeom prst="rect">
            <a:avLst/>
          </a:prstGeom>
          <a:noFill/>
        </p:spPr>
        <p:txBody>
          <a:bodyPr wrap="square" lIns="0" rIns="0" tIns="0" bIns="0">
            <a:noAutofit/>
          </a:bodyPr>
          <a:lstStyle/>
          <a:p>
            <a:pPr algn="l">
              <a:lnSpc>
                <a:spcPts val="844"/>
              </a:lnSpc>
            </a:pPr>
            <a:r>
              <a:rPr sz="650" b="0" i="1">
                <a:solidFill>
                  <a:srgbClr val="6A665C"/>
                </a:solidFill>
                <a:latin typeface="Source Sans 3"/>
              </a:rPr>
              <a:t>Soil samples beside the microscope.</a:t>
            </a:r>
          </a:p>
        </p:txBody>
      </p:sp>
      <p:sp>
        <p:nvSpPr>
          <p:cNvPr id="28" name="text: lede"/>
          <p:cNvSpPr txBox="1"/>
          <p:nvPr/>
        </p:nvSpPr>
        <p:spPr>
          <a:xfrm>
            <a:off x="3684984" y="2328714"/>
            <a:ext cx="3120628" cy="323255"/>
          </a:xfrm>
          <a:prstGeom prst="rect">
            <a:avLst/>
          </a:prstGeom>
          <a:noFill/>
        </p:spPr>
        <p:txBody>
          <a:bodyPr wrap="square" lIns="0" rIns="0" tIns="0" bIns="0">
            <a:noAutofit/>
          </a:bodyPr>
          <a:lstStyle/>
          <a:p>
            <a:pPr algn="l">
              <a:lnSpc>
                <a:spcPts val="1274"/>
              </a:lnSpc>
            </a:pPr>
            <a:r>
              <a:rPr sz="1000" b="0" i="0">
                <a:solidFill>
                  <a:srgbClr val="333130"/>
                </a:solidFill>
                <a:latin typeface="Source Sans 3"/>
              </a:rPr>
              <a:t>Forty-five years of soil biology research, practiced by graduates in more than 132 countries on six continents.</a:t>
            </a:r>
          </a:p>
        </p:txBody>
      </p:sp>
      <p:sp>
        <p:nvSpPr>
          <p:cNvPr id="29" name="text: h3"/>
          <p:cNvSpPr txBox="1"/>
          <p:nvPr/>
        </p:nvSpPr>
        <p:spPr>
          <a:xfrm>
            <a:off x="3684984" y="2793504"/>
            <a:ext cx="3120628" cy="127992"/>
          </a:xfrm>
          <a:prstGeom prst="rect">
            <a:avLst/>
          </a:prstGeom>
          <a:noFill/>
        </p:spPr>
        <p:txBody>
          <a:bodyPr wrap="square" lIns="0" rIns="0" tIns="0" bIns="0">
            <a:noAutofit/>
          </a:bodyPr>
          <a:lstStyle/>
          <a:p>
            <a:pPr algn="l">
              <a:lnSpc>
                <a:spcPts val="1008"/>
              </a:lnSpc>
            </a:pPr>
            <a:r>
              <a:rPr sz="850" b="1" i="0">
                <a:solidFill>
                  <a:srgbClr val="4F3433"/>
                </a:solidFill>
                <a:latin typeface="Montserrat"/>
              </a:rPr>
              <a:t>What the biology does when it is intact</a:t>
            </a:r>
          </a:p>
        </p:txBody>
      </p:sp>
      <p:pic>
        <p:nvPicPr>
          <p:cNvPr id="30" name="image: icon #i-cycle" descr="inside-006.png"/>
          <p:cNvPicPr>
            <a:picLocks noChangeAspect="1"/>
          </p:cNvPicPr>
          <p:nvPr/>
        </p:nvPicPr>
        <p:blipFill>
          <a:blip r:embed="rId8"/>
          <a:stretch>
            <a:fillRect/>
          </a:stretch>
        </p:blipFill>
        <p:spPr>
          <a:xfrm>
            <a:off x="3878163" y="3040261"/>
            <a:ext cx="274290" cy="274290"/>
          </a:xfrm>
          <a:prstGeom prst="rect">
            <a:avLst/>
          </a:prstGeom>
        </p:spPr>
      </p:pic>
      <p:sp>
        <p:nvSpPr>
          <p:cNvPr id="31" name="text: l"/>
          <p:cNvSpPr txBox="1"/>
          <p:nvPr/>
        </p:nvSpPr>
        <p:spPr>
          <a:xfrm>
            <a:off x="3684984" y="3355628"/>
            <a:ext cx="729020" cy="182463"/>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NUTRIENT</a:t>
            </a:r>
          </a:p>
          <a:p>
            <a:pPr algn="ctr">
              <a:lnSpc>
                <a:spcPts val="719"/>
              </a:lnSpc>
            </a:pPr>
            <a:r>
              <a:rPr sz="600" b="1" i="0" spc="49">
                <a:solidFill>
                  <a:srgbClr val="4F3433"/>
                </a:solidFill>
                <a:latin typeface="Montserrat"/>
              </a:rPr>
              <a:t>CYCLING</a:t>
            </a:r>
          </a:p>
        </p:txBody>
      </p:sp>
      <p:pic>
        <p:nvPicPr>
          <p:cNvPr id="32" name="image: icon #i-aggregate" descr="inside-007.png"/>
          <p:cNvPicPr>
            <a:picLocks noChangeAspect="1"/>
          </p:cNvPicPr>
          <p:nvPr/>
        </p:nvPicPr>
        <p:blipFill>
          <a:blip r:embed="rId9"/>
          <a:stretch>
            <a:fillRect/>
          </a:stretch>
        </p:blipFill>
        <p:spPr>
          <a:xfrm>
            <a:off x="4630341" y="3040261"/>
            <a:ext cx="274290" cy="274290"/>
          </a:xfrm>
          <a:prstGeom prst="rect">
            <a:avLst/>
          </a:prstGeom>
        </p:spPr>
      </p:pic>
      <p:sp>
        <p:nvSpPr>
          <p:cNvPr id="33" name="text: l"/>
          <p:cNvSpPr txBox="1"/>
          <p:nvPr/>
        </p:nvSpPr>
        <p:spPr>
          <a:xfrm>
            <a:off x="4437162" y="3355628"/>
            <a:ext cx="729020" cy="182463"/>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SOIL</a:t>
            </a:r>
          </a:p>
          <a:p>
            <a:pPr algn="ctr">
              <a:lnSpc>
                <a:spcPts val="719"/>
              </a:lnSpc>
            </a:pPr>
            <a:r>
              <a:rPr sz="600" b="1" i="0" spc="49">
                <a:solidFill>
                  <a:srgbClr val="4F3433"/>
                </a:solidFill>
                <a:latin typeface="Montserrat"/>
              </a:rPr>
              <a:t>STRUCTURE</a:t>
            </a:r>
          </a:p>
        </p:txBody>
      </p:sp>
      <p:pic>
        <p:nvPicPr>
          <p:cNvPr id="34" name="image: icon #i-weed" descr="inside-008.png"/>
          <p:cNvPicPr>
            <a:picLocks noChangeAspect="1"/>
          </p:cNvPicPr>
          <p:nvPr/>
        </p:nvPicPr>
        <p:blipFill>
          <a:blip r:embed="rId10"/>
          <a:stretch>
            <a:fillRect/>
          </a:stretch>
        </p:blipFill>
        <p:spPr>
          <a:xfrm>
            <a:off x="5382518" y="3040261"/>
            <a:ext cx="274290" cy="274290"/>
          </a:xfrm>
          <a:prstGeom prst="rect">
            <a:avLst/>
          </a:prstGeom>
        </p:spPr>
      </p:pic>
      <p:sp>
        <p:nvSpPr>
          <p:cNvPr id="35" name="text: l"/>
          <p:cNvSpPr txBox="1"/>
          <p:nvPr/>
        </p:nvSpPr>
        <p:spPr>
          <a:xfrm>
            <a:off x="5189339" y="3355628"/>
            <a:ext cx="729020" cy="182463"/>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WEED</a:t>
            </a:r>
          </a:p>
          <a:p>
            <a:pPr algn="ctr">
              <a:lnSpc>
                <a:spcPts val="719"/>
              </a:lnSpc>
            </a:pPr>
            <a:r>
              <a:rPr sz="600" b="1" i="0" spc="49">
                <a:solidFill>
                  <a:srgbClr val="4F3433"/>
                </a:solidFill>
                <a:latin typeface="Montserrat"/>
              </a:rPr>
              <a:t>PRESSURE</a:t>
            </a:r>
          </a:p>
        </p:txBody>
      </p:sp>
      <p:pic>
        <p:nvPicPr>
          <p:cNvPr id="36" name="image: icon #i-shield" descr="inside-009.png"/>
          <p:cNvPicPr>
            <a:picLocks noChangeAspect="1"/>
          </p:cNvPicPr>
          <p:nvPr/>
        </p:nvPicPr>
        <p:blipFill>
          <a:blip r:embed="rId11"/>
          <a:stretch>
            <a:fillRect/>
          </a:stretch>
        </p:blipFill>
        <p:spPr>
          <a:xfrm>
            <a:off x="6134695" y="3040261"/>
            <a:ext cx="274290" cy="274290"/>
          </a:xfrm>
          <a:prstGeom prst="rect">
            <a:avLst/>
          </a:prstGeom>
        </p:spPr>
      </p:pic>
      <p:sp>
        <p:nvSpPr>
          <p:cNvPr id="37" name="text: l"/>
          <p:cNvSpPr txBox="1"/>
          <p:nvPr/>
        </p:nvSpPr>
        <p:spPr>
          <a:xfrm>
            <a:off x="5941516" y="3355628"/>
            <a:ext cx="729020" cy="182463"/>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PESTS AND</a:t>
            </a:r>
          </a:p>
          <a:p>
            <a:pPr algn="ctr">
              <a:lnSpc>
                <a:spcPts val="719"/>
              </a:lnSpc>
            </a:pPr>
            <a:r>
              <a:rPr sz="600" b="1" i="0" spc="49">
                <a:solidFill>
                  <a:srgbClr val="4F3433"/>
                </a:solidFill>
                <a:latin typeface="Montserrat"/>
              </a:rPr>
              <a:t>DISEASE</a:t>
            </a:r>
          </a:p>
        </p:txBody>
      </p:sp>
      <p:pic>
        <p:nvPicPr>
          <p:cNvPr id="38" name="image: testate-amoeba-40x.jpg" descr="inside-010.png"/>
          <p:cNvPicPr>
            <a:picLocks noChangeAspect="1"/>
          </p:cNvPicPr>
          <p:nvPr/>
        </p:nvPicPr>
        <p:blipFill>
          <a:blip r:embed="rId12"/>
          <a:stretch>
            <a:fillRect/>
          </a:stretch>
        </p:blipFill>
        <p:spPr>
          <a:xfrm>
            <a:off x="3429000" y="3624858"/>
            <a:ext cx="3429000" cy="841177"/>
          </a:xfrm>
          <a:prstGeom prst="rect">
            <a:avLst/>
          </a:prstGeom>
        </p:spPr>
      </p:pic>
      <p:sp>
        <p:nvSpPr>
          <p:cNvPr id="39" name="text: caption"/>
          <p:cNvSpPr txBox="1"/>
          <p:nvPr/>
        </p:nvSpPr>
        <p:spPr>
          <a:xfrm>
            <a:off x="3684984" y="4498032"/>
            <a:ext cx="3120628" cy="214312"/>
          </a:xfrm>
          <a:prstGeom prst="rect">
            <a:avLst/>
          </a:prstGeom>
          <a:noFill/>
        </p:spPr>
        <p:txBody>
          <a:bodyPr wrap="square" lIns="0" rIns="0" tIns="0" bIns="0">
            <a:noAutofit/>
          </a:bodyPr>
          <a:lstStyle/>
          <a:p>
            <a:pPr algn="l">
              <a:lnSpc>
                <a:spcPts val="844"/>
              </a:lnSpc>
            </a:pPr>
            <a:r>
              <a:rPr sz="650" b="0" i="1">
                <a:solidFill>
                  <a:srgbClr val="6A665C"/>
                </a:solidFill>
                <a:latin typeface="Source Sans 3"/>
              </a:rPr>
              <a:t>Testate amoeba, 40x objective. Photograph: Joy Kaluf. A count names what is there: bacteria, fungi, protozoa, nematodes and microarthropods.</a:t>
            </a:r>
          </a:p>
        </p:txBody>
      </p:sp>
      <p:sp>
        <p:nvSpPr>
          <p:cNvPr id="40" name="text: h3"/>
          <p:cNvSpPr txBox="1"/>
          <p:nvPr/>
        </p:nvSpPr>
        <p:spPr>
          <a:xfrm>
            <a:off x="3684984" y="4853880"/>
            <a:ext cx="3120628" cy="127992"/>
          </a:xfrm>
          <a:prstGeom prst="rect">
            <a:avLst/>
          </a:prstGeom>
          <a:noFill/>
        </p:spPr>
        <p:txBody>
          <a:bodyPr wrap="square" lIns="0" rIns="0" tIns="0" bIns="0">
            <a:noAutofit/>
          </a:bodyPr>
          <a:lstStyle/>
          <a:p>
            <a:pPr algn="l">
              <a:lnSpc>
                <a:spcPts val="1008"/>
              </a:lnSpc>
            </a:pPr>
            <a:r>
              <a:rPr sz="850" b="1" i="0">
                <a:solidFill>
                  <a:srgbClr val="4F3433"/>
                </a:solidFill>
                <a:latin typeface="Montserrat"/>
              </a:rPr>
              <a:t>What we test before we recommend</a:t>
            </a:r>
          </a:p>
        </p:txBody>
      </p:sp>
      <p:pic>
        <p:nvPicPr>
          <p:cNvPr id="41" name="image: icon #i-microscope" descr="inside-011.png"/>
          <p:cNvPicPr>
            <a:picLocks noChangeAspect="1"/>
          </p:cNvPicPr>
          <p:nvPr/>
        </p:nvPicPr>
        <p:blipFill>
          <a:blip r:embed="rId13"/>
          <a:stretch>
            <a:fillRect/>
          </a:stretch>
        </p:blipFill>
        <p:spPr>
          <a:xfrm>
            <a:off x="3684984" y="5021163"/>
            <a:ext cx="155377" cy="155377"/>
          </a:xfrm>
          <a:prstGeom prst="rect">
            <a:avLst/>
          </a:prstGeom>
        </p:spPr>
      </p:pic>
      <p:sp>
        <p:nvSpPr>
          <p:cNvPr id="42" name="text: div"/>
          <p:cNvSpPr txBox="1"/>
          <p:nvPr/>
        </p:nvSpPr>
        <p:spPr>
          <a:xfrm>
            <a:off x="3918049" y="5013871"/>
            <a:ext cx="2873579" cy="278606"/>
          </a:xfrm>
          <a:prstGeom prst="rect">
            <a:avLst/>
          </a:prstGeom>
          <a:noFill/>
        </p:spPr>
        <p:txBody>
          <a:bodyPr wrap="square" lIns="0" rIns="0" tIns="0" bIns="0">
            <a:noAutofit/>
          </a:bodyPr>
          <a:lstStyle/>
          <a:p>
            <a:pPr algn="l">
              <a:lnSpc>
                <a:spcPts val="1077"/>
              </a:lnSpc>
            </a:pPr>
            <a:r>
              <a:rPr sz="850" b="1" i="0">
                <a:solidFill>
                  <a:srgbClr val="4F3433"/>
                </a:solidFill>
                <a:latin typeface="Source Sans 3"/>
              </a:rPr>
              <a:t>Measurable.</a:t>
            </a:r>
            <a:r>
              <a:rPr sz="800" b="0" i="0">
                <a:solidFill>
                  <a:srgbClr val="333130"/>
                </a:solidFill>
                <a:latin typeface="Source Sans 3"/>
              </a:rPr>
              <a:t> Every recommendation starts with a count, not a guess.</a:t>
            </a:r>
          </a:p>
        </p:txBody>
      </p:sp>
      <p:pic>
        <p:nvPicPr>
          <p:cNvPr id="43" name="image: icon #i-flask" descr="inside-012.png"/>
          <p:cNvPicPr>
            <a:picLocks noChangeAspect="1"/>
          </p:cNvPicPr>
          <p:nvPr/>
        </p:nvPicPr>
        <p:blipFill>
          <a:blip r:embed="rId14"/>
          <a:stretch>
            <a:fillRect/>
          </a:stretch>
        </p:blipFill>
        <p:spPr>
          <a:xfrm>
            <a:off x="3684984" y="5327154"/>
            <a:ext cx="155377" cy="155377"/>
          </a:xfrm>
          <a:prstGeom prst="rect">
            <a:avLst/>
          </a:prstGeom>
        </p:spPr>
      </p:pic>
      <p:sp>
        <p:nvSpPr>
          <p:cNvPr id="44" name="text: div"/>
          <p:cNvSpPr txBox="1"/>
          <p:nvPr/>
        </p:nvSpPr>
        <p:spPr>
          <a:xfrm>
            <a:off x="3918049" y="5319861"/>
            <a:ext cx="2873579" cy="278606"/>
          </a:xfrm>
          <a:prstGeom prst="rect">
            <a:avLst/>
          </a:prstGeom>
          <a:noFill/>
        </p:spPr>
        <p:txBody>
          <a:bodyPr wrap="square" lIns="0" rIns="0" tIns="0" bIns="0">
            <a:noAutofit/>
          </a:bodyPr>
          <a:lstStyle/>
          <a:p>
            <a:pPr algn="l">
              <a:lnSpc>
                <a:spcPts val="1077"/>
              </a:lnSpc>
            </a:pPr>
            <a:r>
              <a:rPr sz="850" b="1" i="0">
                <a:solidFill>
                  <a:srgbClr val="4F3433"/>
                </a:solidFill>
                <a:latin typeface="Source Sans 3"/>
              </a:rPr>
              <a:t>Diagnostic first.</a:t>
            </a:r>
            <a:r>
              <a:rPr sz="800" b="0" i="0">
                <a:solidFill>
                  <a:srgbClr val="333130"/>
                </a:solidFill>
                <a:latin typeface="Source Sans 3"/>
              </a:rPr>
              <a:t> We look at your soil before we suggest anything.</a:t>
            </a:r>
          </a:p>
        </p:txBody>
      </p:sp>
      <p:pic>
        <p:nvPicPr>
          <p:cNvPr id="45" name="image: icon #i-field" descr="inside-013.png"/>
          <p:cNvPicPr>
            <a:picLocks noChangeAspect="1"/>
          </p:cNvPicPr>
          <p:nvPr/>
        </p:nvPicPr>
        <p:blipFill>
          <a:blip r:embed="rId15"/>
          <a:stretch>
            <a:fillRect/>
          </a:stretch>
        </p:blipFill>
        <p:spPr>
          <a:xfrm>
            <a:off x="3684984" y="5633145"/>
            <a:ext cx="155377" cy="155377"/>
          </a:xfrm>
          <a:prstGeom prst="rect">
            <a:avLst/>
          </a:prstGeom>
        </p:spPr>
      </p:pic>
      <p:sp>
        <p:nvSpPr>
          <p:cNvPr id="46" name="text: div"/>
          <p:cNvSpPr txBox="1"/>
          <p:nvPr/>
        </p:nvSpPr>
        <p:spPr>
          <a:xfrm>
            <a:off x="3918049" y="5625852"/>
            <a:ext cx="2179130" cy="141833"/>
          </a:xfrm>
          <a:prstGeom prst="rect">
            <a:avLst/>
          </a:prstGeom>
          <a:noFill/>
        </p:spPr>
        <p:txBody>
          <a:bodyPr wrap="square" lIns="0" rIns="0" tIns="0" bIns="0">
            <a:noAutofit/>
          </a:bodyPr>
          <a:lstStyle/>
          <a:p>
            <a:pPr algn="l">
              <a:lnSpc>
                <a:spcPts val="1077"/>
              </a:lnSpc>
            </a:pPr>
            <a:r>
              <a:rPr sz="850" b="1" i="0">
                <a:solidFill>
                  <a:srgbClr val="4F3433"/>
                </a:solidFill>
                <a:latin typeface="Source Sans 3"/>
              </a:rPr>
              <a:t>Compatible.</a:t>
            </a:r>
            <a:r>
              <a:rPr sz="800" b="0" i="0">
                <a:solidFill>
                  <a:srgbClr val="333130"/>
                </a:solidFill>
                <a:latin typeface="Source Sans 3"/>
              </a:rPr>
              <a:t> No need to tear up what you have.</a:t>
            </a:r>
          </a:p>
        </p:txBody>
      </p:sp>
      <p:sp>
        <p:nvSpPr>
          <p:cNvPr id="47" name="rect: card background"/>
          <p:cNvSpPr/>
          <p:nvPr/>
        </p:nvSpPr>
        <p:spPr>
          <a:xfrm>
            <a:off x="3684984" y="5930057"/>
            <a:ext cx="2917031" cy="947886"/>
          </a:xfrm>
          <a:prstGeom prst="roundRect">
            <a:avLst>
              <a:gd name="adj" fmla="val 4341"/>
            </a:avLst>
          </a:prstGeom>
          <a:solidFill>
            <a:srgbClr val="E6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 left rule"/>
          <p:cNvSpPr/>
          <p:nvPr/>
        </p:nvSpPr>
        <p:spPr>
          <a:xfrm>
            <a:off x="3684984" y="5930057"/>
            <a:ext cx="19050" cy="947886"/>
          </a:xfrm>
          <a:prstGeom prst="rect">
            <a:avLst/>
          </a:prstGeom>
          <a:solidFill>
            <a:srgbClr val="156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 pull"/>
          <p:cNvSpPr txBox="1"/>
          <p:nvPr/>
        </p:nvSpPr>
        <p:spPr>
          <a:xfrm>
            <a:off x="3822799" y="6039743"/>
            <a:ext cx="2848654" cy="728514"/>
          </a:xfrm>
          <a:prstGeom prst="rect">
            <a:avLst/>
          </a:prstGeom>
          <a:noFill/>
        </p:spPr>
        <p:txBody>
          <a:bodyPr wrap="square" lIns="0" rIns="0" tIns="0" bIns="0">
            <a:noAutofit/>
          </a:bodyPr>
          <a:lstStyle/>
          <a:p>
            <a:pPr algn="l">
              <a:lnSpc>
                <a:spcPts val="1148"/>
              </a:lnSpc>
            </a:pPr>
            <a:r>
              <a:rPr sz="900" b="0" i="0">
                <a:solidFill>
                  <a:srgbClr val="333130"/>
                </a:solidFill>
                <a:latin typeface="Source Sans 3"/>
              </a:rPr>
              <a:t>Each mechanism we teach is established soil biology. How much of any one benefit a field sees depends on climate, crop, starting condition and management. We publish results by site, with the person and the year, and say what one site cannot prove.</a:t>
            </a:r>
          </a:p>
        </p:txBody>
      </p:sp>
      <p:sp>
        <p:nvSpPr>
          <p:cNvPr id="50" name="rect: hairline"/>
          <p:cNvSpPr/>
          <p:nvPr/>
        </p:nvSpPr>
        <p:spPr>
          <a:xfrm>
            <a:off x="3684984" y="7139732"/>
            <a:ext cx="2917031" cy="9525"/>
          </a:xfrm>
          <a:prstGeom prst="rect">
            <a:avLst/>
          </a:prstGeom>
          <a:solidFill>
            <a:srgbClr val="4F343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 p"/>
          <p:cNvSpPr txBox="1"/>
          <p:nvPr/>
        </p:nvSpPr>
        <p:spPr>
          <a:xfrm>
            <a:off x="3684984" y="7236023"/>
            <a:ext cx="3120628" cy="280392"/>
          </a:xfrm>
          <a:prstGeom prst="rect">
            <a:avLst/>
          </a:prstGeom>
          <a:noFill/>
        </p:spPr>
        <p:txBody>
          <a:bodyPr wrap="square" lIns="0" rIns="0" tIns="0" bIns="0">
            <a:noAutofit/>
          </a:bodyPr>
          <a:lstStyle/>
          <a:p>
            <a:pPr algn="l">
              <a:lnSpc>
                <a:spcPts val="1104"/>
              </a:lnSpc>
            </a:pPr>
            <a:r>
              <a:rPr sz="800" b="0" i="0">
                <a:solidFill>
                  <a:srgbClr val="333130"/>
                </a:solidFill>
                <a:latin typeface="Source Sans 3"/>
              </a:rPr>
              <a:t>Her publications and the wider research, item by item:</a:t>
            </a:r>
          </a:p>
          <a:p>
            <a:pPr algn="l">
              <a:lnSpc>
                <a:spcPts val="1104"/>
              </a:lnSpc>
            </a:pPr>
            <a:r>
              <a:rPr sz="700" b="0" i="0">
                <a:solidFill>
                  <a:srgbClr val="156826"/>
                </a:solidFill>
                <a:latin typeface="Source Sans 3"/>
              </a:rPr>
              <a:t>sfw.one/publications</a:t>
            </a:r>
          </a:p>
        </p:txBody>
      </p:sp>
      <p:sp>
        <p:nvSpPr>
          <p:cNvPr id="52" name="rect: panel 5 ground"/>
          <p:cNvSpPr/>
          <p:nvPr/>
        </p:nvSpPr>
        <p:spPr>
          <a:xfrm>
            <a:off x="6858000" y="-114300"/>
            <a:ext cx="3314700" cy="8001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 banner background"/>
          <p:cNvSpPr/>
          <p:nvPr/>
        </p:nvSpPr>
        <p:spPr>
          <a:xfrm>
            <a:off x="6858000" y="-132606"/>
            <a:ext cx="3333006" cy="1028700"/>
          </a:xfrm>
          <a:prstGeom prst="rect">
            <a:avLst/>
          </a:prstGeom>
          <a:gradFill rotWithShape="1">
            <a:gsLst>
              <a:gs pos="0">
                <a:srgbClr val="156826"/>
              </a:gs>
              <a:gs pos="100000">
                <a:srgbClr val="22371F"/>
              </a:gs>
            </a:gsLst>
            <a:lin ang="408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 eyebrow"/>
          <p:cNvSpPr txBox="1"/>
          <p:nvPr/>
        </p:nvSpPr>
        <p:spPr>
          <a:xfrm>
            <a:off x="7113984" y="260152"/>
            <a:ext cx="2878312" cy="112068"/>
          </a:xfrm>
          <a:prstGeom prst="rect">
            <a:avLst/>
          </a:prstGeom>
          <a:noFill/>
        </p:spPr>
        <p:txBody>
          <a:bodyPr wrap="square" lIns="0" rIns="0" tIns="0" bIns="0">
            <a:noAutofit/>
          </a:bodyPr>
          <a:lstStyle/>
          <a:p>
            <a:pPr algn="l">
              <a:lnSpc>
                <a:spcPts val="883"/>
              </a:lnSpc>
            </a:pPr>
            <a:r>
              <a:rPr sz="650" b="1" i="0" spc="96">
                <a:solidFill>
                  <a:srgbClr val="FFFFFF">
                    <a:alpha val="86000"/>
                  </a:srgbClr>
                </a:solidFill>
                <a:latin typeface="Montserrat"/>
              </a:rPr>
              <a:t>PRACTICE</a:t>
            </a:r>
          </a:p>
        </p:txBody>
      </p:sp>
      <p:sp>
        <p:nvSpPr>
          <p:cNvPr id="55" name="text: h2"/>
          <p:cNvSpPr txBox="1"/>
          <p:nvPr/>
        </p:nvSpPr>
        <p:spPr>
          <a:xfrm>
            <a:off x="7113984" y="422374"/>
            <a:ext cx="2878312" cy="373261"/>
          </a:xfrm>
          <a:prstGeom prst="rect">
            <a:avLst/>
          </a:prstGeom>
          <a:noFill/>
        </p:spPr>
        <p:txBody>
          <a:bodyPr wrap="square" lIns="0" rIns="0" tIns="0" bIns="0">
            <a:noAutofit/>
          </a:bodyPr>
          <a:lstStyle/>
          <a:p>
            <a:pPr algn="l">
              <a:lnSpc>
                <a:spcPts val="1470"/>
              </a:lnSpc>
            </a:pPr>
            <a:r>
              <a:rPr sz="1400" b="1" i="0" spc="-8">
                <a:solidFill>
                  <a:srgbClr val="FFFFFF"/>
                </a:solidFill>
                <a:latin typeface="Montserrat"/>
              </a:rPr>
              <a:t>Growers are already doing this, at every scale.</a:t>
            </a:r>
          </a:p>
        </p:txBody>
      </p:sp>
      <p:pic>
        <p:nvPicPr>
          <p:cNvPr id="56" name="image: erc-rancho-cacachilas-agro.jpg" descr="inside-014.png"/>
          <p:cNvPicPr>
            <a:picLocks noChangeAspect="1"/>
          </p:cNvPicPr>
          <p:nvPr/>
        </p:nvPicPr>
        <p:blipFill>
          <a:blip r:embed="rId16"/>
          <a:stretch>
            <a:fillRect/>
          </a:stretch>
        </p:blipFill>
        <p:spPr>
          <a:xfrm>
            <a:off x="6858000" y="896094"/>
            <a:ext cx="3333006" cy="1097161"/>
          </a:xfrm>
          <a:prstGeom prst="rect">
            <a:avLst/>
          </a:prstGeom>
        </p:spPr>
      </p:pic>
      <p:sp>
        <p:nvSpPr>
          <p:cNvPr id="57" name="text: caption"/>
          <p:cNvSpPr txBox="1"/>
          <p:nvPr/>
        </p:nvSpPr>
        <p:spPr>
          <a:xfrm>
            <a:off x="7113984" y="2025253"/>
            <a:ext cx="2897716" cy="107156"/>
          </a:xfrm>
          <a:prstGeom prst="rect">
            <a:avLst/>
          </a:prstGeom>
          <a:noFill/>
        </p:spPr>
        <p:txBody>
          <a:bodyPr wrap="square" lIns="0" rIns="0" tIns="0" bIns="0">
            <a:noAutofit/>
          </a:bodyPr>
          <a:lstStyle/>
          <a:p>
            <a:pPr algn="l">
              <a:lnSpc>
                <a:spcPts val="844"/>
              </a:lnSpc>
            </a:pPr>
            <a:r>
              <a:rPr sz="650" b="0" i="1">
                <a:solidFill>
                  <a:srgbClr val="6A665C"/>
                </a:solidFill>
                <a:latin typeface="Source Sans 3"/>
              </a:rPr>
              <a:t>Agroecology plots at Rancho Cacachilas.</a:t>
            </a:r>
          </a:p>
        </p:txBody>
      </p:sp>
      <p:sp>
        <p:nvSpPr>
          <p:cNvPr id="58" name="text: lede"/>
          <p:cNvSpPr txBox="1"/>
          <p:nvPr/>
        </p:nvSpPr>
        <p:spPr>
          <a:xfrm>
            <a:off x="7113984" y="2328714"/>
            <a:ext cx="2878312" cy="484882"/>
          </a:xfrm>
          <a:prstGeom prst="rect">
            <a:avLst/>
          </a:prstGeom>
          <a:noFill/>
        </p:spPr>
        <p:txBody>
          <a:bodyPr wrap="square" lIns="0" rIns="0" tIns="0" bIns="0">
            <a:noAutofit/>
          </a:bodyPr>
          <a:lstStyle/>
          <a:p>
            <a:pPr algn="l">
              <a:lnSpc>
                <a:spcPts val="1274"/>
              </a:lnSpc>
            </a:pPr>
            <a:r>
              <a:rPr sz="1000" b="0" i="0">
                <a:solidFill>
                  <a:srgbClr val="333130"/>
                </a:solidFill>
                <a:latin typeface="Source Sans 3"/>
              </a:rPr>
              <a:t>The biology is universal; the practice is local. Every result we publish names the grower who got it and the year they did.</a:t>
            </a:r>
          </a:p>
        </p:txBody>
      </p:sp>
      <p:sp>
        <p:nvSpPr>
          <p:cNvPr id="59" name="text: p"/>
          <p:cNvSpPr txBox="1"/>
          <p:nvPr/>
        </p:nvSpPr>
        <p:spPr>
          <a:xfrm>
            <a:off x="7113984" y="2868364"/>
            <a:ext cx="2878312" cy="735955"/>
          </a:xfrm>
          <a:prstGeom prst="rect">
            <a:avLst/>
          </a:prstGeom>
          <a:noFill/>
        </p:spPr>
        <p:txBody>
          <a:bodyPr wrap="square" lIns="0" rIns="0" tIns="0" bIns="0">
            <a:noAutofit/>
          </a:bodyPr>
          <a:lstStyle/>
          <a:p>
            <a:pPr algn="l">
              <a:lnSpc>
                <a:spcPts val="1159"/>
              </a:lnSpc>
            </a:pPr>
            <a:r>
              <a:rPr sz="850" b="0" i="0">
                <a:solidFill>
                  <a:srgbClr val="333130"/>
                </a:solidFill>
                <a:latin typeface="Source Sans 3"/>
              </a:rPr>
              <a:t>Nick Padwick farms four thousand acres in Norfolk, England. Roberto Silva works a hundred and forty in Piura, Peru. Jenn Sirp grows on a quarter acre in California. They film the work themselves and publish what changed, so nobody has to take our word for it.</a:t>
            </a:r>
          </a:p>
        </p:txBody>
      </p:sp>
      <p:sp>
        <p:nvSpPr>
          <p:cNvPr id="60" name="text: p"/>
          <p:cNvSpPr txBox="1"/>
          <p:nvPr/>
        </p:nvSpPr>
        <p:spPr>
          <a:xfrm>
            <a:off x="7113984" y="3659088"/>
            <a:ext cx="2878312" cy="735955"/>
          </a:xfrm>
          <a:prstGeom prst="rect">
            <a:avLst/>
          </a:prstGeom>
          <a:noFill/>
        </p:spPr>
        <p:txBody>
          <a:bodyPr wrap="square" lIns="0" rIns="0" tIns="0" bIns="0">
            <a:noAutofit/>
          </a:bodyPr>
          <a:lstStyle/>
          <a:p>
            <a:pPr algn="l">
              <a:lnSpc>
                <a:spcPts val="1159"/>
              </a:lnSpc>
            </a:pPr>
            <a:r>
              <a:rPr sz="850" b="0" i="0">
                <a:solidFill>
                  <a:srgbClr val="333130"/>
                </a:solidFill>
                <a:latin typeface="Source Sans 3"/>
              </a:rPr>
              <a:t>The scale runs from that quarter acre to ten thousand acres of corn and soy in Illinois, and a public park on Governors Island in New York. The steps are the same at every size: look at the biology under a microscope, add what is missing, and measure again.</a:t>
            </a:r>
          </a:p>
        </p:txBody>
      </p:sp>
      <p:sp>
        <p:nvSpPr>
          <p:cNvPr id="61" name="text: p"/>
          <p:cNvSpPr txBox="1"/>
          <p:nvPr/>
        </p:nvSpPr>
        <p:spPr>
          <a:xfrm>
            <a:off x="7113984" y="4449812"/>
            <a:ext cx="2878312" cy="294382"/>
          </a:xfrm>
          <a:prstGeom prst="rect">
            <a:avLst/>
          </a:prstGeom>
          <a:noFill/>
        </p:spPr>
        <p:txBody>
          <a:bodyPr wrap="square" lIns="0" rIns="0" tIns="0" bIns="0">
            <a:noAutofit/>
          </a:bodyPr>
          <a:lstStyle/>
          <a:p>
            <a:pPr algn="l">
              <a:lnSpc>
                <a:spcPts val="1159"/>
              </a:lnSpc>
            </a:pPr>
            <a:r>
              <a:rPr sz="850" b="0" i="0">
                <a:solidFill>
                  <a:srgbClr val="333130"/>
                </a:solidFill>
                <a:latin typeface="Source Sans 3"/>
              </a:rPr>
              <a:t>We partner with growers to trial the approach where they farm, and to document what happens when they do.</a:t>
            </a:r>
          </a:p>
        </p:txBody>
      </p:sp>
      <p:pic>
        <p:nvPicPr>
          <p:cNvPr id="62" name="image: ctpfw-student-moving-compost-1.jpg" descr="inside-015.png"/>
          <p:cNvPicPr>
            <a:picLocks noChangeAspect="1"/>
          </p:cNvPicPr>
          <p:nvPr/>
        </p:nvPicPr>
        <p:blipFill>
          <a:blip r:embed="rId17"/>
          <a:stretch>
            <a:fillRect/>
          </a:stretch>
        </p:blipFill>
        <p:spPr>
          <a:xfrm>
            <a:off x="7113984" y="4885730"/>
            <a:ext cx="847427" cy="749796"/>
          </a:xfrm>
          <a:prstGeom prst="rect">
            <a:avLst/>
          </a:prstGeom>
        </p:spPr>
      </p:pic>
      <p:pic>
        <p:nvPicPr>
          <p:cNvPr id="63" name="image: erc-panchmana-treeplanting-fb-img-1666270907385.jpg" descr="inside-016.png"/>
          <p:cNvPicPr>
            <a:picLocks noChangeAspect="1"/>
          </p:cNvPicPr>
          <p:nvPr/>
        </p:nvPicPr>
        <p:blipFill>
          <a:blip r:embed="rId18"/>
          <a:stretch>
            <a:fillRect/>
          </a:stretch>
        </p:blipFill>
        <p:spPr>
          <a:xfrm>
            <a:off x="8034486" y="4885730"/>
            <a:ext cx="847427" cy="749796"/>
          </a:xfrm>
          <a:prstGeom prst="rect">
            <a:avLst/>
          </a:prstGeom>
        </p:spPr>
      </p:pic>
      <p:pic>
        <p:nvPicPr>
          <p:cNvPr id="64" name="image: garden-vegetable-beds.jpg" descr="inside-017.png"/>
          <p:cNvPicPr>
            <a:picLocks noChangeAspect="1"/>
          </p:cNvPicPr>
          <p:nvPr/>
        </p:nvPicPr>
        <p:blipFill>
          <a:blip r:embed="rId19"/>
          <a:stretch>
            <a:fillRect/>
          </a:stretch>
        </p:blipFill>
        <p:spPr>
          <a:xfrm>
            <a:off x="8954988" y="4885730"/>
            <a:ext cx="847427" cy="749796"/>
          </a:xfrm>
          <a:prstGeom prst="rect">
            <a:avLst/>
          </a:prstGeom>
        </p:spPr>
      </p:pic>
      <p:sp>
        <p:nvSpPr>
          <p:cNvPr id="65" name="rect: card background"/>
          <p:cNvSpPr/>
          <p:nvPr/>
        </p:nvSpPr>
        <p:spPr>
          <a:xfrm>
            <a:off x="7113984" y="5722293"/>
            <a:ext cx="2688431" cy="719435"/>
          </a:xfrm>
          <a:prstGeom prst="roundRect">
            <a:avLst>
              <a:gd name="adj" fmla="val 5719"/>
            </a:avLst>
          </a:prstGeom>
          <a:solidFill>
            <a:srgbClr val="E6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 left rule"/>
          <p:cNvSpPr/>
          <p:nvPr/>
        </p:nvSpPr>
        <p:spPr>
          <a:xfrm>
            <a:off x="7113984" y="5722293"/>
            <a:ext cx="19050" cy="719435"/>
          </a:xfrm>
          <a:prstGeom prst="rect">
            <a:avLst/>
          </a:prstGeom>
          <a:solidFill>
            <a:srgbClr val="156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image: icon #i-person" descr="inside-018.png"/>
          <p:cNvPicPr>
            <a:picLocks noChangeAspect="1"/>
          </p:cNvPicPr>
          <p:nvPr/>
        </p:nvPicPr>
        <p:blipFill>
          <a:blip r:embed="rId20"/>
          <a:stretch>
            <a:fillRect/>
          </a:stretch>
        </p:blipFill>
        <p:spPr>
          <a:xfrm>
            <a:off x="7251799" y="5831979"/>
            <a:ext cx="173682" cy="173682"/>
          </a:xfrm>
          <a:prstGeom prst="rect">
            <a:avLst/>
          </a:prstGeom>
        </p:spPr>
      </p:pic>
      <p:sp>
        <p:nvSpPr>
          <p:cNvPr id="68" name="text: h3"/>
          <p:cNvSpPr txBox="1"/>
          <p:nvPr/>
        </p:nvSpPr>
        <p:spPr>
          <a:xfrm>
            <a:off x="7493943" y="5854750"/>
            <a:ext cx="2138744" cy="127992"/>
          </a:xfrm>
          <a:prstGeom prst="rect">
            <a:avLst/>
          </a:prstGeom>
          <a:noFill/>
        </p:spPr>
        <p:txBody>
          <a:bodyPr wrap="square" lIns="0" rIns="0" tIns="0" bIns="0">
            <a:noAutofit/>
          </a:bodyPr>
          <a:lstStyle/>
          <a:p>
            <a:pPr algn="l">
              <a:lnSpc>
                <a:spcPts val="1008"/>
              </a:lnSpc>
            </a:pPr>
            <a:r>
              <a:rPr sz="850" b="1" i="0">
                <a:solidFill>
                  <a:srgbClr val="4F3433"/>
                </a:solidFill>
                <a:latin typeface="Montserrat"/>
              </a:rPr>
              <a:t>Find a trained professional near you</a:t>
            </a:r>
          </a:p>
        </p:txBody>
      </p:sp>
      <p:sp>
        <p:nvSpPr>
          <p:cNvPr id="69" name="text: p"/>
          <p:cNvSpPr txBox="1"/>
          <p:nvPr/>
        </p:nvSpPr>
        <p:spPr>
          <a:xfrm>
            <a:off x="7251799" y="6037659"/>
            <a:ext cx="2606338" cy="294382"/>
          </a:xfrm>
          <a:prstGeom prst="rect">
            <a:avLst/>
          </a:prstGeom>
          <a:noFill/>
        </p:spPr>
        <p:txBody>
          <a:bodyPr wrap="square" lIns="0" rIns="0" tIns="0" bIns="0">
            <a:noAutofit/>
          </a:bodyPr>
          <a:lstStyle/>
          <a:p>
            <a:pPr algn="l">
              <a:lnSpc>
                <a:spcPts val="1159"/>
              </a:lnSpc>
            </a:pPr>
            <a:r>
              <a:rPr sz="850" b="0" i="0">
                <a:solidFill>
                  <a:srgbClr val="333130"/>
                </a:solidFill>
                <a:latin typeface="Source Sans 3"/>
              </a:rPr>
              <a:t>Consultants and lab technicians who finished the assessed programs are listed in our own directory.</a:t>
            </a:r>
          </a:p>
        </p:txBody>
      </p:sp>
      <p:pic>
        <p:nvPicPr>
          <p:cNvPr id="70" name="image: case-studies.svg" descr="inside-019.png"/>
          <p:cNvPicPr>
            <a:picLocks noChangeAspect="1"/>
          </p:cNvPicPr>
          <p:nvPr/>
        </p:nvPicPr>
        <p:blipFill>
          <a:blip r:embed="rId21"/>
          <a:stretch>
            <a:fillRect/>
          </a:stretch>
        </p:blipFill>
        <p:spPr>
          <a:xfrm>
            <a:off x="7113984" y="6464945"/>
            <a:ext cx="1051471" cy="1051471"/>
          </a:xfrm>
          <a:prstGeom prst="rect">
            <a:avLst/>
          </a:prstGeom>
        </p:spPr>
      </p:pic>
      <p:sp>
        <p:nvSpPr>
          <p:cNvPr id="71" name="text: t"/>
          <p:cNvSpPr txBox="1"/>
          <p:nvPr/>
        </p:nvSpPr>
        <p:spPr>
          <a:xfrm>
            <a:off x="8275141" y="6650980"/>
            <a:ext cx="1647486" cy="132457"/>
          </a:xfrm>
          <a:prstGeom prst="rect">
            <a:avLst/>
          </a:prstGeom>
          <a:noFill/>
        </p:spPr>
        <p:txBody>
          <a:bodyPr wrap="square" lIns="0" rIns="0" tIns="0" bIns="0">
            <a:noAutofit/>
          </a:bodyPr>
          <a:lstStyle/>
          <a:p>
            <a:pPr algn="l">
              <a:lnSpc>
                <a:spcPts val="1044"/>
              </a:lnSpc>
            </a:pPr>
            <a:r>
              <a:rPr sz="900" b="1" i="0">
                <a:solidFill>
                  <a:srgbClr val="4F3433"/>
                </a:solidFill>
                <a:latin typeface="Montserrat"/>
              </a:rPr>
              <a:t>Watch the case studies</a:t>
            </a:r>
          </a:p>
        </p:txBody>
      </p:sp>
      <p:sp>
        <p:nvSpPr>
          <p:cNvPr id="72" name="text: d"/>
          <p:cNvSpPr txBox="1"/>
          <p:nvPr/>
        </p:nvSpPr>
        <p:spPr>
          <a:xfrm>
            <a:off x="8275141" y="6815435"/>
            <a:ext cx="1647486" cy="360313"/>
          </a:xfrm>
          <a:prstGeom prst="rect">
            <a:avLst/>
          </a:prstGeom>
          <a:noFill/>
        </p:spPr>
        <p:txBody>
          <a:bodyPr wrap="square" lIns="0" rIns="0" tIns="0" bIns="0">
            <a:noAutofit/>
          </a:bodyPr>
          <a:lstStyle/>
          <a:p>
            <a:pPr algn="l">
              <a:lnSpc>
                <a:spcPts val="947"/>
              </a:lnSpc>
            </a:pPr>
            <a:r>
              <a:rPr sz="750" b="0" i="0">
                <a:solidFill>
                  <a:srgbClr val="4A463F"/>
                </a:solidFill>
                <a:latin typeface="Source Sans 3"/>
              </a:rPr>
              <a:t>Growers filming their own soil, crop by crop and climate by climate. Start with one that looks like yours.</a:t>
            </a:r>
          </a:p>
        </p:txBody>
      </p:sp>
      <p:sp>
        <p:nvSpPr>
          <p:cNvPr id="73" name="text: h"/>
          <p:cNvSpPr txBox="1"/>
          <p:nvPr/>
        </p:nvSpPr>
        <p:spPr>
          <a:xfrm>
            <a:off x="8275141" y="7207746"/>
            <a:ext cx="1647486" cy="122486"/>
          </a:xfrm>
          <a:prstGeom prst="rect">
            <a:avLst/>
          </a:prstGeom>
          <a:noFill/>
        </p:spPr>
        <p:txBody>
          <a:bodyPr wrap="square" lIns="0" rIns="0" tIns="0" bIns="0">
            <a:noAutofit/>
          </a:bodyPr>
          <a:lstStyle/>
          <a:p>
            <a:pPr algn="l">
              <a:lnSpc>
                <a:spcPts val="966"/>
              </a:lnSpc>
            </a:pPr>
            <a:r>
              <a:rPr sz="700" b="0" i="1">
                <a:solidFill>
                  <a:srgbClr val="6A665C"/>
                </a:solidFill>
                <a:latin typeface="Source Sans 3"/>
              </a:rPr>
              <a:t>sfw.one/brochure-casestudies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