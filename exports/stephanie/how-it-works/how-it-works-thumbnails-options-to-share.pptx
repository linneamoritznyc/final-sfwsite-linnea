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A (file what-is-the-soil-food-web-A.jpg): Close-up: root tip with bacteria, fungi, a protozoan and a nematode, on Soil Brown</a:t>
            </a:r>
          </a:p>
          <a:p>
            <a:r>
              <a:t>Option B (file what-is-the-soil-food-web-B.jpg): Bean plant on Food Web Green, magnifier on its root zone</a:t>
            </a:r>
          </a:p>
          <a:p>
            <a:r>
              <a:t>Option C (file what-is-the-soil-food-web-D.jpg): SFW wave layout: lifeless compacted soil vs a bean in living soil with its food web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Soil Food Web?, option A (file what-is-the-soil-food-web-A.jpg): Close-up: root tip with bacteria, fungi, a protozoan and a nematode, on Soil Brown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Soil Food Web?, option B (file what-is-the-soil-food-web-B.jpg): Bean plant on Food Web Green, magnifier on its root zone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Soil Food Web?, option C (file what-is-the-soil-food-web-D.jpg): SFW wave layout: lifeless compacted soil vs a bean in living soil with its food web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A (file nutrient-cycling-A.jpg): Close-up: protozoan eats bacteria, nutrients flow to the root hair</a:t>
            </a:r>
          </a:p>
          <a:p>
            <a:r>
              <a:t>Option B (file nutrient-cycling-B.jpg): Lettuce on Organic Cream, magnifier on the nutrient loop</a:t>
            </a:r>
          </a:p>
          <a:p>
            <a:r>
              <a:t>Option C (file nutrient-cycling-D.jpg): SFW wave layout: yellowing lettuce vs a lush lettuce with the nutrient cycle at its roots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Nutrient Cycling, option A (file nutrient-cycling-A.jpg): Close-up: protozoan eats bacteria, nutrients flow to the root hair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Nutrient Cycling, option B (file nutrient-cycling-B.jpg): Lettuce on Organic Cream, magnifier on the nutrient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Nutrient Cycling, option C (file nutrient-cycling-D.jpg): SFW wave layout: yellowing lettuce vs a lush lettuce with the nutrient cycle at its roots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A (file formation-of-structure-A.jpg): Soil crumbs glued by bacteria, woven by fungal threads, on Soil Brown</a:t>
            </a:r>
          </a:p>
          <a:p>
            <a:r>
              <a:t>Option B (file formation-of-structure-B.jpg): The same crumbs as a specimen on Food Web Green</a:t>
            </a:r>
          </a:p>
          <a:p>
            <a:r>
              <a:t>Option C (file formation-of-structure-D.jpg): SFW wave layout: compacted soil with standing water vs crumbly aggregates woven by fungi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Formation of Structure, option A (file formation-of-structure-A.jpg): Soil crumbs glued by bacteria, woven by fungal threads, on Soil Brown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Formation of Structure, option B (file formation-of-structure-B.jpg): The same crumbs as a specimen on Food Web Green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Formation of Structure, option C (file formation-of-structure-D.jpg): SFW wave layout: compacted soil with standing water vs crumbly aggregates woven by fungi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A (file weed-suppression-A.jpg): Weeds in bacterial soil vs corn in fungal soil; cream and green sky like the reference</a:t>
            </a:r>
          </a:p>
          <a:p>
            <a:r>
              <a:t>Option B (file weed-suppression-B.jpg): Same, Food Web Green sky</a:t>
            </a:r>
          </a:p>
          <a:p>
            <a:r>
              <a:t>Option C (file weed-suppression-C.jpg): Same, Organic Cream sky</a:t>
            </a:r>
          </a:p>
          <a:p>
            <a:r>
              <a:t>Option D (file weed-suppression-D.jpg): SFW wave layout: weeds in bacterial soil vs corn in fungal soil</a:t>
            </a:r>
          </a:p>
          <a:p>
            <a:r>
              <a:t>Option E (file weed-suppression-E.jpg): Close-up: a seedling root wrapped in a mycorrhizal fungal 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Weed Suppression, option A (file weed-suppression-A.jpg): Weeds in bacterial soil vs corn in fungal soil; cream and green sky like the 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Weed Suppression, option B (file weed-suppression-B.jpg): Same, Food Web Green sky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Weed Suppression, option C (file weed-suppression-C.jpg): Same, Organic Cream sky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Weed Suppression, option D (file weed-suppression-D.jpg): SFW wave layout: weeds in bacterial soil vs corn in fungal soil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Weed Suppression, option E (file weed-suppression-E.jpg): Close-up: a seedling root wrapped in a mycorrhizal fungal 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A (file inhibiting-pests-and-diseases-A.jpg): Close-up: root sleeved in beneficials, pathogen kept out, on Soil Brown</a:t>
            </a:r>
          </a:p>
          <a:p>
            <a:r>
              <a:t>Option B (file inhibiting-pests-and-diseases-B.jpg): The same as a specimen on Food Web Green</a:t>
            </a:r>
          </a:p>
          <a:p>
            <a:r>
              <a:t>Option C (file inhibiting-pests-and-diseases-C.jpg): Tomato on Organic Cream, magnifier on its root zone</a:t>
            </a:r>
          </a:p>
          <a:p>
            <a:r>
              <a:t>Option D (file inhibiting-pests-and-diseases-D.jpg): SFW wave layout: wilting plant among pathogens vs a tomato whose roots are covered by beneficials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Inhibiting Pests &amp; Diseases, option A (file inhibiting-pests-and-diseases-A.jpg): Close-up: root sleeved in beneficials, pathogen kept out, on Soil Brown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Inhibiting Pests &amp; Diseases, option B (file inhibiting-pests-and-diseases-B.jpg): The same as a specimen on Food Web Green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Inhibiting Pests &amp; Diseases, option C (file inhibiting-pests-and-diseases-C.jpg): Tomato on Organic Cream, magnifier on its root zone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Inhibiting Pests &amp; Diseases, option D (file inhibiting-pests-and-diseases-D.jpg): SFW wave layout: wilting plant among pathogens vs a tomato whose roots are covered by beneficials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A (file sequestering-carbon-A.jpg): Oak on Food Web Green: carbon flows down roots and fungal threads into dark soil clumps</a:t>
            </a:r>
          </a:p>
          <a:p>
            <a:r>
              <a:t>Option B (file sequestering-carbon-B.jpg): Same, Organic Cream sky</a:t>
            </a:r>
          </a:p>
          <a:p>
            <a:r>
              <a:t>Option C (file sequestering-carbon-D.jpg): SFW wave layout: bare soil losing carbon to the air vs an oak sending carbon down into the soil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Sequestering Carbon, option A (file sequestering-carbon-A.jpg): Oak on Food Web Green: carbon flows down roots and fungal threads into dark soil clumps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Sequestering Carbon, option B (file sequestering-carbon-B.jpg): Same, Organic Cream sky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Sequestering Carbon, option C (file sequestering-carbon-D.jpg): SFW wave layout: bare soil losing carbon to the air vs an oak sending carbon down into the soil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7900" y="2095500"/>
            <a:ext cx="1079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000">
                <a:solidFill>
                  <a:srgbClr val="156826"/>
                </a:solidFill>
                <a:latin typeface="Montserrat"/>
              </a:rPr>
              <a:t>How It Works video thumbnails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7900" y="3175000"/>
            <a:ext cx="10160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2200">
                <a:solidFill>
                  <a:srgbClr val="231F1D"/>
                </a:solidFill>
                <a:latin typeface="Montserrat"/>
              </a:rPr>
              <a:t>Science-illustration options for the six videos, in SFW colours.</a:t>
            </a:r>
          </a:p>
          <a:p>
            <a:pPr algn="l"/>
            <a:r>
              <a:rPr b="0" sz="2200">
                <a:solidFill>
                  <a:srgbClr val="231F1D"/>
                </a:solidFill>
                <a:latin typeface="Montserrat"/>
              </a:rPr>
              <a:t>Each video has 3 to 5 options, lettered A to E. Reply with one letter per video.</a:t>
            </a:r>
          </a:p>
        </p:txBody>
      </p:sp>
      <p:pic>
        <p:nvPicPr>
          <p:cNvPr id="4" name="Picture 3" descr="logo-green-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0" y="546100"/>
            <a:ext cx="12446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7900" y="317500"/>
            <a:ext cx="10160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200">
                <a:solidFill>
                  <a:srgbClr val="156826"/>
                </a:solidFill>
                <a:latin typeface="Montserrat"/>
              </a:rPr>
              <a:t>1  What is the Soil Food Web?</a:t>
            </a:r>
          </a:p>
        </p:txBody>
      </p:sp>
      <p:pic>
        <p:nvPicPr>
          <p:cNvPr id="3" name="Picture 2" descr="what-is-the-soil-food-web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2707481"/>
            <a:ext cx="3242733" cy="18240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7900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A</a:t>
            </a:r>
          </a:p>
        </p:txBody>
      </p:sp>
      <p:pic>
        <p:nvPicPr>
          <p:cNvPr id="5" name="Picture 4" descr="what-is-the-soil-food-web-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633" y="2707481"/>
            <a:ext cx="3242733" cy="1824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74633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B</a:t>
            </a:r>
          </a:p>
        </p:txBody>
      </p:sp>
      <p:pic>
        <p:nvPicPr>
          <p:cNvPr id="7" name="Picture 6" descr="what-is-the-soil-food-web-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367" y="2707481"/>
            <a:ext cx="3242733" cy="1824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1367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at-is-the-soil-food-web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at-is-the-soil-food-web-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at-is-the-soil-food-web-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7900" y="317500"/>
            <a:ext cx="10160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200">
                <a:solidFill>
                  <a:srgbClr val="156826"/>
                </a:solidFill>
                <a:latin typeface="Montserrat"/>
              </a:rPr>
              <a:t>2  Nutrient Cycling</a:t>
            </a:r>
          </a:p>
        </p:txBody>
      </p:sp>
      <p:pic>
        <p:nvPicPr>
          <p:cNvPr id="3" name="Picture 2" descr="nutrient-cycling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2707481"/>
            <a:ext cx="3242733" cy="18240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7900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A</a:t>
            </a:r>
          </a:p>
        </p:txBody>
      </p:sp>
      <p:pic>
        <p:nvPicPr>
          <p:cNvPr id="5" name="Picture 4" descr="nutrient-cycling-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633" y="2707481"/>
            <a:ext cx="3242733" cy="1824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74633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B</a:t>
            </a:r>
          </a:p>
        </p:txBody>
      </p:sp>
      <p:pic>
        <p:nvPicPr>
          <p:cNvPr id="7" name="Picture 6" descr="nutrient-cycling-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367" y="2707481"/>
            <a:ext cx="3242733" cy="1824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1367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ent-cycling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ent-cycling-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trient-cycling-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7900" y="317500"/>
            <a:ext cx="10160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200">
                <a:solidFill>
                  <a:srgbClr val="156826"/>
                </a:solidFill>
                <a:latin typeface="Montserrat"/>
              </a:rPr>
              <a:t>3  Formation of Structure</a:t>
            </a:r>
          </a:p>
        </p:txBody>
      </p:sp>
      <p:pic>
        <p:nvPicPr>
          <p:cNvPr id="3" name="Picture 2" descr="formation-of-structure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2707481"/>
            <a:ext cx="3242733" cy="18240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7900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A</a:t>
            </a:r>
          </a:p>
        </p:txBody>
      </p:sp>
      <p:pic>
        <p:nvPicPr>
          <p:cNvPr id="5" name="Picture 4" descr="formation-of-structure-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633" y="2707481"/>
            <a:ext cx="3242733" cy="1824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74633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B</a:t>
            </a:r>
          </a:p>
        </p:txBody>
      </p:sp>
      <p:pic>
        <p:nvPicPr>
          <p:cNvPr id="7" name="Picture 6" descr="formation-of-structure-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367" y="2707481"/>
            <a:ext cx="3242733" cy="1824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1367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rmation-of-structure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rmation-of-structure-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rmation-of-structure-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7900" y="317500"/>
            <a:ext cx="10160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200">
                <a:solidFill>
                  <a:srgbClr val="156826"/>
                </a:solidFill>
                <a:latin typeface="Montserrat"/>
              </a:rPr>
              <a:t>4  Weed Suppression</a:t>
            </a:r>
          </a:p>
        </p:txBody>
      </p:sp>
      <p:pic>
        <p:nvPicPr>
          <p:cNvPr id="3" name="Picture 2" descr="weed-suppression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1016000"/>
            <a:ext cx="3242733" cy="18240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7900" y="2865438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A</a:t>
            </a:r>
          </a:p>
        </p:txBody>
      </p:sp>
      <p:pic>
        <p:nvPicPr>
          <p:cNvPr id="5" name="Picture 4" descr="weed-suppression-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633" y="1016000"/>
            <a:ext cx="3242733" cy="1824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74633" y="2865438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B</a:t>
            </a:r>
          </a:p>
        </p:txBody>
      </p:sp>
      <p:pic>
        <p:nvPicPr>
          <p:cNvPr id="7" name="Picture 6" descr="weed-suppression-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367" y="1016000"/>
            <a:ext cx="3242733" cy="1824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1367" y="2865438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C</a:t>
            </a:r>
          </a:p>
        </p:txBody>
      </p:sp>
      <p:pic>
        <p:nvPicPr>
          <p:cNvPr id="9" name="Picture 8" descr="weed-suppression-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" y="3284538"/>
            <a:ext cx="3242733" cy="18240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7900" y="5133975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D</a:t>
            </a:r>
          </a:p>
        </p:txBody>
      </p:sp>
      <p:pic>
        <p:nvPicPr>
          <p:cNvPr id="11" name="Picture 10" descr="weed-suppression-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4633" y="3284538"/>
            <a:ext cx="3242733" cy="18240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74633" y="5133975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ed-suppression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ed-suppression-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ed-suppression-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ed-suppression-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ed-suppression-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7900" y="317500"/>
            <a:ext cx="10160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200">
                <a:solidFill>
                  <a:srgbClr val="156826"/>
                </a:solidFill>
                <a:latin typeface="Montserrat"/>
              </a:rPr>
              <a:t>5  Inhibiting Pests &amp; Diseases</a:t>
            </a:r>
          </a:p>
        </p:txBody>
      </p:sp>
      <p:pic>
        <p:nvPicPr>
          <p:cNvPr id="3" name="Picture 2" descr="inhibiting-pests-and-diseases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1016000"/>
            <a:ext cx="3242733" cy="18240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7900" y="2865438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A</a:t>
            </a:r>
          </a:p>
        </p:txBody>
      </p:sp>
      <p:pic>
        <p:nvPicPr>
          <p:cNvPr id="5" name="Picture 4" descr="inhibiting-pests-and-diseases-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633" y="1016000"/>
            <a:ext cx="3242733" cy="1824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74633" y="2865438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B</a:t>
            </a:r>
          </a:p>
        </p:txBody>
      </p:sp>
      <p:pic>
        <p:nvPicPr>
          <p:cNvPr id="7" name="Picture 6" descr="inhibiting-pests-and-diseases-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367" y="1016000"/>
            <a:ext cx="3242733" cy="1824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1367" y="2865438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C</a:t>
            </a:r>
          </a:p>
        </p:txBody>
      </p:sp>
      <p:pic>
        <p:nvPicPr>
          <p:cNvPr id="9" name="Picture 8" descr="inhibiting-pests-and-diseases-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" y="3284538"/>
            <a:ext cx="3242733" cy="18240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7900" y="5133975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hibiting-pests-and-diseases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hibiting-pests-and-diseases-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hibiting-pests-and-diseases-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hibiting-pests-and-diseases-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7900" y="317500"/>
            <a:ext cx="10160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200">
                <a:solidFill>
                  <a:srgbClr val="156826"/>
                </a:solidFill>
                <a:latin typeface="Montserrat"/>
              </a:rPr>
              <a:t>6  Sequestering Carbon</a:t>
            </a:r>
          </a:p>
        </p:txBody>
      </p:sp>
      <p:pic>
        <p:nvPicPr>
          <p:cNvPr id="3" name="Picture 2" descr="sequestering-carbon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2707481"/>
            <a:ext cx="3242733" cy="18240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7900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A</a:t>
            </a:r>
          </a:p>
        </p:txBody>
      </p:sp>
      <p:pic>
        <p:nvPicPr>
          <p:cNvPr id="5" name="Picture 4" descr="sequestering-carbon-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633" y="2707481"/>
            <a:ext cx="3242733" cy="1824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74633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B</a:t>
            </a:r>
          </a:p>
        </p:txBody>
      </p:sp>
      <p:pic>
        <p:nvPicPr>
          <p:cNvPr id="7" name="Picture 6" descr="sequestering-carbon-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367" y="2707481"/>
            <a:ext cx="3242733" cy="1824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1367" y="4556919"/>
            <a:ext cx="3242733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800">
                <a:solidFill>
                  <a:srgbClr val="231F1D"/>
                </a:solidFill>
                <a:latin typeface="Montserrat"/>
              </a:rPr>
              <a:t>Option 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questering-carbon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questering-carbon-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questering-carbon-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