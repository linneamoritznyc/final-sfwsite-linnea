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120000">
            <a:off x="10416629" y="4445000"/>
            <a:ext cx="666750" cy="1905000"/>
          </a:xfrm>
          <a:prstGeom prst="rect">
            <a:avLst/>
          </a:prstGeom>
        </p:spPr>
      </p:pic>
      <p:pic>
        <p:nvPicPr>
          <p:cNvPr id="4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0" y="609600"/>
            <a:ext cx="1460500" cy="1272976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6731000" y="2667000"/>
            <a:ext cx="4913411" cy="1320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b="1" sz="4800">
                <a:solidFill>
                  <a:srgbClr val="156826"/>
                </a:solidFill>
                <a:latin typeface="Montserrat"/>
              </a:rPr>
              <a:t>What is the</a:t>
            </a:r>
          </a:p>
          <a:p>
            <a:pPr algn="l">
              <a:lnSpc>
                <a:spcPts val="5200"/>
              </a:lnSpc>
            </a:pPr>
            <a:r>
              <a:rPr b="1" sz="4800">
                <a:solidFill>
                  <a:srgbClr val="156826"/>
                </a:solidFill>
                <a:latin typeface="Montserrat"/>
              </a:rPr>
              <a:t>Soil Food Web?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600000">
            <a:off x="3939629" y="762001"/>
            <a:ext cx="666750" cy="1905000"/>
          </a:xfrm>
          <a:prstGeom prst="rect">
            <a:avLst/>
          </a:prstGeom>
        </p:spPr>
      </p:pic>
      <p:pic>
        <p:nvPicPr>
          <p:cNvPr id="4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609600"/>
            <a:ext cx="1460500" cy="1272976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1016000" y="4927600"/>
            <a:ext cx="2691407" cy="1320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b="1" sz="4800">
                <a:solidFill>
                  <a:srgbClr val="156826"/>
                </a:solidFill>
                <a:latin typeface="Montserrat"/>
              </a:rPr>
              <a:t>Nutrient</a:t>
            </a:r>
          </a:p>
          <a:p>
            <a:pPr algn="l">
              <a:lnSpc>
                <a:spcPts val="5200"/>
              </a:lnSpc>
            </a:pPr>
            <a:r>
              <a:rPr b="1" sz="4800">
                <a:solidFill>
                  <a:srgbClr val="156826"/>
                </a:solidFill>
                <a:latin typeface="Montserrat"/>
              </a:rPr>
              <a:t>Cycling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760000">
            <a:off x="7495629" y="381000"/>
            <a:ext cx="666750" cy="1905000"/>
          </a:xfrm>
          <a:prstGeom prst="rect">
            <a:avLst/>
          </a:prstGeom>
        </p:spPr>
      </p:pic>
      <p:pic>
        <p:nvPicPr>
          <p:cNvPr id="4" name="School logo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0" y="4980285"/>
            <a:ext cx="1460500" cy="1268114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1016000" y="609600"/>
            <a:ext cx="4133155" cy="1320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Formation of</a:t>
            </a:r>
          </a:p>
          <a:p>
            <a:pPr algn="l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Structure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10797232" y="3302000"/>
            <a:ext cx="577850" cy="1651000"/>
          </a:xfrm>
          <a:prstGeom prst="rect">
            <a:avLst/>
          </a:prstGeom>
        </p:spPr>
      </p:pic>
      <p:pic>
        <p:nvPicPr>
          <p:cNvPr id="4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0" y="609600"/>
            <a:ext cx="1460500" cy="1272976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0" y="5562600"/>
            <a:ext cx="12192000" cy="6604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00"/>
              </a:lnSpc>
            </a:pPr>
            <a:r>
              <a:rPr b="1" sz="4800">
                <a:solidFill>
                  <a:srgbClr val="156826"/>
                </a:solidFill>
                <a:latin typeface="Montserrat"/>
              </a:rPr>
              <a:t>Weed Suppression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1240000">
            <a:off x="6352232" y="3556000"/>
            <a:ext cx="577850" cy="1651000"/>
          </a:xfrm>
          <a:prstGeom prst="rect">
            <a:avLst/>
          </a:prstGeom>
        </p:spPr>
      </p:pic>
      <p:pic>
        <p:nvPicPr>
          <p:cNvPr id="4" name="School logo" descr="logo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000" y="609600"/>
            <a:ext cx="1460500" cy="1268114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0" y="254000"/>
            <a:ext cx="12192000" cy="1320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Inhibiting Pests</a:t>
            </a:r>
          </a:p>
          <a:p>
            <a:pPr algn="ctr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&amp; Diseases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Illustration" descr="ar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Leaf sprig" descr="sprig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720000">
            <a:off x="7940278" y="762001"/>
            <a:ext cx="711200" cy="2032000"/>
          </a:xfrm>
          <a:prstGeom prst="rect">
            <a:avLst/>
          </a:prstGeom>
        </p:spPr>
      </p:pic>
      <p:pic>
        <p:nvPicPr>
          <p:cNvPr id="4" name="School logo" descr="logo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53600" y="609600"/>
            <a:ext cx="1460500" cy="1272976"/>
          </a:xfrm>
          <a:prstGeom prst="rect">
            <a:avLst/>
          </a:prstGeom>
        </p:spPr>
      </p:pic>
      <p:sp>
        <p:nvSpPr>
          <p:cNvPr id="5" name="Title"/>
          <p:cNvSpPr txBox="1"/>
          <p:nvPr/>
        </p:nvSpPr>
        <p:spPr>
          <a:xfrm>
            <a:off x="1016000" y="4838700"/>
            <a:ext cx="4255095" cy="1320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Sequestering</a:t>
            </a:r>
          </a:p>
          <a:p>
            <a:pPr algn="l">
              <a:lnSpc>
                <a:spcPts val="5200"/>
              </a:lnSpc>
            </a:pPr>
            <a:r>
              <a:rPr b="1" sz="4800">
                <a:solidFill>
                  <a:srgbClr val="FFFFFF"/>
                </a:solidFill>
                <a:latin typeface="Montserrat"/>
              </a:rPr>
              <a:t>Carbon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