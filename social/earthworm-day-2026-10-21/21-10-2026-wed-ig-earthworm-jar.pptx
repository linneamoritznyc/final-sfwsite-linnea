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Fonts: Fredoka (titles, labels) and Montserrat (subtitle), both free on Google Fonts. Every layer is its own object: jar, each worm, casts, arrows (editable lines), text, logo.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Jar" descr="Jar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1125" y="3571875"/>
            <a:ext cx="4391025" cy="8239125"/>
          </a:xfrm>
          <a:prstGeom prst="rect">
            <a:avLst/>
          </a:prstGeom>
        </p:spPr>
      </p:pic>
      <p:pic>
        <p:nvPicPr>
          <p:cNvPr id="3" name="Worm casts" descr="Worm casts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5250" y="10039350"/>
            <a:ext cx="1419225" cy="485775"/>
          </a:xfrm>
          <a:prstGeom prst="rect">
            <a:avLst/>
          </a:prstGeom>
        </p:spPr>
      </p:pic>
      <p:pic>
        <p:nvPicPr>
          <p:cNvPr id="4" name="Worm 1" descr="Worm 1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1175" y="7781925"/>
            <a:ext cx="3381375" cy="1504950"/>
          </a:xfrm>
          <a:prstGeom prst="rect">
            <a:avLst/>
          </a:prstGeom>
        </p:spPr>
      </p:pic>
      <p:pic>
        <p:nvPicPr>
          <p:cNvPr id="5" name="Worm 2" descr="Worm 2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4700" y="6572250"/>
            <a:ext cx="2133600" cy="1066800"/>
          </a:xfrm>
          <a:prstGeom prst="rect">
            <a:avLst/>
          </a:prstGeom>
        </p:spPr>
      </p:pic>
      <p:pic>
        <p:nvPicPr>
          <p:cNvPr id="6" name="Worm 3" descr="Worm 3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71700" y="9867900"/>
            <a:ext cx="1933575" cy="457200"/>
          </a:xfrm>
          <a:prstGeom prst="rect">
            <a:avLst/>
          </a:prstGeom>
        </p:spPr>
      </p:pic>
      <p:sp>
        <p:nvSpPr>
          <p:cNvPr id="7" name="Arrow 1"/>
          <p:cNvSpPr/>
          <p:nvPr/>
        </p:nvSpPr>
        <p:spPr>
          <a:xfrm>
            <a:off x="4000500" y="5219700"/>
            <a:ext cx="2533650" cy="1143000"/>
          </a:xfrm>
          <a:custGeom>
            <a:avLst/>
            <a:gdLst/>
            <a:ahLst/>
            <a:cxnLst/>
            <a:rect l="l" t="t" r="r" b="b"/>
            <a:pathLst>
              <a:path w="2533650" h="1143000">
                <a:moveTo>
                  <a:pt x="2533650" y="0"/>
                </a:moveTo>
                <a:lnTo>
                  <a:pt x="2444512" y="84046"/>
                </a:lnTo>
                <a:lnTo>
                  <a:pt x="2353945" y="164925"/>
                </a:lnTo>
                <a:lnTo>
                  <a:pt x="2261949" y="242637"/>
                </a:lnTo>
                <a:lnTo>
                  <a:pt x="2168525" y="317183"/>
                </a:lnTo>
                <a:lnTo>
                  <a:pt x="2073672" y="388560"/>
                </a:lnTo>
                <a:lnTo>
                  <a:pt x="1977390" y="456771"/>
                </a:lnTo>
                <a:lnTo>
                  <a:pt x="1879679" y="521815"/>
                </a:lnTo>
                <a:lnTo>
                  <a:pt x="1780540" y="583692"/>
                </a:lnTo>
                <a:lnTo>
                  <a:pt x="1679972" y="642402"/>
                </a:lnTo>
                <a:lnTo>
                  <a:pt x="1577975" y="697944"/>
                </a:lnTo>
                <a:lnTo>
                  <a:pt x="1474549" y="750320"/>
                </a:lnTo>
                <a:lnTo>
                  <a:pt x="1369695" y="799529"/>
                </a:lnTo>
                <a:lnTo>
                  <a:pt x="1263412" y="845570"/>
                </a:lnTo>
                <a:lnTo>
                  <a:pt x="1155700" y="888444"/>
                </a:lnTo>
                <a:lnTo>
                  <a:pt x="1046559" y="928152"/>
                </a:lnTo>
                <a:lnTo>
                  <a:pt x="935990" y="964692"/>
                </a:lnTo>
                <a:lnTo>
                  <a:pt x="823992" y="998065"/>
                </a:lnTo>
                <a:lnTo>
                  <a:pt x="710565" y="1028271"/>
                </a:lnTo>
                <a:lnTo>
                  <a:pt x="595709" y="1055310"/>
                </a:lnTo>
                <a:lnTo>
                  <a:pt x="479425" y="1079183"/>
                </a:lnTo>
                <a:lnTo>
                  <a:pt x="361712" y="1099887"/>
                </a:lnTo>
                <a:lnTo>
                  <a:pt x="242570" y="1117425"/>
                </a:lnTo>
                <a:lnTo>
                  <a:pt x="121999" y="1131796"/>
                </a:lnTo>
                <a:lnTo>
                  <a:pt x="0" y="114300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rrow 2"/>
          <p:cNvSpPr/>
          <p:nvPr/>
        </p:nvSpPr>
        <p:spPr>
          <a:xfrm>
            <a:off x="4953000" y="7124700"/>
            <a:ext cx="1581150" cy="685800"/>
          </a:xfrm>
          <a:custGeom>
            <a:avLst/>
            <a:gdLst/>
            <a:ahLst/>
            <a:cxnLst/>
            <a:rect l="l" t="t" r="r" b="b"/>
            <a:pathLst>
              <a:path w="1581150" h="685800">
                <a:moveTo>
                  <a:pt x="1581150" y="0"/>
                </a:moveTo>
                <a:lnTo>
                  <a:pt x="1505410" y="5846"/>
                </a:lnTo>
                <a:lnTo>
                  <a:pt x="1430528" y="13668"/>
                </a:lnTo>
                <a:lnTo>
                  <a:pt x="1356503" y="23467"/>
                </a:lnTo>
                <a:lnTo>
                  <a:pt x="1283335" y="35242"/>
                </a:lnTo>
                <a:lnTo>
                  <a:pt x="1211024" y="48994"/>
                </a:lnTo>
                <a:lnTo>
                  <a:pt x="1139571" y="64722"/>
                </a:lnTo>
                <a:lnTo>
                  <a:pt x="1068975" y="82427"/>
                </a:lnTo>
                <a:lnTo>
                  <a:pt x="999236" y="102108"/>
                </a:lnTo>
                <a:lnTo>
                  <a:pt x="930354" y="123765"/>
                </a:lnTo>
                <a:lnTo>
                  <a:pt x="862330" y="147399"/>
                </a:lnTo>
                <a:lnTo>
                  <a:pt x="795163" y="173010"/>
                </a:lnTo>
                <a:lnTo>
                  <a:pt x="728853" y="200596"/>
                </a:lnTo>
                <a:lnTo>
                  <a:pt x="663400" y="230160"/>
                </a:lnTo>
                <a:lnTo>
                  <a:pt x="598805" y="261699"/>
                </a:lnTo>
                <a:lnTo>
                  <a:pt x="535067" y="295215"/>
                </a:lnTo>
                <a:lnTo>
                  <a:pt x="472186" y="330708"/>
                </a:lnTo>
                <a:lnTo>
                  <a:pt x="410162" y="368177"/>
                </a:lnTo>
                <a:lnTo>
                  <a:pt x="348996" y="407622"/>
                </a:lnTo>
                <a:lnTo>
                  <a:pt x="288687" y="449044"/>
                </a:lnTo>
                <a:lnTo>
                  <a:pt x="229235" y="492442"/>
                </a:lnTo>
                <a:lnTo>
                  <a:pt x="170640" y="537817"/>
                </a:lnTo>
                <a:lnTo>
                  <a:pt x="112903" y="585168"/>
                </a:lnTo>
                <a:lnTo>
                  <a:pt x="56023" y="634496"/>
                </a:lnTo>
                <a:lnTo>
                  <a:pt x="0" y="68580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rrow 3"/>
          <p:cNvSpPr/>
          <p:nvPr/>
        </p:nvSpPr>
        <p:spPr>
          <a:xfrm>
            <a:off x="5191125" y="8886825"/>
            <a:ext cx="1343025" cy="184755"/>
          </a:xfrm>
          <a:custGeom>
            <a:avLst/>
            <a:gdLst/>
            <a:ahLst/>
            <a:cxnLst/>
            <a:rect l="l" t="t" r="r" b="b"/>
            <a:pathLst>
              <a:path w="1343025" h="184755">
                <a:moveTo>
                  <a:pt x="1343025" y="0"/>
                </a:moveTo>
                <a:lnTo>
                  <a:pt x="1288709" y="24068"/>
                </a:lnTo>
                <a:lnTo>
                  <a:pt x="1234249" y="46458"/>
                </a:lnTo>
                <a:lnTo>
                  <a:pt x="1179647" y="67169"/>
                </a:lnTo>
                <a:lnTo>
                  <a:pt x="1124903" y="86201"/>
                </a:lnTo>
                <a:lnTo>
                  <a:pt x="1070015" y="103555"/>
                </a:lnTo>
                <a:lnTo>
                  <a:pt x="1014984" y="119229"/>
                </a:lnTo>
                <a:lnTo>
                  <a:pt x="959810" y="133225"/>
                </a:lnTo>
                <a:lnTo>
                  <a:pt x="904494" y="145542"/>
                </a:lnTo>
                <a:lnTo>
                  <a:pt x="849035" y="156180"/>
                </a:lnTo>
                <a:lnTo>
                  <a:pt x="793432" y="165140"/>
                </a:lnTo>
                <a:lnTo>
                  <a:pt x="737687" y="172420"/>
                </a:lnTo>
                <a:lnTo>
                  <a:pt x="681799" y="178022"/>
                </a:lnTo>
                <a:lnTo>
                  <a:pt x="625769" y="181945"/>
                </a:lnTo>
                <a:lnTo>
                  <a:pt x="569595" y="184190"/>
                </a:lnTo>
                <a:lnTo>
                  <a:pt x="513278" y="184755"/>
                </a:lnTo>
                <a:lnTo>
                  <a:pt x="456819" y="183642"/>
                </a:lnTo>
                <a:lnTo>
                  <a:pt x="400217" y="180850"/>
                </a:lnTo>
                <a:lnTo>
                  <a:pt x="343471" y="176379"/>
                </a:lnTo>
                <a:lnTo>
                  <a:pt x="286583" y="170230"/>
                </a:lnTo>
                <a:lnTo>
                  <a:pt x="229553" y="162401"/>
                </a:lnTo>
                <a:lnTo>
                  <a:pt x="172379" y="152894"/>
                </a:lnTo>
                <a:lnTo>
                  <a:pt x="115062" y="141708"/>
                </a:lnTo>
                <a:lnTo>
                  <a:pt x="57602" y="128843"/>
                </a:lnTo>
                <a:lnTo>
                  <a:pt x="0" y="11430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Arrow 4"/>
          <p:cNvSpPr/>
          <p:nvPr/>
        </p:nvSpPr>
        <p:spPr>
          <a:xfrm>
            <a:off x="4305300" y="10100417"/>
            <a:ext cx="2228850" cy="596158"/>
          </a:xfrm>
          <a:custGeom>
            <a:avLst/>
            <a:gdLst/>
            <a:ahLst/>
            <a:cxnLst/>
            <a:rect l="l" t="t" r="r" b="b"/>
            <a:pathLst>
              <a:path w="2228850" h="596158">
                <a:moveTo>
                  <a:pt x="2228850" y="596158"/>
                </a:moveTo>
                <a:lnTo>
                  <a:pt x="2144333" y="539909"/>
                </a:lnTo>
                <a:lnTo>
                  <a:pt x="2059091" y="486446"/>
                </a:lnTo>
                <a:lnTo>
                  <a:pt x="1973122" y="435769"/>
                </a:lnTo>
                <a:lnTo>
                  <a:pt x="1886426" y="387878"/>
                </a:lnTo>
                <a:lnTo>
                  <a:pt x="1799005" y="342773"/>
                </a:lnTo>
                <a:lnTo>
                  <a:pt x="1710857" y="300454"/>
                </a:lnTo>
                <a:lnTo>
                  <a:pt x="1621982" y="260922"/>
                </a:lnTo>
                <a:lnTo>
                  <a:pt x="1532382" y="224175"/>
                </a:lnTo>
                <a:lnTo>
                  <a:pt x="1442055" y="190214"/>
                </a:lnTo>
                <a:lnTo>
                  <a:pt x="1351002" y="159040"/>
                </a:lnTo>
                <a:lnTo>
                  <a:pt x="1259223" y="130651"/>
                </a:lnTo>
                <a:lnTo>
                  <a:pt x="1166717" y="105049"/>
                </a:lnTo>
                <a:lnTo>
                  <a:pt x="1073485" y="82233"/>
                </a:lnTo>
                <a:lnTo>
                  <a:pt x="979527" y="62202"/>
                </a:lnTo>
                <a:lnTo>
                  <a:pt x="884843" y="44958"/>
                </a:lnTo>
                <a:lnTo>
                  <a:pt x="789432" y="30500"/>
                </a:lnTo>
                <a:lnTo>
                  <a:pt x="693295" y="18828"/>
                </a:lnTo>
                <a:lnTo>
                  <a:pt x="596432" y="9942"/>
                </a:lnTo>
                <a:lnTo>
                  <a:pt x="498842" y="3842"/>
                </a:lnTo>
                <a:lnTo>
                  <a:pt x="400526" y="528"/>
                </a:lnTo>
                <a:lnTo>
                  <a:pt x="301484" y="0"/>
                </a:lnTo>
                <a:lnTo>
                  <a:pt x="201716" y="2258"/>
                </a:lnTo>
                <a:lnTo>
                  <a:pt x="101221" y="7303"/>
                </a:lnTo>
                <a:lnTo>
                  <a:pt x="0" y="15133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appy World Earthworm Day!"/>
          <p:cNvSpPr txBox="1"/>
          <p:nvPr/>
        </p:nvSpPr>
        <p:spPr>
          <a:xfrm>
            <a:off x="666750" y="628650"/>
            <a:ext cx="9429750" cy="173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50" b="1">
                <a:solidFill>
                  <a:srgbClr val="4F3433"/>
                </a:solidFill>
                <a:latin typeface="Fredoka"/>
              </a:rPr>
              <a:t>Happy World</a:t>
            </a:r>
          </a:p>
          <a:p>
            <a:pPr algn="l">
              <a:lnSpc>
                <a:spcPct val="100000"/>
              </a:lnSpc>
            </a:pPr>
            <a:r>
              <a:rPr sz="6450" b="1">
                <a:solidFill>
                  <a:srgbClr val="4F3433"/>
                </a:solidFill>
                <a:latin typeface="Fredoka"/>
              </a:rPr>
              <a:t>Earthworm Day!</a:t>
            </a:r>
          </a:p>
        </p:txBody>
      </p:sp>
      <p:sp>
        <p:nvSpPr>
          <p:cNvPr id="12" name="What can the worms in your life tell you"/>
          <p:cNvSpPr txBox="1"/>
          <p:nvPr/>
        </p:nvSpPr>
        <p:spPr>
          <a:xfrm>
            <a:off x="685800" y="2457450"/>
            <a:ext cx="8953500" cy="904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0">
                <a:solidFill>
                  <a:srgbClr val="5B4C46"/>
                </a:solidFill>
                <a:latin typeface="Montserrat"/>
              </a:rPr>
              <a:t>What can the worms in your life</a:t>
            </a:r>
          </a:p>
          <a:p>
            <a:pPr algn="l">
              <a:lnSpc>
                <a:spcPct val="125000"/>
              </a:lnSpc>
            </a:pPr>
            <a:r>
              <a:rPr sz="2550" b="0">
                <a:solidFill>
                  <a:srgbClr val="5B4C46"/>
                </a:solidFill>
                <a:latin typeface="Montserrat"/>
              </a:rPr>
              <a:t>tell you about your soil?</a:t>
            </a:r>
          </a:p>
        </p:txBody>
      </p:sp>
      <p:sp>
        <p:nvSpPr>
          <p:cNvPr id="13" name="Fallen leaves: the worms’ dinner table"/>
          <p:cNvSpPr txBox="1"/>
          <p:nvPr/>
        </p:nvSpPr>
        <p:spPr>
          <a:xfrm>
            <a:off x="6667500" y="4914900"/>
            <a:ext cx="3524250" cy="752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Fallen leaves: the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worms’ dinner table</a:t>
            </a:r>
          </a:p>
        </p:txBody>
      </p:sp>
      <p:sp>
        <p:nvSpPr>
          <p:cNvPr id="14" name="Air pores and aggregates"/>
          <p:cNvSpPr txBox="1"/>
          <p:nvPr/>
        </p:nvSpPr>
        <p:spPr>
          <a:xfrm>
            <a:off x="6667500" y="6819900"/>
            <a:ext cx="3524250" cy="752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Air pores and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aggregates</a:t>
            </a:r>
          </a:p>
        </p:txBody>
      </p:sp>
      <p:sp>
        <p:nvSpPr>
          <p:cNvPr id="15" name="Worms working with the microbes"/>
          <p:cNvSpPr txBox="1"/>
          <p:nvPr/>
        </p:nvSpPr>
        <p:spPr>
          <a:xfrm>
            <a:off x="6667500" y="8582025"/>
            <a:ext cx="3524250" cy="752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Worms working with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the microbes</a:t>
            </a:r>
          </a:p>
        </p:txBody>
      </p:sp>
      <p:sp>
        <p:nvSpPr>
          <p:cNvPr id="16" name="Crumbly casts"/>
          <p:cNvSpPr txBox="1"/>
          <p:nvPr/>
        </p:nvSpPr>
        <p:spPr>
          <a:xfrm>
            <a:off x="6667500" y="10391775"/>
            <a:ext cx="3524250" cy="4238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Crumbly casts</a:t>
            </a:r>
          </a:p>
        </p:txBody>
      </p:sp>
      <p:pic>
        <p:nvPicPr>
          <p:cNvPr id="17" name="SFW logo" descr="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7250" y="11430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