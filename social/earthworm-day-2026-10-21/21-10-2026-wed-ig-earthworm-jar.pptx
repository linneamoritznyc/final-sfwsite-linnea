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Fonts: Fredoka (titles, labels) and Montserrat (body), free on Google Fonts. Illustration drawn in code (no AI). Arrows are editable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Fonts: Fredoka (titles, labels) and Montserrat (body), free on Google Fonts. Illustration drawn in code (no AI). Arrows are editable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Fonts: Fredoka (titles, labels) and Montserrat (body), free on Google Fonts. Illustration drawn in code (no AI). Arrows are editable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Fonts: Fredoka (titles, labels) and Montserrat (body), free on Google Fonts. Illustration drawn in code (no AI). Arrows are editable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Fonts: Fredoka (titles, labels) and Montserrat (body), free on Google Fonts. Illustration drawn in code (no AI). Arrows are editable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Fonts: Fredoka (titles, labels) and Montserrat (body), free on Google Fonts. Illustration drawn in code (no AI). Arrows are editable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Fonts: Fredoka (titles, labels) and Montserrat (body), free on Google Fonts. Illustration drawn in code (no AI). Arrows are editable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6.png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Jar" descr="jar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3571875"/>
            <a:ext cx="4391025" cy="8239125"/>
          </a:xfrm>
          <a:prstGeom prst="rect">
            <a:avLst/>
          </a:prstGeom>
        </p:spPr>
      </p:pic>
      <p:pic>
        <p:nvPicPr>
          <p:cNvPr id="3" name="Worm casts" descr="casts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0" y="10039350"/>
            <a:ext cx="1419225" cy="485775"/>
          </a:xfrm>
          <a:prstGeom prst="rect">
            <a:avLst/>
          </a:prstGeom>
        </p:spPr>
      </p:pic>
      <p:pic>
        <p:nvPicPr>
          <p:cNvPr id="4" name="Worm 1" descr="worm1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175" y="7781925"/>
            <a:ext cx="3381375" cy="1504950"/>
          </a:xfrm>
          <a:prstGeom prst="rect">
            <a:avLst/>
          </a:prstGeom>
        </p:spPr>
      </p:pic>
      <p:pic>
        <p:nvPicPr>
          <p:cNvPr id="5" name="Worm 2" descr="worm2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6572250"/>
            <a:ext cx="2133600" cy="1066800"/>
          </a:xfrm>
          <a:prstGeom prst="rect">
            <a:avLst/>
          </a:prstGeom>
        </p:spPr>
      </p:pic>
      <p:pic>
        <p:nvPicPr>
          <p:cNvPr id="6" name="Worm 3" descr="worm3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1700" y="9867900"/>
            <a:ext cx="1933575" cy="457200"/>
          </a:xfrm>
          <a:prstGeom prst="rect">
            <a:avLst/>
          </a:prstGeom>
        </p:spPr>
      </p:pic>
      <p:sp>
        <p:nvSpPr>
          <p:cNvPr id="7" name="Arrow 1"/>
          <p:cNvSpPr/>
          <p:nvPr/>
        </p:nvSpPr>
        <p:spPr>
          <a:xfrm>
            <a:off x="4000500" y="5219700"/>
            <a:ext cx="2533650" cy="1143000"/>
          </a:xfrm>
          <a:custGeom>
            <a:avLst/>
            <a:gdLst/>
            <a:ahLst/>
            <a:cxnLst/>
            <a:rect l="l" t="t" r="r" b="b"/>
            <a:pathLst>
              <a:path w="2533650" h="1143000">
                <a:moveTo>
                  <a:pt x="2533650" y="0"/>
                </a:moveTo>
                <a:lnTo>
                  <a:pt x="2444512" y="84046"/>
                </a:lnTo>
                <a:lnTo>
                  <a:pt x="2353945" y="164925"/>
                </a:lnTo>
                <a:lnTo>
                  <a:pt x="2261949" y="242637"/>
                </a:lnTo>
                <a:lnTo>
                  <a:pt x="2168525" y="317183"/>
                </a:lnTo>
                <a:lnTo>
                  <a:pt x="2073672" y="388560"/>
                </a:lnTo>
                <a:lnTo>
                  <a:pt x="1977390" y="456771"/>
                </a:lnTo>
                <a:lnTo>
                  <a:pt x="1879679" y="521815"/>
                </a:lnTo>
                <a:lnTo>
                  <a:pt x="1780540" y="583692"/>
                </a:lnTo>
                <a:lnTo>
                  <a:pt x="1679972" y="642402"/>
                </a:lnTo>
                <a:lnTo>
                  <a:pt x="1577975" y="697944"/>
                </a:lnTo>
                <a:lnTo>
                  <a:pt x="1474549" y="750320"/>
                </a:lnTo>
                <a:lnTo>
                  <a:pt x="1369695" y="799529"/>
                </a:lnTo>
                <a:lnTo>
                  <a:pt x="1263412" y="845570"/>
                </a:lnTo>
                <a:lnTo>
                  <a:pt x="1155700" y="888444"/>
                </a:lnTo>
                <a:lnTo>
                  <a:pt x="1046559" y="928152"/>
                </a:lnTo>
                <a:lnTo>
                  <a:pt x="935990" y="964692"/>
                </a:lnTo>
                <a:lnTo>
                  <a:pt x="823992" y="998065"/>
                </a:lnTo>
                <a:lnTo>
                  <a:pt x="710565" y="1028271"/>
                </a:lnTo>
                <a:lnTo>
                  <a:pt x="595709" y="1055310"/>
                </a:lnTo>
                <a:lnTo>
                  <a:pt x="479425" y="1079183"/>
                </a:lnTo>
                <a:lnTo>
                  <a:pt x="361712" y="1099887"/>
                </a:lnTo>
                <a:lnTo>
                  <a:pt x="242570" y="1117425"/>
                </a:lnTo>
                <a:lnTo>
                  <a:pt x="121999" y="1131796"/>
                </a:lnTo>
                <a:lnTo>
                  <a:pt x="0" y="114300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row 2"/>
          <p:cNvSpPr/>
          <p:nvPr/>
        </p:nvSpPr>
        <p:spPr>
          <a:xfrm>
            <a:off x="4953000" y="7124700"/>
            <a:ext cx="1581150" cy="685800"/>
          </a:xfrm>
          <a:custGeom>
            <a:avLst/>
            <a:gdLst/>
            <a:ahLst/>
            <a:cxnLst/>
            <a:rect l="l" t="t" r="r" b="b"/>
            <a:pathLst>
              <a:path w="1581150" h="685800">
                <a:moveTo>
                  <a:pt x="1581150" y="0"/>
                </a:moveTo>
                <a:lnTo>
                  <a:pt x="1505410" y="5846"/>
                </a:lnTo>
                <a:lnTo>
                  <a:pt x="1430528" y="13668"/>
                </a:lnTo>
                <a:lnTo>
                  <a:pt x="1356503" y="23467"/>
                </a:lnTo>
                <a:lnTo>
                  <a:pt x="1283335" y="35242"/>
                </a:lnTo>
                <a:lnTo>
                  <a:pt x="1211024" y="48994"/>
                </a:lnTo>
                <a:lnTo>
                  <a:pt x="1139571" y="64722"/>
                </a:lnTo>
                <a:lnTo>
                  <a:pt x="1068975" y="82427"/>
                </a:lnTo>
                <a:lnTo>
                  <a:pt x="999236" y="102108"/>
                </a:lnTo>
                <a:lnTo>
                  <a:pt x="930354" y="123765"/>
                </a:lnTo>
                <a:lnTo>
                  <a:pt x="862330" y="147399"/>
                </a:lnTo>
                <a:lnTo>
                  <a:pt x="795163" y="173010"/>
                </a:lnTo>
                <a:lnTo>
                  <a:pt x="728853" y="200596"/>
                </a:lnTo>
                <a:lnTo>
                  <a:pt x="663400" y="230160"/>
                </a:lnTo>
                <a:lnTo>
                  <a:pt x="598805" y="261699"/>
                </a:lnTo>
                <a:lnTo>
                  <a:pt x="535067" y="295215"/>
                </a:lnTo>
                <a:lnTo>
                  <a:pt x="472186" y="330708"/>
                </a:lnTo>
                <a:lnTo>
                  <a:pt x="410162" y="368177"/>
                </a:lnTo>
                <a:lnTo>
                  <a:pt x="348996" y="407622"/>
                </a:lnTo>
                <a:lnTo>
                  <a:pt x="288687" y="449044"/>
                </a:lnTo>
                <a:lnTo>
                  <a:pt x="229235" y="492442"/>
                </a:lnTo>
                <a:lnTo>
                  <a:pt x="170640" y="537817"/>
                </a:lnTo>
                <a:lnTo>
                  <a:pt x="112903" y="585168"/>
                </a:lnTo>
                <a:lnTo>
                  <a:pt x="56023" y="634496"/>
                </a:lnTo>
                <a:lnTo>
                  <a:pt x="0" y="68580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row 3"/>
          <p:cNvSpPr/>
          <p:nvPr/>
        </p:nvSpPr>
        <p:spPr>
          <a:xfrm>
            <a:off x="5191125" y="8886825"/>
            <a:ext cx="1343025" cy="184755"/>
          </a:xfrm>
          <a:custGeom>
            <a:avLst/>
            <a:gdLst/>
            <a:ahLst/>
            <a:cxnLst/>
            <a:rect l="l" t="t" r="r" b="b"/>
            <a:pathLst>
              <a:path w="1343025" h="184755">
                <a:moveTo>
                  <a:pt x="1343025" y="0"/>
                </a:moveTo>
                <a:lnTo>
                  <a:pt x="1288709" y="24068"/>
                </a:lnTo>
                <a:lnTo>
                  <a:pt x="1234249" y="46458"/>
                </a:lnTo>
                <a:lnTo>
                  <a:pt x="1179647" y="67169"/>
                </a:lnTo>
                <a:lnTo>
                  <a:pt x="1124903" y="86201"/>
                </a:lnTo>
                <a:lnTo>
                  <a:pt x="1070015" y="103555"/>
                </a:lnTo>
                <a:lnTo>
                  <a:pt x="1014984" y="119229"/>
                </a:lnTo>
                <a:lnTo>
                  <a:pt x="959810" y="133225"/>
                </a:lnTo>
                <a:lnTo>
                  <a:pt x="904494" y="145542"/>
                </a:lnTo>
                <a:lnTo>
                  <a:pt x="849035" y="156180"/>
                </a:lnTo>
                <a:lnTo>
                  <a:pt x="793432" y="165140"/>
                </a:lnTo>
                <a:lnTo>
                  <a:pt x="737687" y="172420"/>
                </a:lnTo>
                <a:lnTo>
                  <a:pt x="681799" y="178022"/>
                </a:lnTo>
                <a:lnTo>
                  <a:pt x="625769" y="181945"/>
                </a:lnTo>
                <a:lnTo>
                  <a:pt x="569595" y="184190"/>
                </a:lnTo>
                <a:lnTo>
                  <a:pt x="513278" y="184755"/>
                </a:lnTo>
                <a:lnTo>
                  <a:pt x="456819" y="183642"/>
                </a:lnTo>
                <a:lnTo>
                  <a:pt x="400217" y="180850"/>
                </a:lnTo>
                <a:lnTo>
                  <a:pt x="343471" y="176379"/>
                </a:lnTo>
                <a:lnTo>
                  <a:pt x="286583" y="170230"/>
                </a:lnTo>
                <a:lnTo>
                  <a:pt x="229553" y="162401"/>
                </a:lnTo>
                <a:lnTo>
                  <a:pt x="172379" y="152894"/>
                </a:lnTo>
                <a:lnTo>
                  <a:pt x="115062" y="141708"/>
                </a:lnTo>
                <a:lnTo>
                  <a:pt x="57602" y="128843"/>
                </a:lnTo>
                <a:lnTo>
                  <a:pt x="0" y="11430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row 4"/>
          <p:cNvSpPr/>
          <p:nvPr/>
        </p:nvSpPr>
        <p:spPr>
          <a:xfrm>
            <a:off x="4305300" y="10100417"/>
            <a:ext cx="2228850" cy="596158"/>
          </a:xfrm>
          <a:custGeom>
            <a:avLst/>
            <a:gdLst/>
            <a:ahLst/>
            <a:cxnLst/>
            <a:rect l="l" t="t" r="r" b="b"/>
            <a:pathLst>
              <a:path w="2228850" h="596158">
                <a:moveTo>
                  <a:pt x="2228850" y="596158"/>
                </a:moveTo>
                <a:lnTo>
                  <a:pt x="2144333" y="539909"/>
                </a:lnTo>
                <a:lnTo>
                  <a:pt x="2059091" y="486446"/>
                </a:lnTo>
                <a:lnTo>
                  <a:pt x="1973122" y="435769"/>
                </a:lnTo>
                <a:lnTo>
                  <a:pt x="1886426" y="387878"/>
                </a:lnTo>
                <a:lnTo>
                  <a:pt x="1799005" y="342773"/>
                </a:lnTo>
                <a:lnTo>
                  <a:pt x="1710857" y="300454"/>
                </a:lnTo>
                <a:lnTo>
                  <a:pt x="1621982" y="260922"/>
                </a:lnTo>
                <a:lnTo>
                  <a:pt x="1532382" y="224175"/>
                </a:lnTo>
                <a:lnTo>
                  <a:pt x="1442055" y="190214"/>
                </a:lnTo>
                <a:lnTo>
                  <a:pt x="1351002" y="159040"/>
                </a:lnTo>
                <a:lnTo>
                  <a:pt x="1259223" y="130651"/>
                </a:lnTo>
                <a:lnTo>
                  <a:pt x="1166717" y="105049"/>
                </a:lnTo>
                <a:lnTo>
                  <a:pt x="1073485" y="82233"/>
                </a:lnTo>
                <a:lnTo>
                  <a:pt x="979527" y="62202"/>
                </a:lnTo>
                <a:lnTo>
                  <a:pt x="884843" y="44958"/>
                </a:lnTo>
                <a:lnTo>
                  <a:pt x="789432" y="30500"/>
                </a:lnTo>
                <a:lnTo>
                  <a:pt x="693295" y="18828"/>
                </a:lnTo>
                <a:lnTo>
                  <a:pt x="596432" y="9942"/>
                </a:lnTo>
                <a:lnTo>
                  <a:pt x="498842" y="3842"/>
                </a:lnTo>
                <a:lnTo>
                  <a:pt x="400526" y="528"/>
                </a:lnTo>
                <a:lnTo>
                  <a:pt x="301484" y="0"/>
                </a:lnTo>
                <a:lnTo>
                  <a:pt x="201716" y="2258"/>
                </a:lnTo>
                <a:lnTo>
                  <a:pt x="101221" y="7303"/>
                </a:lnTo>
                <a:lnTo>
                  <a:pt x="0" y="15133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appy World Earthworm Day!"/>
          <p:cNvSpPr txBox="1"/>
          <p:nvPr/>
        </p:nvSpPr>
        <p:spPr>
          <a:xfrm>
            <a:off x="666750" y="628650"/>
            <a:ext cx="981075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50" b="1">
                <a:solidFill>
                  <a:srgbClr val="4F3433"/>
                </a:solidFill>
                <a:latin typeface="Fredoka"/>
              </a:rPr>
              <a:t>Happy World</a:t>
            </a:r>
          </a:p>
          <a:p>
            <a:pPr algn="l">
              <a:lnSpc>
                <a:spcPct val="100000"/>
              </a:lnSpc>
            </a:pPr>
            <a:r>
              <a:rPr sz="6450" b="1">
                <a:solidFill>
                  <a:srgbClr val="4F3433"/>
                </a:solidFill>
                <a:latin typeface="Fredoka"/>
              </a:rPr>
              <a:t>Earthworm Day!</a:t>
            </a:r>
          </a:p>
        </p:txBody>
      </p:sp>
      <p:sp>
        <p:nvSpPr>
          <p:cNvPr id="12" name="What can the worms in your life tell you"/>
          <p:cNvSpPr txBox="1"/>
          <p:nvPr/>
        </p:nvSpPr>
        <p:spPr>
          <a:xfrm>
            <a:off x="685800" y="2457450"/>
            <a:ext cx="9334500" cy="904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0">
                <a:solidFill>
                  <a:srgbClr val="5B4C46"/>
                </a:solidFill>
                <a:latin typeface="Montserrat"/>
              </a:rPr>
              <a:t>What can the worms in your life</a:t>
            </a:r>
          </a:p>
          <a:p>
            <a:pPr algn="l">
              <a:lnSpc>
                <a:spcPct val="125000"/>
              </a:lnSpc>
            </a:pPr>
            <a:r>
              <a:rPr sz="2550" b="0">
                <a:solidFill>
                  <a:srgbClr val="5B4C46"/>
                </a:solidFill>
                <a:latin typeface="Montserrat"/>
              </a:rPr>
              <a:t>tell you about your soil?</a:t>
            </a:r>
          </a:p>
        </p:txBody>
      </p:sp>
      <p:sp>
        <p:nvSpPr>
          <p:cNvPr id="13" name="Fallen leaves: the worms’ dinner table"/>
          <p:cNvSpPr txBox="1"/>
          <p:nvPr/>
        </p:nvSpPr>
        <p:spPr>
          <a:xfrm>
            <a:off x="6667500" y="4914900"/>
            <a:ext cx="3905250" cy="752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Fallen leaves: the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worms’ dinner table</a:t>
            </a:r>
          </a:p>
        </p:txBody>
      </p:sp>
      <p:sp>
        <p:nvSpPr>
          <p:cNvPr id="14" name="Air pores and aggregates"/>
          <p:cNvSpPr txBox="1"/>
          <p:nvPr/>
        </p:nvSpPr>
        <p:spPr>
          <a:xfrm>
            <a:off x="6667500" y="6819900"/>
            <a:ext cx="3905250" cy="752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Air pores and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aggregates</a:t>
            </a:r>
          </a:p>
        </p:txBody>
      </p:sp>
      <p:sp>
        <p:nvSpPr>
          <p:cNvPr id="15" name="Worms working with the microbes"/>
          <p:cNvSpPr txBox="1"/>
          <p:nvPr/>
        </p:nvSpPr>
        <p:spPr>
          <a:xfrm>
            <a:off x="6667500" y="8582025"/>
            <a:ext cx="3905250" cy="752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Worms working with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the microbes</a:t>
            </a:r>
          </a:p>
        </p:txBody>
      </p:sp>
      <p:sp>
        <p:nvSpPr>
          <p:cNvPr id="16" name="Crumbly casts"/>
          <p:cNvSpPr txBox="1"/>
          <p:nvPr/>
        </p:nvSpPr>
        <p:spPr>
          <a:xfrm>
            <a:off x="6667500" y="10391775"/>
            <a:ext cx="3905250" cy="423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Crumbly casts</a:t>
            </a:r>
          </a:p>
        </p:txBody>
      </p:sp>
      <p:pic>
        <p:nvPicPr>
          <p:cNvPr id="17" name="SFW logo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0" y="11430000"/>
            <a:ext cx="1428750" cy="12375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llustration" descr="s2-ar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3914775"/>
            <a:ext cx="8248650" cy="6019800"/>
          </a:xfrm>
          <a:prstGeom prst="rect">
            <a:avLst/>
          </a:prstGeom>
        </p:spPr>
      </p:pic>
      <p:pic>
        <p:nvPicPr>
          <p:cNvPr id="3" name="Worm 1" descr="s2-worm1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7867650"/>
            <a:ext cx="409575" cy="2066925"/>
          </a:xfrm>
          <a:prstGeom prst="rect">
            <a:avLst/>
          </a:prstGeom>
        </p:spPr>
      </p:pic>
      <p:pic>
        <p:nvPicPr>
          <p:cNvPr id="4" name="Worm 2" descr="s2-worm2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6829425"/>
            <a:ext cx="2609850" cy="914400"/>
          </a:xfrm>
          <a:prstGeom prst="rect">
            <a:avLst/>
          </a:prstGeom>
        </p:spPr>
      </p:pic>
      <p:pic>
        <p:nvPicPr>
          <p:cNvPr id="5" name="Worm 3" descr="s2-worm3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475" y="9105900"/>
            <a:ext cx="2019300" cy="457200"/>
          </a:xfrm>
          <a:prstGeom prst="rect">
            <a:avLst/>
          </a:prstGeom>
        </p:spPr>
      </p:pic>
      <p:pic>
        <p:nvPicPr>
          <p:cNvPr id="6" name="Worm 4" descr="s2-worm4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275" y="5505450"/>
            <a:ext cx="1238250" cy="381000"/>
          </a:xfrm>
          <a:prstGeom prst="rect">
            <a:avLst/>
          </a:prstGeom>
        </p:spPr>
      </p:pic>
      <p:sp>
        <p:nvSpPr>
          <p:cNvPr id="7" name="Arrow 1"/>
          <p:cNvSpPr/>
          <p:nvPr/>
        </p:nvSpPr>
        <p:spPr>
          <a:xfrm>
            <a:off x="5715000" y="9667875"/>
            <a:ext cx="2305050" cy="809625"/>
          </a:xfrm>
          <a:custGeom>
            <a:avLst/>
            <a:gdLst/>
            <a:ahLst/>
            <a:cxnLst/>
            <a:rect l="l" t="t" r="r" b="b"/>
            <a:pathLst>
              <a:path w="2305050" h="809625">
                <a:moveTo>
                  <a:pt x="2305050" y="809625"/>
                </a:moveTo>
                <a:lnTo>
                  <a:pt x="2218705" y="748278"/>
                </a:lnTo>
                <a:lnTo>
                  <a:pt x="2131516" y="689332"/>
                </a:lnTo>
                <a:lnTo>
                  <a:pt x="2043485" y="632787"/>
                </a:lnTo>
                <a:lnTo>
                  <a:pt x="1954609" y="578644"/>
                </a:lnTo>
                <a:lnTo>
                  <a:pt x="1864891" y="526901"/>
                </a:lnTo>
                <a:lnTo>
                  <a:pt x="1774329" y="477560"/>
                </a:lnTo>
                <a:lnTo>
                  <a:pt x="1682924" y="430619"/>
                </a:lnTo>
                <a:lnTo>
                  <a:pt x="1590675" y="386080"/>
                </a:lnTo>
                <a:lnTo>
                  <a:pt x="1497583" y="343942"/>
                </a:lnTo>
                <a:lnTo>
                  <a:pt x="1403648" y="304205"/>
                </a:lnTo>
                <a:lnTo>
                  <a:pt x="1308869" y="266869"/>
                </a:lnTo>
                <a:lnTo>
                  <a:pt x="1213247" y="231934"/>
                </a:lnTo>
                <a:lnTo>
                  <a:pt x="1116781" y="199400"/>
                </a:lnTo>
                <a:lnTo>
                  <a:pt x="1019473" y="169267"/>
                </a:lnTo>
                <a:lnTo>
                  <a:pt x="921321" y="141536"/>
                </a:lnTo>
                <a:lnTo>
                  <a:pt x="822325" y="116205"/>
                </a:lnTo>
                <a:lnTo>
                  <a:pt x="722486" y="93276"/>
                </a:lnTo>
                <a:lnTo>
                  <a:pt x="621804" y="72747"/>
                </a:lnTo>
                <a:lnTo>
                  <a:pt x="520278" y="54620"/>
                </a:lnTo>
                <a:lnTo>
                  <a:pt x="417909" y="38894"/>
                </a:lnTo>
                <a:lnTo>
                  <a:pt x="314697" y="25569"/>
                </a:lnTo>
                <a:lnTo>
                  <a:pt x="210641" y="14645"/>
                </a:lnTo>
                <a:lnTo>
                  <a:pt x="105742" y="6122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row 2"/>
          <p:cNvSpPr/>
          <p:nvPr/>
        </p:nvSpPr>
        <p:spPr>
          <a:xfrm>
            <a:off x="1708785" y="8096250"/>
            <a:ext cx="577215" cy="2457450"/>
          </a:xfrm>
          <a:custGeom>
            <a:avLst/>
            <a:gdLst/>
            <a:ahLst/>
            <a:cxnLst/>
            <a:rect l="l" t="t" r="r" b="b"/>
            <a:pathLst>
              <a:path w="577215" h="2457450">
                <a:moveTo>
                  <a:pt x="53340" y="2457450"/>
                </a:moveTo>
                <a:lnTo>
                  <a:pt x="35917" y="2346689"/>
                </a:lnTo>
                <a:lnTo>
                  <a:pt x="21907" y="2236655"/>
                </a:lnTo>
                <a:lnTo>
                  <a:pt x="11311" y="2127349"/>
                </a:lnTo>
                <a:lnTo>
                  <a:pt x="4127" y="2018771"/>
                </a:lnTo>
                <a:lnTo>
                  <a:pt x="357" y="1910920"/>
                </a:lnTo>
                <a:lnTo>
                  <a:pt x="0" y="1803797"/>
                </a:lnTo>
                <a:lnTo>
                  <a:pt x="3056" y="1697401"/>
                </a:lnTo>
                <a:lnTo>
                  <a:pt x="9525" y="1591733"/>
                </a:lnTo>
                <a:lnTo>
                  <a:pt x="19407" y="1486793"/>
                </a:lnTo>
                <a:lnTo>
                  <a:pt x="32702" y="1382580"/>
                </a:lnTo>
                <a:lnTo>
                  <a:pt x="49411" y="1279095"/>
                </a:lnTo>
                <a:lnTo>
                  <a:pt x="69533" y="1176338"/>
                </a:lnTo>
                <a:lnTo>
                  <a:pt x="93067" y="1074308"/>
                </a:lnTo>
                <a:lnTo>
                  <a:pt x="120015" y="973005"/>
                </a:lnTo>
                <a:lnTo>
                  <a:pt x="150376" y="872430"/>
                </a:lnTo>
                <a:lnTo>
                  <a:pt x="184150" y="772583"/>
                </a:lnTo>
                <a:lnTo>
                  <a:pt x="221337" y="673464"/>
                </a:lnTo>
                <a:lnTo>
                  <a:pt x="261937" y="575072"/>
                </a:lnTo>
                <a:lnTo>
                  <a:pt x="305951" y="477408"/>
                </a:lnTo>
                <a:lnTo>
                  <a:pt x="353377" y="380471"/>
                </a:lnTo>
                <a:lnTo>
                  <a:pt x="404217" y="284262"/>
                </a:lnTo>
                <a:lnTo>
                  <a:pt x="458470" y="188780"/>
                </a:lnTo>
                <a:lnTo>
                  <a:pt x="516136" y="94026"/>
                </a:lnTo>
                <a:lnTo>
                  <a:pt x="577215" y="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row 3"/>
          <p:cNvSpPr/>
          <p:nvPr/>
        </p:nvSpPr>
        <p:spPr>
          <a:xfrm>
            <a:off x="4095750" y="8382000"/>
            <a:ext cx="409079" cy="2171700"/>
          </a:xfrm>
          <a:custGeom>
            <a:avLst/>
            <a:gdLst/>
            <a:ahLst/>
            <a:cxnLst/>
            <a:rect l="l" t="t" r="r" b="b"/>
            <a:pathLst>
              <a:path w="409079" h="2171700">
                <a:moveTo>
                  <a:pt x="0" y="2171700"/>
                </a:moveTo>
                <a:lnTo>
                  <a:pt x="41890" y="2085777"/>
                </a:lnTo>
                <a:lnTo>
                  <a:pt x="81518" y="1999456"/>
                </a:lnTo>
                <a:lnTo>
                  <a:pt x="118884" y="1912739"/>
                </a:lnTo>
                <a:lnTo>
                  <a:pt x="153988" y="1825625"/>
                </a:lnTo>
                <a:lnTo>
                  <a:pt x="186829" y="1738114"/>
                </a:lnTo>
                <a:lnTo>
                  <a:pt x="217408" y="1650206"/>
                </a:lnTo>
                <a:lnTo>
                  <a:pt x="245725" y="1561902"/>
                </a:lnTo>
                <a:lnTo>
                  <a:pt x="271780" y="1473200"/>
                </a:lnTo>
                <a:lnTo>
                  <a:pt x="295573" y="1384102"/>
                </a:lnTo>
                <a:lnTo>
                  <a:pt x="317103" y="1294606"/>
                </a:lnTo>
                <a:lnTo>
                  <a:pt x="336371" y="1204714"/>
                </a:lnTo>
                <a:lnTo>
                  <a:pt x="353378" y="1114425"/>
                </a:lnTo>
                <a:lnTo>
                  <a:pt x="368121" y="1023739"/>
                </a:lnTo>
                <a:lnTo>
                  <a:pt x="380603" y="932656"/>
                </a:lnTo>
                <a:lnTo>
                  <a:pt x="390823" y="841177"/>
                </a:lnTo>
                <a:lnTo>
                  <a:pt x="398780" y="749300"/>
                </a:lnTo>
                <a:lnTo>
                  <a:pt x="404475" y="657027"/>
                </a:lnTo>
                <a:lnTo>
                  <a:pt x="407908" y="564356"/>
                </a:lnTo>
                <a:lnTo>
                  <a:pt x="409079" y="471289"/>
                </a:lnTo>
                <a:lnTo>
                  <a:pt x="407988" y="377825"/>
                </a:lnTo>
                <a:lnTo>
                  <a:pt x="404634" y="283964"/>
                </a:lnTo>
                <a:lnTo>
                  <a:pt x="399018" y="189706"/>
                </a:lnTo>
                <a:lnTo>
                  <a:pt x="391140" y="95052"/>
                </a:lnTo>
                <a:lnTo>
                  <a:pt x="381000" y="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row 4"/>
          <p:cNvSpPr/>
          <p:nvPr/>
        </p:nvSpPr>
        <p:spPr>
          <a:xfrm>
            <a:off x="1428750" y="4476750"/>
            <a:ext cx="1066800" cy="2095500"/>
          </a:xfrm>
          <a:custGeom>
            <a:avLst/>
            <a:gdLst/>
            <a:ahLst/>
            <a:cxnLst/>
            <a:rect l="l" t="t" r="r" b="b"/>
            <a:pathLst>
              <a:path w="1066800" h="2095500">
                <a:moveTo>
                  <a:pt x="0" y="0"/>
                </a:moveTo>
                <a:lnTo>
                  <a:pt x="86287" y="66014"/>
                </a:lnTo>
                <a:lnTo>
                  <a:pt x="168936" y="133879"/>
                </a:lnTo>
                <a:lnTo>
                  <a:pt x="247948" y="203597"/>
                </a:lnTo>
                <a:lnTo>
                  <a:pt x="323321" y="275167"/>
                </a:lnTo>
                <a:lnTo>
                  <a:pt x="395056" y="348589"/>
                </a:lnTo>
                <a:lnTo>
                  <a:pt x="463153" y="423862"/>
                </a:lnTo>
                <a:lnTo>
                  <a:pt x="527612" y="500989"/>
                </a:lnTo>
                <a:lnTo>
                  <a:pt x="588433" y="579967"/>
                </a:lnTo>
                <a:lnTo>
                  <a:pt x="645616" y="660797"/>
                </a:lnTo>
                <a:lnTo>
                  <a:pt x="699161" y="743479"/>
                </a:lnTo>
                <a:lnTo>
                  <a:pt x="749068" y="828014"/>
                </a:lnTo>
                <a:lnTo>
                  <a:pt x="795338" y="914400"/>
                </a:lnTo>
                <a:lnTo>
                  <a:pt x="837968" y="1002639"/>
                </a:lnTo>
                <a:lnTo>
                  <a:pt x="876961" y="1092729"/>
                </a:lnTo>
                <a:lnTo>
                  <a:pt x="912316" y="1184672"/>
                </a:lnTo>
                <a:lnTo>
                  <a:pt x="944033" y="1278467"/>
                </a:lnTo>
                <a:lnTo>
                  <a:pt x="972112" y="1374114"/>
                </a:lnTo>
                <a:lnTo>
                  <a:pt x="996553" y="1471612"/>
                </a:lnTo>
                <a:lnTo>
                  <a:pt x="1017356" y="1570964"/>
                </a:lnTo>
                <a:lnTo>
                  <a:pt x="1034521" y="1672167"/>
                </a:lnTo>
                <a:lnTo>
                  <a:pt x="1048048" y="1775222"/>
                </a:lnTo>
                <a:lnTo>
                  <a:pt x="1057936" y="1880129"/>
                </a:lnTo>
                <a:lnTo>
                  <a:pt x="1064187" y="1986889"/>
                </a:lnTo>
                <a:lnTo>
                  <a:pt x="1066800" y="209550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orms thriving in your soil"/>
          <p:cNvSpPr txBox="1"/>
          <p:nvPr/>
        </p:nvSpPr>
        <p:spPr>
          <a:xfrm>
            <a:off x="666750" y="609600"/>
            <a:ext cx="9715500" cy="7364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950" b="1">
                <a:solidFill>
                  <a:srgbClr val="4F3433"/>
                </a:solidFill>
                <a:latin typeface="Fredoka"/>
              </a:rPr>
              <a:t>Worms thriving in your soil</a:t>
            </a:r>
          </a:p>
        </p:txBody>
      </p:sp>
      <p:sp>
        <p:nvSpPr>
          <p:cNvPr id="12" name="They need good structure to survive, wit"/>
          <p:cNvSpPr txBox="1"/>
          <p:nvPr/>
        </p:nvSpPr>
        <p:spPr>
          <a:xfrm>
            <a:off x="685800" y="1504950"/>
            <a:ext cx="9906000" cy="1222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They need good structure to survive, with air pores and</a:t>
            </a:r>
          </a:p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aggregates the biology has built. When they are present and</a:t>
            </a:r>
          </a:p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happy, it usually means many other beneficial organisms are too.</a:t>
            </a:r>
          </a:p>
        </p:txBody>
      </p:sp>
      <p:sp>
        <p:nvSpPr>
          <p:cNvPr id="13" name="Air pores"/>
          <p:cNvSpPr txBox="1"/>
          <p:nvPr/>
        </p:nvSpPr>
        <p:spPr>
          <a:xfrm>
            <a:off x="1047750" y="10534650"/>
            <a:ext cx="2857500" cy="423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Air pores</a:t>
            </a:r>
          </a:p>
        </p:txBody>
      </p:sp>
      <p:sp>
        <p:nvSpPr>
          <p:cNvPr id="14" name="Aggregates"/>
          <p:cNvSpPr txBox="1"/>
          <p:nvPr/>
        </p:nvSpPr>
        <p:spPr>
          <a:xfrm>
            <a:off x="3429000" y="10534650"/>
            <a:ext cx="3238500" cy="423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Aggregates</a:t>
            </a:r>
          </a:p>
        </p:txBody>
      </p:sp>
      <p:sp>
        <p:nvSpPr>
          <p:cNvPr id="15" name="Burrows"/>
          <p:cNvSpPr txBox="1"/>
          <p:nvPr/>
        </p:nvSpPr>
        <p:spPr>
          <a:xfrm>
            <a:off x="7239000" y="10534650"/>
            <a:ext cx="2667000" cy="423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Burrows</a:t>
            </a:r>
          </a:p>
        </p:txBody>
      </p:sp>
      <p:sp>
        <p:nvSpPr>
          <p:cNvPr id="16" name="Roots, fungi and more"/>
          <p:cNvSpPr txBox="1"/>
          <p:nvPr/>
        </p:nvSpPr>
        <p:spPr>
          <a:xfrm>
            <a:off x="666750" y="3724275"/>
            <a:ext cx="3238500" cy="708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4F3433"/>
                </a:solidFill>
                <a:latin typeface="Fredoka"/>
              </a:rPr>
              <a:t>Roots, fungi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4F3433"/>
                </a:solidFill>
                <a:latin typeface="Fredoka"/>
              </a:rPr>
              <a:t>and more</a:t>
            </a:r>
          </a:p>
        </p:txBody>
      </p:sp>
      <p:pic>
        <p:nvPicPr>
          <p:cNvPr id="17" name="SFW logo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0" y="11430000"/>
            <a:ext cx="1428750" cy="12375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llustration" descr="s3-ar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2390775"/>
            <a:ext cx="9582150" cy="7734300"/>
          </a:xfrm>
          <a:prstGeom prst="rect">
            <a:avLst/>
          </a:prstGeom>
        </p:spPr>
      </p:pic>
      <p:pic>
        <p:nvPicPr>
          <p:cNvPr id="3" name="Worm 1" descr="s3-worm1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25" y="5314950"/>
            <a:ext cx="285750" cy="2038350"/>
          </a:xfrm>
          <a:prstGeom prst="rect">
            <a:avLst/>
          </a:prstGeom>
        </p:spPr>
      </p:pic>
      <p:pic>
        <p:nvPicPr>
          <p:cNvPr id="4" name="Worm 2" descr="s3-worm2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4762500"/>
            <a:ext cx="1638300" cy="228600"/>
          </a:xfrm>
          <a:prstGeom prst="rect">
            <a:avLst/>
          </a:prstGeom>
        </p:spPr>
      </p:pic>
      <p:pic>
        <p:nvPicPr>
          <p:cNvPr id="5" name="Worm 3" descr="s3-worm3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2750" y="4714875"/>
            <a:ext cx="1143000" cy="257175"/>
          </a:xfrm>
          <a:prstGeom prst="rect">
            <a:avLst/>
          </a:prstGeom>
        </p:spPr>
      </p:pic>
      <p:pic>
        <p:nvPicPr>
          <p:cNvPr id="6" name="Worm 4" descr="s3-worm4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525" y="4800600"/>
            <a:ext cx="1028700" cy="171450"/>
          </a:xfrm>
          <a:prstGeom prst="rect">
            <a:avLst/>
          </a:prstGeom>
        </p:spPr>
      </p:pic>
      <p:sp>
        <p:nvSpPr>
          <p:cNvPr id="7" name="Arrow 1"/>
          <p:cNvSpPr/>
          <p:nvPr/>
        </p:nvSpPr>
        <p:spPr>
          <a:xfrm>
            <a:off x="8572500" y="8001000"/>
            <a:ext cx="954193" cy="2590800"/>
          </a:xfrm>
          <a:custGeom>
            <a:avLst/>
            <a:gdLst/>
            <a:ahLst/>
            <a:cxnLst/>
            <a:rect l="l" t="t" r="r" b="b"/>
            <a:pathLst>
              <a:path w="954193" h="2590800">
                <a:moveTo>
                  <a:pt x="952500" y="2590800"/>
                </a:moveTo>
                <a:lnTo>
                  <a:pt x="954193" y="2467636"/>
                </a:lnTo>
                <a:lnTo>
                  <a:pt x="952288" y="2345796"/>
                </a:lnTo>
                <a:lnTo>
                  <a:pt x="946785" y="2225278"/>
                </a:lnTo>
                <a:lnTo>
                  <a:pt x="937683" y="2106083"/>
                </a:lnTo>
                <a:lnTo>
                  <a:pt x="924983" y="1988211"/>
                </a:lnTo>
                <a:lnTo>
                  <a:pt x="908685" y="1871662"/>
                </a:lnTo>
                <a:lnTo>
                  <a:pt x="888788" y="1756436"/>
                </a:lnTo>
                <a:lnTo>
                  <a:pt x="865293" y="1642533"/>
                </a:lnTo>
                <a:lnTo>
                  <a:pt x="838200" y="1529953"/>
                </a:lnTo>
                <a:lnTo>
                  <a:pt x="807508" y="1418696"/>
                </a:lnTo>
                <a:lnTo>
                  <a:pt x="773218" y="1308761"/>
                </a:lnTo>
                <a:lnTo>
                  <a:pt x="735330" y="1200150"/>
                </a:lnTo>
                <a:lnTo>
                  <a:pt x="693843" y="1092861"/>
                </a:lnTo>
                <a:lnTo>
                  <a:pt x="648758" y="986896"/>
                </a:lnTo>
                <a:lnTo>
                  <a:pt x="600075" y="882253"/>
                </a:lnTo>
                <a:lnTo>
                  <a:pt x="547793" y="778933"/>
                </a:lnTo>
                <a:lnTo>
                  <a:pt x="491913" y="676936"/>
                </a:lnTo>
                <a:lnTo>
                  <a:pt x="432435" y="576262"/>
                </a:lnTo>
                <a:lnTo>
                  <a:pt x="369358" y="476911"/>
                </a:lnTo>
                <a:lnTo>
                  <a:pt x="302683" y="378883"/>
                </a:lnTo>
                <a:lnTo>
                  <a:pt x="232410" y="282178"/>
                </a:lnTo>
                <a:lnTo>
                  <a:pt x="158538" y="186796"/>
                </a:lnTo>
                <a:lnTo>
                  <a:pt x="81068" y="92736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row 2"/>
          <p:cNvSpPr/>
          <p:nvPr/>
        </p:nvSpPr>
        <p:spPr>
          <a:xfrm>
            <a:off x="4572000" y="6667500"/>
            <a:ext cx="798512" cy="3924300"/>
          </a:xfrm>
          <a:custGeom>
            <a:avLst/>
            <a:gdLst/>
            <a:ahLst/>
            <a:cxnLst/>
            <a:rect l="l" t="t" r="r" b="b"/>
            <a:pathLst>
              <a:path w="798512" h="3924300">
                <a:moveTo>
                  <a:pt x="762000" y="3924300"/>
                </a:moveTo>
                <a:lnTo>
                  <a:pt x="777260" y="3751659"/>
                </a:lnTo>
                <a:lnTo>
                  <a:pt x="788432" y="3579812"/>
                </a:lnTo>
                <a:lnTo>
                  <a:pt x="795516" y="3408759"/>
                </a:lnTo>
                <a:lnTo>
                  <a:pt x="798512" y="3238500"/>
                </a:lnTo>
                <a:lnTo>
                  <a:pt x="797421" y="3069034"/>
                </a:lnTo>
                <a:lnTo>
                  <a:pt x="792242" y="2900362"/>
                </a:lnTo>
                <a:lnTo>
                  <a:pt x="782975" y="2732484"/>
                </a:lnTo>
                <a:lnTo>
                  <a:pt x="769620" y="2565400"/>
                </a:lnTo>
                <a:lnTo>
                  <a:pt x="752177" y="2399109"/>
                </a:lnTo>
                <a:lnTo>
                  <a:pt x="730647" y="2233612"/>
                </a:lnTo>
                <a:lnTo>
                  <a:pt x="705029" y="2068909"/>
                </a:lnTo>
                <a:lnTo>
                  <a:pt x="675322" y="1905000"/>
                </a:lnTo>
                <a:lnTo>
                  <a:pt x="641529" y="1741884"/>
                </a:lnTo>
                <a:lnTo>
                  <a:pt x="603647" y="1579562"/>
                </a:lnTo>
                <a:lnTo>
                  <a:pt x="561677" y="1418034"/>
                </a:lnTo>
                <a:lnTo>
                  <a:pt x="515620" y="1257300"/>
                </a:lnTo>
                <a:lnTo>
                  <a:pt x="465475" y="1097359"/>
                </a:lnTo>
                <a:lnTo>
                  <a:pt x="411242" y="938212"/>
                </a:lnTo>
                <a:lnTo>
                  <a:pt x="352921" y="779859"/>
                </a:lnTo>
                <a:lnTo>
                  <a:pt x="290512" y="622300"/>
                </a:lnTo>
                <a:lnTo>
                  <a:pt x="224016" y="465534"/>
                </a:lnTo>
                <a:lnTo>
                  <a:pt x="153432" y="309562"/>
                </a:lnTo>
                <a:lnTo>
                  <a:pt x="78760" y="154384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row 3"/>
          <p:cNvSpPr/>
          <p:nvPr/>
        </p:nvSpPr>
        <p:spPr>
          <a:xfrm>
            <a:off x="1310283" y="6572250"/>
            <a:ext cx="404217" cy="4019550"/>
          </a:xfrm>
          <a:custGeom>
            <a:avLst/>
            <a:gdLst/>
            <a:ahLst/>
            <a:cxnLst/>
            <a:rect l="l" t="t" r="r" b="b"/>
            <a:pathLst>
              <a:path w="404217" h="4019550">
                <a:moveTo>
                  <a:pt x="213717" y="4019550"/>
                </a:moveTo>
                <a:lnTo>
                  <a:pt x="173504" y="3849787"/>
                </a:lnTo>
                <a:lnTo>
                  <a:pt x="137477" y="3680222"/>
                </a:lnTo>
                <a:lnTo>
                  <a:pt x="105638" y="3510855"/>
                </a:lnTo>
                <a:lnTo>
                  <a:pt x="77986" y="3341688"/>
                </a:lnTo>
                <a:lnTo>
                  <a:pt x="54521" y="3172718"/>
                </a:lnTo>
                <a:lnTo>
                  <a:pt x="35242" y="3003947"/>
                </a:lnTo>
                <a:lnTo>
                  <a:pt x="20151" y="2835374"/>
                </a:lnTo>
                <a:lnTo>
                  <a:pt x="9247" y="2667000"/>
                </a:lnTo>
                <a:lnTo>
                  <a:pt x="2530" y="2498824"/>
                </a:lnTo>
                <a:lnTo>
                  <a:pt x="0" y="2330847"/>
                </a:lnTo>
                <a:lnTo>
                  <a:pt x="1657" y="2163068"/>
                </a:lnTo>
                <a:lnTo>
                  <a:pt x="7501" y="1995488"/>
                </a:lnTo>
                <a:lnTo>
                  <a:pt x="17532" y="1828105"/>
                </a:lnTo>
                <a:lnTo>
                  <a:pt x="31750" y="1660922"/>
                </a:lnTo>
                <a:lnTo>
                  <a:pt x="50155" y="1493937"/>
                </a:lnTo>
                <a:lnTo>
                  <a:pt x="72747" y="1327150"/>
                </a:lnTo>
                <a:lnTo>
                  <a:pt x="99526" y="1160562"/>
                </a:lnTo>
                <a:lnTo>
                  <a:pt x="130492" y="994172"/>
                </a:lnTo>
                <a:lnTo>
                  <a:pt x="165646" y="827980"/>
                </a:lnTo>
                <a:lnTo>
                  <a:pt x="204986" y="661988"/>
                </a:lnTo>
                <a:lnTo>
                  <a:pt x="248513" y="496193"/>
                </a:lnTo>
                <a:lnTo>
                  <a:pt x="296227" y="330597"/>
                </a:lnTo>
                <a:lnTo>
                  <a:pt x="348129" y="165199"/>
                </a:lnTo>
                <a:lnTo>
                  <a:pt x="404217" y="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orms on the sidewalk after heavy rain"/>
          <p:cNvSpPr txBox="1"/>
          <p:nvPr/>
        </p:nvSpPr>
        <p:spPr>
          <a:xfrm>
            <a:off x="666750" y="609600"/>
            <a:ext cx="9715500" cy="1377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950" b="1">
                <a:solidFill>
                  <a:srgbClr val="4F3433"/>
                </a:solidFill>
                <a:latin typeface="Fredoka"/>
              </a:rPr>
              <a:t>Worms on the sidewalk</a:t>
            </a:r>
          </a:p>
          <a:p>
            <a:pPr algn="l">
              <a:lnSpc>
                <a:spcPct val="102000"/>
              </a:lnSpc>
            </a:pPr>
            <a:r>
              <a:rPr sz="4950" b="1">
                <a:solidFill>
                  <a:srgbClr val="4F3433"/>
                </a:solidFill>
                <a:latin typeface="Fredoka"/>
              </a:rPr>
              <a:t>after heavy rain</a:t>
            </a:r>
          </a:p>
        </p:txBody>
      </p:sp>
      <p:sp>
        <p:nvSpPr>
          <p:cNvPr id="11" name="Lots of worms on the sidewalk after rain"/>
          <p:cNvSpPr txBox="1"/>
          <p:nvPr/>
        </p:nvSpPr>
        <p:spPr>
          <a:xfrm>
            <a:off x="685800" y="2171700"/>
            <a:ext cx="5715000" cy="15979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Lots of worms on the sidewalk</a:t>
            </a:r>
          </a:p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after rain can mean water is sitting</a:t>
            </a:r>
          </a:p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in your soil and filling their</a:t>
            </a:r>
          </a:p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burrows.</a:t>
            </a:r>
          </a:p>
        </p:txBody>
      </p:sp>
      <p:sp>
        <p:nvSpPr>
          <p:cNvPr id="12" name="Water fills the burrows"/>
          <p:cNvSpPr txBox="1"/>
          <p:nvPr/>
        </p:nvSpPr>
        <p:spPr>
          <a:xfrm>
            <a:off x="571500" y="10610850"/>
            <a:ext cx="3905250" cy="708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4F3433"/>
                </a:solidFill>
                <a:latin typeface="Fredoka"/>
              </a:rPr>
              <a:t>Water fills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4F3433"/>
                </a:solidFill>
                <a:latin typeface="Fredoka"/>
              </a:rPr>
              <a:t>the burrows</a:t>
            </a:r>
          </a:p>
        </p:txBody>
      </p:sp>
      <p:sp>
        <p:nvSpPr>
          <p:cNvPr id="13" name="Burrows flooded"/>
          <p:cNvSpPr txBox="1"/>
          <p:nvPr/>
        </p:nvSpPr>
        <p:spPr>
          <a:xfrm>
            <a:off x="4191000" y="10610850"/>
            <a:ext cx="3429000" cy="708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4F3433"/>
                </a:solidFill>
                <a:latin typeface="Fredoka"/>
              </a:rPr>
              <a:t>Burrows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4F3433"/>
                </a:solidFill>
                <a:latin typeface="Fredoka"/>
              </a:rPr>
              <a:t>flooded</a:t>
            </a:r>
          </a:p>
        </p:txBody>
      </p:sp>
      <p:sp>
        <p:nvSpPr>
          <p:cNvPr id="14" name="Compaction layer"/>
          <p:cNvSpPr txBox="1"/>
          <p:nvPr/>
        </p:nvSpPr>
        <p:spPr>
          <a:xfrm>
            <a:off x="6477000" y="10610850"/>
            <a:ext cx="3429000" cy="708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100" b="0">
                <a:solidFill>
                  <a:srgbClr val="4F3433"/>
                </a:solidFill>
                <a:latin typeface="Fredoka"/>
              </a:rPr>
              <a:t>Compaction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4F3433"/>
                </a:solidFill>
                <a:latin typeface="Fredoka"/>
              </a:rPr>
              <a:t>layer</a:t>
            </a:r>
          </a:p>
        </p:txBody>
      </p:sp>
      <p:sp>
        <p:nvSpPr>
          <p:cNvPr id="15" name="This often signals your soil needs bette"/>
          <p:cNvSpPr txBox="1"/>
          <p:nvPr/>
        </p:nvSpPr>
        <p:spPr>
          <a:xfrm>
            <a:off x="685800" y="11772900"/>
            <a:ext cx="8001000" cy="739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 b="1">
                <a:solidFill>
                  <a:srgbClr val="156826"/>
                </a:solidFill>
                <a:latin typeface="Montserrat"/>
              </a:rPr>
              <a:t>This often signals your soil needs better structure and</a:t>
            </a:r>
          </a:p>
          <a:p>
            <a:pPr algn="l">
              <a:lnSpc>
                <a:spcPct val="130000"/>
              </a:lnSpc>
            </a:pPr>
            <a:r>
              <a:rPr sz="1950" b="1">
                <a:solidFill>
                  <a:srgbClr val="156826"/>
                </a:solidFill>
                <a:latin typeface="Montserrat"/>
              </a:rPr>
              <a:t>more organic matter.</a:t>
            </a:r>
          </a:p>
        </p:txBody>
      </p:sp>
      <p:pic>
        <p:nvPicPr>
          <p:cNvPr id="16" name="SFW logo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0" y="11430000"/>
            <a:ext cx="1428750" cy="12375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llustration" descr="s4-ar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3638550"/>
            <a:ext cx="8648700" cy="6686550"/>
          </a:xfrm>
          <a:prstGeom prst="rect">
            <a:avLst/>
          </a:prstGeom>
        </p:spPr>
      </p:pic>
      <p:pic>
        <p:nvPicPr>
          <p:cNvPr id="3" name="Worm 1" descr="s4-worm1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450" y="3962400"/>
            <a:ext cx="1647825" cy="381000"/>
          </a:xfrm>
          <a:prstGeom prst="rect">
            <a:avLst/>
          </a:prstGeom>
        </p:spPr>
      </p:pic>
      <p:sp>
        <p:nvSpPr>
          <p:cNvPr id="4" name="What about worm bins?"/>
          <p:cNvSpPr txBox="1"/>
          <p:nvPr/>
        </p:nvSpPr>
        <p:spPr>
          <a:xfrm>
            <a:off x="666750" y="571500"/>
            <a:ext cx="9715500" cy="472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56826"/>
                </a:solidFill>
                <a:latin typeface="Fredoka"/>
              </a:rPr>
              <a:t>What about worm bins?</a:t>
            </a:r>
          </a:p>
        </p:txBody>
      </p:sp>
      <p:sp>
        <p:nvSpPr>
          <p:cNvPr id="5" name="Handfuls of small, crumbly casts"/>
          <p:cNvSpPr txBox="1"/>
          <p:nvPr/>
        </p:nvSpPr>
        <p:spPr>
          <a:xfrm>
            <a:off x="666750" y="1028700"/>
            <a:ext cx="9715500" cy="717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4F3433"/>
                </a:solidFill>
                <a:latin typeface="Fredoka"/>
              </a:rPr>
              <a:t>Handfuls of small, crumbly casts</a:t>
            </a:r>
          </a:p>
        </p:txBody>
      </p:sp>
      <p:sp>
        <p:nvSpPr>
          <p:cNvPr id="6" name="You can make vermicompost year-round ind"/>
          <p:cNvSpPr txBox="1"/>
          <p:nvPr/>
        </p:nvSpPr>
        <p:spPr>
          <a:xfrm>
            <a:off x="5715000" y="4438650"/>
            <a:ext cx="4762500" cy="1222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175" b="1">
                <a:solidFill>
                  <a:srgbClr val="156826"/>
                </a:solidFill>
                <a:latin typeface="Montserrat"/>
              </a:rPr>
              <a:t>You can make</a:t>
            </a:r>
          </a:p>
          <a:p>
            <a:pPr algn="l">
              <a:lnSpc>
                <a:spcPct val="136000"/>
              </a:lnSpc>
            </a:pPr>
            <a:r>
              <a:rPr sz="2175" b="1">
                <a:solidFill>
                  <a:srgbClr val="156826"/>
                </a:solidFill>
                <a:latin typeface="Montserrat"/>
              </a:rPr>
              <a:t>vermicompost year-round</a:t>
            </a:r>
          </a:p>
          <a:p>
            <a:pPr algn="l">
              <a:lnSpc>
                <a:spcPct val="136000"/>
              </a:lnSpc>
            </a:pPr>
            <a:r>
              <a:rPr sz="2175" b="1">
                <a:solidFill>
                  <a:srgbClr val="156826"/>
                </a:solidFill>
                <a:latin typeface="Montserrat"/>
              </a:rPr>
              <a:t>indoors.</a:t>
            </a:r>
          </a:p>
        </p:txBody>
      </p:sp>
      <p:sp>
        <p:nvSpPr>
          <p:cNvPr id="7" name="Direct compost"/>
          <p:cNvSpPr txBox="1"/>
          <p:nvPr/>
        </p:nvSpPr>
        <p:spPr>
          <a:xfrm>
            <a:off x="0" y="10458450"/>
            <a:ext cx="3619500" cy="752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Direct</a:t>
            </a:r>
          </a:p>
          <a:p>
            <a:pPr algn="ctr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compost</a:t>
            </a:r>
          </a:p>
        </p:txBody>
      </p:sp>
      <p:sp>
        <p:nvSpPr>
          <p:cNvPr id="8" name="An inoculant for piles"/>
          <p:cNvSpPr txBox="1"/>
          <p:nvPr/>
        </p:nvSpPr>
        <p:spPr>
          <a:xfrm>
            <a:off x="3333750" y="10458450"/>
            <a:ext cx="3619500" cy="752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An inoculant</a:t>
            </a:r>
          </a:p>
          <a:p>
            <a:pPr algn="ctr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for piles</a:t>
            </a:r>
          </a:p>
        </p:txBody>
      </p:sp>
      <p:sp>
        <p:nvSpPr>
          <p:cNvPr id="9" name="Teas and extracts"/>
          <p:cNvSpPr txBox="1"/>
          <p:nvPr/>
        </p:nvSpPr>
        <p:spPr>
          <a:xfrm>
            <a:off x="6667500" y="10458450"/>
            <a:ext cx="3619500" cy="752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Teas and</a:t>
            </a:r>
          </a:p>
          <a:p>
            <a:pPr algn="ctr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extracts</a:t>
            </a:r>
          </a:p>
        </p:txBody>
      </p:sp>
      <p:pic>
        <p:nvPicPr>
          <p:cNvPr id="10" name="SFW 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11430000"/>
            <a:ext cx="1428750" cy="12375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llustration" descr="s5-ar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3295650"/>
            <a:ext cx="6238875" cy="7705725"/>
          </a:xfrm>
          <a:prstGeom prst="rect">
            <a:avLst/>
          </a:prstGeom>
        </p:spPr>
      </p:pic>
      <p:pic>
        <p:nvPicPr>
          <p:cNvPr id="3" name="Worm 1" descr="s5-worm1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025" y="4943475"/>
            <a:ext cx="266700" cy="2114550"/>
          </a:xfrm>
          <a:prstGeom prst="rect">
            <a:avLst/>
          </a:prstGeom>
        </p:spPr>
      </p:pic>
      <p:pic>
        <p:nvPicPr>
          <p:cNvPr id="4" name="Worm 2" descr="s5-worm2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425" y="4972050"/>
            <a:ext cx="304800" cy="1609725"/>
          </a:xfrm>
          <a:prstGeom prst="rect">
            <a:avLst/>
          </a:prstGeom>
        </p:spPr>
      </p:pic>
      <p:pic>
        <p:nvPicPr>
          <p:cNvPr id="5" name="Worm 3" descr="s5-worm3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2875" y="5029200"/>
            <a:ext cx="495300" cy="2514600"/>
          </a:xfrm>
          <a:prstGeom prst="rect">
            <a:avLst/>
          </a:prstGeom>
        </p:spPr>
      </p:pic>
      <p:pic>
        <p:nvPicPr>
          <p:cNvPr id="6" name="Worm 4" descr="s5-worm4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" y="10868025"/>
            <a:ext cx="1924050" cy="361950"/>
          </a:xfrm>
          <a:prstGeom prst="rect">
            <a:avLst/>
          </a:prstGeom>
        </p:spPr>
      </p:pic>
      <p:sp>
        <p:nvSpPr>
          <p:cNvPr id="7" name="Worms climbing out of the worm bin?"/>
          <p:cNvSpPr txBox="1"/>
          <p:nvPr/>
        </p:nvSpPr>
        <p:spPr>
          <a:xfrm>
            <a:off x="666750" y="609600"/>
            <a:ext cx="9715500" cy="1377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950" b="1">
                <a:solidFill>
                  <a:srgbClr val="4F3433"/>
                </a:solidFill>
                <a:latin typeface="Fredoka"/>
              </a:rPr>
              <a:t>Worms climbing out</a:t>
            </a:r>
          </a:p>
          <a:p>
            <a:pPr algn="l">
              <a:lnSpc>
                <a:spcPct val="102000"/>
              </a:lnSpc>
            </a:pPr>
            <a:r>
              <a:rPr sz="4950" b="1">
                <a:solidFill>
                  <a:srgbClr val="4F3433"/>
                </a:solidFill>
                <a:latin typeface="Fredoka"/>
              </a:rPr>
              <a:t>of the worm bin?</a:t>
            </a:r>
          </a:p>
        </p:txBody>
      </p:sp>
      <p:sp>
        <p:nvSpPr>
          <p:cNvPr id="8" name="Low oxygen or too much heat from fresh, "/>
          <p:cNvSpPr txBox="1"/>
          <p:nvPr/>
        </p:nvSpPr>
        <p:spPr>
          <a:xfrm>
            <a:off x="685800" y="2343150"/>
            <a:ext cx="3905250" cy="2724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Low oxygen or too</a:t>
            </a:r>
          </a:p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much heat from fresh,</a:t>
            </a:r>
          </a:p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high-nitrogen food</a:t>
            </a:r>
          </a:p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added in high</a:t>
            </a:r>
          </a:p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quantities is sending</a:t>
            </a:r>
          </a:p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them looking for an</a:t>
            </a:r>
          </a:p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exit.</a:t>
            </a:r>
          </a:p>
        </p:txBody>
      </p:sp>
      <p:sp>
        <p:nvSpPr>
          <p:cNvPr id="9" name="Slow down the feeding and let them cool "/>
          <p:cNvSpPr txBox="1"/>
          <p:nvPr/>
        </p:nvSpPr>
        <p:spPr>
          <a:xfrm>
            <a:off x="685800" y="7200900"/>
            <a:ext cx="3619500" cy="1226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56826"/>
                </a:solidFill>
                <a:latin typeface="Fredoka"/>
              </a:rPr>
              <a:t>Slow down the</a:t>
            </a:r>
          </a:p>
          <a:p>
            <a:pPr algn="l">
              <a:lnSpc>
                <a:spcPct val="110000"/>
              </a:lnSpc>
            </a:pPr>
            <a:r>
              <a:rPr sz="2700" b="1">
                <a:solidFill>
                  <a:srgbClr val="156826"/>
                </a:solidFill>
                <a:latin typeface="Fredoka"/>
              </a:rPr>
              <a:t>feeding and let</a:t>
            </a:r>
          </a:p>
          <a:p>
            <a:pPr algn="l">
              <a:lnSpc>
                <a:spcPct val="110000"/>
              </a:lnSpc>
            </a:pPr>
            <a:r>
              <a:rPr sz="2700" b="1">
                <a:solidFill>
                  <a:srgbClr val="156826"/>
                </a:solidFill>
                <a:latin typeface="Fredoka"/>
              </a:rPr>
              <a:t>them cool off.</a:t>
            </a:r>
          </a:p>
        </p:txBody>
      </p:sp>
      <p:pic>
        <p:nvPicPr>
          <p:cNvPr id="10" name="SFW logo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0" y="11430000"/>
            <a:ext cx="1428750" cy="12375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llustration" descr="s6-ar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3933825"/>
            <a:ext cx="9563100" cy="6705600"/>
          </a:xfrm>
          <a:prstGeom prst="rect">
            <a:avLst/>
          </a:prstGeom>
        </p:spPr>
      </p:pic>
      <p:pic>
        <p:nvPicPr>
          <p:cNvPr id="3" name="Worm 1" descr="s6-worm1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6200775"/>
            <a:ext cx="4572000" cy="419100"/>
          </a:xfrm>
          <a:prstGeom prst="rect">
            <a:avLst/>
          </a:prstGeom>
        </p:spPr>
      </p:pic>
      <p:pic>
        <p:nvPicPr>
          <p:cNvPr id="4" name="Worm 2" descr="s6-worm2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825" y="6362700"/>
            <a:ext cx="762000" cy="180975"/>
          </a:xfrm>
          <a:prstGeom prst="rect">
            <a:avLst/>
          </a:prstGeom>
        </p:spPr>
      </p:pic>
      <p:pic>
        <p:nvPicPr>
          <p:cNvPr id="5" name="Worm 3" descr="s6-worm3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825" y="6343650"/>
            <a:ext cx="762000" cy="180975"/>
          </a:xfrm>
          <a:prstGeom prst="rect">
            <a:avLst/>
          </a:prstGeom>
        </p:spPr>
      </p:pic>
      <p:pic>
        <p:nvPicPr>
          <p:cNvPr id="6" name="Worm 4" descr="s6-worm4-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0575" y="6381750"/>
            <a:ext cx="762000" cy="180975"/>
          </a:xfrm>
          <a:prstGeom prst="rect">
            <a:avLst/>
          </a:prstGeom>
        </p:spPr>
      </p:pic>
      <p:pic>
        <p:nvPicPr>
          <p:cNvPr id="7" name="Worm 5" descr="s6-worm5-cr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6850" y="9153525"/>
            <a:ext cx="647700" cy="152400"/>
          </a:xfrm>
          <a:prstGeom prst="rect">
            <a:avLst/>
          </a:prstGeom>
        </p:spPr>
      </p:pic>
      <p:sp>
        <p:nvSpPr>
          <p:cNvPr id="8" name="Arrow 1"/>
          <p:cNvSpPr/>
          <p:nvPr/>
        </p:nvSpPr>
        <p:spPr>
          <a:xfrm>
            <a:off x="2619375" y="8286750"/>
            <a:ext cx="523875" cy="666750"/>
          </a:xfrm>
          <a:custGeom>
            <a:avLst/>
            <a:gdLst/>
            <a:ahLst/>
            <a:cxnLst/>
            <a:rect l="l" t="t" r="r" b="b"/>
            <a:pathLst>
              <a:path w="523875" h="666750">
                <a:moveTo>
                  <a:pt x="523875" y="0"/>
                </a:moveTo>
                <a:lnTo>
                  <a:pt x="512696" y="36149"/>
                </a:lnTo>
                <a:lnTo>
                  <a:pt x="500592" y="71570"/>
                </a:lnTo>
                <a:lnTo>
                  <a:pt x="487561" y="106263"/>
                </a:lnTo>
                <a:lnTo>
                  <a:pt x="473604" y="140229"/>
                </a:lnTo>
                <a:lnTo>
                  <a:pt x="458721" y="173467"/>
                </a:lnTo>
                <a:lnTo>
                  <a:pt x="442913" y="205978"/>
                </a:lnTo>
                <a:lnTo>
                  <a:pt x="426178" y="237761"/>
                </a:lnTo>
                <a:lnTo>
                  <a:pt x="408517" y="268817"/>
                </a:lnTo>
                <a:lnTo>
                  <a:pt x="389930" y="299145"/>
                </a:lnTo>
                <a:lnTo>
                  <a:pt x="370417" y="328745"/>
                </a:lnTo>
                <a:lnTo>
                  <a:pt x="349978" y="357617"/>
                </a:lnTo>
                <a:lnTo>
                  <a:pt x="328613" y="385762"/>
                </a:lnTo>
                <a:lnTo>
                  <a:pt x="306321" y="413180"/>
                </a:lnTo>
                <a:lnTo>
                  <a:pt x="283104" y="439870"/>
                </a:lnTo>
                <a:lnTo>
                  <a:pt x="258961" y="465832"/>
                </a:lnTo>
                <a:lnTo>
                  <a:pt x="233892" y="491067"/>
                </a:lnTo>
                <a:lnTo>
                  <a:pt x="207896" y="515574"/>
                </a:lnTo>
                <a:lnTo>
                  <a:pt x="180975" y="539353"/>
                </a:lnTo>
                <a:lnTo>
                  <a:pt x="153128" y="562405"/>
                </a:lnTo>
                <a:lnTo>
                  <a:pt x="124354" y="584729"/>
                </a:lnTo>
                <a:lnTo>
                  <a:pt x="94655" y="606326"/>
                </a:lnTo>
                <a:lnTo>
                  <a:pt x="64029" y="627195"/>
                </a:lnTo>
                <a:lnTo>
                  <a:pt x="32478" y="647336"/>
                </a:lnTo>
                <a:lnTo>
                  <a:pt x="0" y="66675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row 2"/>
          <p:cNvSpPr/>
          <p:nvPr/>
        </p:nvSpPr>
        <p:spPr>
          <a:xfrm>
            <a:off x="5905500" y="8286750"/>
            <a:ext cx="1524000" cy="809625"/>
          </a:xfrm>
          <a:custGeom>
            <a:avLst/>
            <a:gdLst/>
            <a:ahLst/>
            <a:cxnLst/>
            <a:rect l="l" t="t" r="r" b="b"/>
            <a:pathLst>
              <a:path w="1524000" h="809625">
                <a:moveTo>
                  <a:pt x="1524000" y="0"/>
                </a:moveTo>
                <a:lnTo>
                  <a:pt x="1447568" y="9393"/>
                </a:lnTo>
                <a:lnTo>
                  <a:pt x="1372261" y="20902"/>
                </a:lnTo>
                <a:lnTo>
                  <a:pt x="1298079" y="34528"/>
                </a:lnTo>
                <a:lnTo>
                  <a:pt x="1225021" y="50271"/>
                </a:lnTo>
                <a:lnTo>
                  <a:pt x="1153087" y="68130"/>
                </a:lnTo>
                <a:lnTo>
                  <a:pt x="1082278" y="88106"/>
                </a:lnTo>
                <a:lnTo>
                  <a:pt x="1012593" y="110199"/>
                </a:lnTo>
                <a:lnTo>
                  <a:pt x="944033" y="134408"/>
                </a:lnTo>
                <a:lnTo>
                  <a:pt x="876598" y="160734"/>
                </a:lnTo>
                <a:lnTo>
                  <a:pt x="810286" y="189177"/>
                </a:lnTo>
                <a:lnTo>
                  <a:pt x="745100" y="219736"/>
                </a:lnTo>
                <a:lnTo>
                  <a:pt x="681038" y="252412"/>
                </a:lnTo>
                <a:lnTo>
                  <a:pt x="618100" y="287205"/>
                </a:lnTo>
                <a:lnTo>
                  <a:pt x="556286" y="324115"/>
                </a:lnTo>
                <a:lnTo>
                  <a:pt x="495598" y="363141"/>
                </a:lnTo>
                <a:lnTo>
                  <a:pt x="436033" y="404283"/>
                </a:lnTo>
                <a:lnTo>
                  <a:pt x="377593" y="447543"/>
                </a:lnTo>
                <a:lnTo>
                  <a:pt x="320278" y="492919"/>
                </a:lnTo>
                <a:lnTo>
                  <a:pt x="264087" y="540411"/>
                </a:lnTo>
                <a:lnTo>
                  <a:pt x="209021" y="590021"/>
                </a:lnTo>
                <a:lnTo>
                  <a:pt x="155079" y="641747"/>
                </a:lnTo>
                <a:lnTo>
                  <a:pt x="102261" y="695590"/>
                </a:lnTo>
                <a:lnTo>
                  <a:pt x="50568" y="751549"/>
                </a:lnTo>
                <a:lnTo>
                  <a:pt x="0" y="809625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row 3"/>
          <p:cNvSpPr/>
          <p:nvPr/>
        </p:nvSpPr>
        <p:spPr>
          <a:xfrm>
            <a:off x="7429500" y="6667500"/>
            <a:ext cx="71438" cy="952500"/>
          </a:xfrm>
          <a:custGeom>
            <a:avLst/>
            <a:gdLst/>
            <a:ahLst/>
            <a:cxnLst/>
            <a:rect l="l" t="t" r="r" b="b"/>
            <a:pathLst>
              <a:path w="71438" h="952500">
                <a:moveTo>
                  <a:pt x="0" y="952500"/>
                </a:moveTo>
                <a:lnTo>
                  <a:pt x="11410" y="912813"/>
                </a:lnTo>
                <a:lnTo>
                  <a:pt x="21828" y="873125"/>
                </a:lnTo>
                <a:lnTo>
                  <a:pt x="31254" y="833438"/>
                </a:lnTo>
                <a:lnTo>
                  <a:pt x="39688" y="793750"/>
                </a:lnTo>
                <a:lnTo>
                  <a:pt x="47129" y="754062"/>
                </a:lnTo>
                <a:lnTo>
                  <a:pt x="53578" y="714375"/>
                </a:lnTo>
                <a:lnTo>
                  <a:pt x="59035" y="674687"/>
                </a:lnTo>
                <a:lnTo>
                  <a:pt x="63500" y="635000"/>
                </a:lnTo>
                <a:lnTo>
                  <a:pt x="66973" y="595312"/>
                </a:lnTo>
                <a:lnTo>
                  <a:pt x="69453" y="555625"/>
                </a:lnTo>
                <a:lnTo>
                  <a:pt x="70941" y="515938"/>
                </a:lnTo>
                <a:lnTo>
                  <a:pt x="71438" y="476250"/>
                </a:lnTo>
                <a:lnTo>
                  <a:pt x="70941" y="436562"/>
                </a:lnTo>
                <a:lnTo>
                  <a:pt x="69453" y="396875"/>
                </a:lnTo>
                <a:lnTo>
                  <a:pt x="66973" y="357188"/>
                </a:lnTo>
                <a:lnTo>
                  <a:pt x="63500" y="317500"/>
                </a:lnTo>
                <a:lnTo>
                  <a:pt x="59035" y="277813"/>
                </a:lnTo>
                <a:lnTo>
                  <a:pt x="53578" y="238125"/>
                </a:lnTo>
                <a:lnTo>
                  <a:pt x="47129" y="198437"/>
                </a:lnTo>
                <a:lnTo>
                  <a:pt x="39688" y="158750"/>
                </a:lnTo>
                <a:lnTo>
                  <a:pt x="31254" y="119062"/>
                </a:lnTo>
                <a:lnTo>
                  <a:pt x="21828" y="79375"/>
                </a:lnTo>
                <a:lnTo>
                  <a:pt x="11410" y="39688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maller worms in cooler months"/>
          <p:cNvSpPr txBox="1"/>
          <p:nvPr/>
        </p:nvSpPr>
        <p:spPr>
          <a:xfrm>
            <a:off x="666750" y="609600"/>
            <a:ext cx="9715500" cy="1377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950" b="1">
                <a:solidFill>
                  <a:srgbClr val="4F3433"/>
                </a:solidFill>
                <a:latin typeface="Fredoka"/>
              </a:rPr>
              <a:t>Smaller worms</a:t>
            </a:r>
          </a:p>
          <a:p>
            <a:pPr algn="l">
              <a:lnSpc>
                <a:spcPct val="102000"/>
              </a:lnSpc>
            </a:pPr>
            <a:r>
              <a:rPr sz="4950" b="1">
                <a:solidFill>
                  <a:srgbClr val="4F3433"/>
                </a:solidFill>
                <a:latin typeface="Fredoka"/>
              </a:rPr>
              <a:t>in cooler months</a:t>
            </a:r>
          </a:p>
        </p:txBody>
      </p:sp>
      <p:sp>
        <p:nvSpPr>
          <p:cNvPr id="12" name="This isn’t an issue. Many are babies tha"/>
          <p:cNvSpPr txBox="1"/>
          <p:nvPr/>
        </p:nvSpPr>
        <p:spPr>
          <a:xfrm>
            <a:off x="685800" y="2171700"/>
            <a:ext cx="9334500" cy="872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250" b="0">
                <a:solidFill>
                  <a:srgbClr val="5B4C46"/>
                </a:solidFill>
                <a:latin typeface="Montserrat"/>
              </a:rPr>
              <a:t>This isn’t an issue. Many are babies that have just hatched,</a:t>
            </a:r>
          </a:p>
          <a:p>
            <a:pPr algn="l">
              <a:lnSpc>
                <a:spcPct val="136000"/>
              </a:lnSpc>
            </a:pPr>
            <a:r>
              <a:rPr sz="2250" b="0">
                <a:solidFill>
                  <a:srgbClr val="5B4C46"/>
                </a:solidFill>
                <a:latin typeface="Montserrat"/>
              </a:rPr>
              <a:t>and they grow slowly until warm weather speeds them up.</a:t>
            </a:r>
          </a:p>
        </p:txBody>
      </p:sp>
      <p:sp>
        <p:nvSpPr>
          <p:cNvPr id="13" name="Cocoons"/>
          <p:cNvSpPr txBox="1"/>
          <p:nvPr/>
        </p:nvSpPr>
        <p:spPr>
          <a:xfrm>
            <a:off x="1905000" y="7772400"/>
            <a:ext cx="3619500" cy="423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Cocoons</a:t>
            </a:r>
          </a:p>
        </p:txBody>
      </p:sp>
      <p:sp>
        <p:nvSpPr>
          <p:cNvPr id="14" name="Just hatched"/>
          <p:cNvSpPr txBox="1"/>
          <p:nvPr/>
        </p:nvSpPr>
        <p:spPr>
          <a:xfrm>
            <a:off x="7620000" y="7581900"/>
            <a:ext cx="3048000" cy="752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Just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hatched</a:t>
            </a:r>
          </a:p>
        </p:txBody>
      </p:sp>
      <p:pic>
        <p:nvPicPr>
          <p:cNvPr id="15" name="SFW logo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0" y="11430000"/>
            <a:ext cx="1428750" cy="12375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llustration" descr="s7-ar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4886325"/>
            <a:ext cx="8467725" cy="7048500"/>
          </a:xfrm>
          <a:prstGeom prst="rect">
            <a:avLst/>
          </a:prstGeom>
        </p:spPr>
      </p:pic>
      <p:pic>
        <p:nvPicPr>
          <p:cNvPr id="3" name="Worm 1" descr="s7-worm1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9496425"/>
            <a:ext cx="2000250" cy="1485900"/>
          </a:xfrm>
          <a:prstGeom prst="rect">
            <a:avLst/>
          </a:prstGeom>
        </p:spPr>
      </p:pic>
      <p:sp>
        <p:nvSpPr>
          <p:cNvPr id="4" name="Arrow 1"/>
          <p:cNvSpPr/>
          <p:nvPr/>
        </p:nvSpPr>
        <p:spPr>
          <a:xfrm>
            <a:off x="1428750" y="5715000"/>
            <a:ext cx="3524250" cy="2667000"/>
          </a:xfrm>
          <a:custGeom>
            <a:avLst/>
            <a:gdLst/>
            <a:ahLst/>
            <a:cxnLst/>
            <a:rect l="l" t="t" r="r" b="b"/>
            <a:pathLst>
              <a:path w="3524250" h="2667000">
                <a:moveTo>
                  <a:pt x="0" y="0"/>
                </a:moveTo>
                <a:lnTo>
                  <a:pt x="114895" y="153343"/>
                </a:lnTo>
                <a:lnTo>
                  <a:pt x="232569" y="303014"/>
                </a:lnTo>
                <a:lnTo>
                  <a:pt x="353020" y="449014"/>
                </a:lnTo>
                <a:lnTo>
                  <a:pt x="476250" y="591344"/>
                </a:lnTo>
                <a:lnTo>
                  <a:pt x="602258" y="730002"/>
                </a:lnTo>
                <a:lnTo>
                  <a:pt x="731044" y="864989"/>
                </a:lnTo>
                <a:lnTo>
                  <a:pt x="862608" y="996305"/>
                </a:lnTo>
                <a:lnTo>
                  <a:pt x="996950" y="1123950"/>
                </a:lnTo>
                <a:lnTo>
                  <a:pt x="1134070" y="1247924"/>
                </a:lnTo>
                <a:lnTo>
                  <a:pt x="1273969" y="1368227"/>
                </a:lnTo>
                <a:lnTo>
                  <a:pt x="1416645" y="1484858"/>
                </a:lnTo>
                <a:lnTo>
                  <a:pt x="1562100" y="1597819"/>
                </a:lnTo>
                <a:lnTo>
                  <a:pt x="1710333" y="1707108"/>
                </a:lnTo>
                <a:lnTo>
                  <a:pt x="1861344" y="1812727"/>
                </a:lnTo>
                <a:lnTo>
                  <a:pt x="2015133" y="1914674"/>
                </a:lnTo>
                <a:lnTo>
                  <a:pt x="2171700" y="2012950"/>
                </a:lnTo>
                <a:lnTo>
                  <a:pt x="2331045" y="2107555"/>
                </a:lnTo>
                <a:lnTo>
                  <a:pt x="2493169" y="2198489"/>
                </a:lnTo>
                <a:lnTo>
                  <a:pt x="2658070" y="2285752"/>
                </a:lnTo>
                <a:lnTo>
                  <a:pt x="2825750" y="2369344"/>
                </a:lnTo>
                <a:lnTo>
                  <a:pt x="2996208" y="2449264"/>
                </a:lnTo>
                <a:lnTo>
                  <a:pt x="3169444" y="2525514"/>
                </a:lnTo>
                <a:lnTo>
                  <a:pt x="3345458" y="2598093"/>
                </a:lnTo>
                <a:lnTo>
                  <a:pt x="3524250" y="266700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row 2"/>
          <p:cNvSpPr/>
          <p:nvPr/>
        </p:nvSpPr>
        <p:spPr>
          <a:xfrm>
            <a:off x="7620000" y="4619625"/>
            <a:ext cx="1428750" cy="1095375"/>
          </a:xfrm>
          <a:custGeom>
            <a:avLst/>
            <a:gdLst/>
            <a:ahLst/>
            <a:cxnLst/>
            <a:rect l="l" t="t" r="r" b="b"/>
            <a:pathLst>
              <a:path w="1428750" h="1095375">
                <a:moveTo>
                  <a:pt x="1428750" y="0"/>
                </a:moveTo>
                <a:lnTo>
                  <a:pt x="1386714" y="68461"/>
                </a:lnTo>
                <a:lnTo>
                  <a:pt x="1343157" y="134937"/>
                </a:lnTo>
                <a:lnTo>
                  <a:pt x="1298079" y="199430"/>
                </a:lnTo>
                <a:lnTo>
                  <a:pt x="1251479" y="261937"/>
                </a:lnTo>
                <a:lnTo>
                  <a:pt x="1203358" y="322461"/>
                </a:lnTo>
                <a:lnTo>
                  <a:pt x="1153716" y="381000"/>
                </a:lnTo>
                <a:lnTo>
                  <a:pt x="1102552" y="437555"/>
                </a:lnTo>
                <a:lnTo>
                  <a:pt x="1049867" y="492125"/>
                </a:lnTo>
                <a:lnTo>
                  <a:pt x="995660" y="544711"/>
                </a:lnTo>
                <a:lnTo>
                  <a:pt x="939932" y="595313"/>
                </a:lnTo>
                <a:lnTo>
                  <a:pt x="882683" y="643930"/>
                </a:lnTo>
                <a:lnTo>
                  <a:pt x="823912" y="690563"/>
                </a:lnTo>
                <a:lnTo>
                  <a:pt x="763621" y="735211"/>
                </a:lnTo>
                <a:lnTo>
                  <a:pt x="701807" y="777875"/>
                </a:lnTo>
                <a:lnTo>
                  <a:pt x="638473" y="818555"/>
                </a:lnTo>
                <a:lnTo>
                  <a:pt x="573617" y="857250"/>
                </a:lnTo>
                <a:lnTo>
                  <a:pt x="507239" y="893961"/>
                </a:lnTo>
                <a:lnTo>
                  <a:pt x="439341" y="928687"/>
                </a:lnTo>
                <a:lnTo>
                  <a:pt x="369921" y="961430"/>
                </a:lnTo>
                <a:lnTo>
                  <a:pt x="298979" y="992188"/>
                </a:lnTo>
                <a:lnTo>
                  <a:pt x="226516" y="1020961"/>
                </a:lnTo>
                <a:lnTo>
                  <a:pt x="152532" y="1047750"/>
                </a:lnTo>
                <a:lnTo>
                  <a:pt x="77027" y="1072555"/>
                </a:lnTo>
                <a:lnTo>
                  <a:pt x="0" y="1095375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row 3"/>
          <p:cNvSpPr/>
          <p:nvPr/>
        </p:nvSpPr>
        <p:spPr>
          <a:xfrm>
            <a:off x="7524750" y="9239250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1428750" h="1428750">
                <a:moveTo>
                  <a:pt x="1428750" y="1428750"/>
                </a:moveTo>
                <a:lnTo>
                  <a:pt x="1392039" y="1346398"/>
                </a:lnTo>
                <a:lnTo>
                  <a:pt x="1353344" y="1266031"/>
                </a:lnTo>
                <a:lnTo>
                  <a:pt x="1312664" y="1187648"/>
                </a:lnTo>
                <a:lnTo>
                  <a:pt x="1270000" y="1111250"/>
                </a:lnTo>
                <a:lnTo>
                  <a:pt x="1225352" y="1036836"/>
                </a:lnTo>
                <a:lnTo>
                  <a:pt x="1178719" y="964406"/>
                </a:lnTo>
                <a:lnTo>
                  <a:pt x="1130102" y="893961"/>
                </a:lnTo>
                <a:lnTo>
                  <a:pt x="1079500" y="825500"/>
                </a:lnTo>
                <a:lnTo>
                  <a:pt x="1026914" y="759023"/>
                </a:lnTo>
                <a:lnTo>
                  <a:pt x="972344" y="694531"/>
                </a:lnTo>
                <a:lnTo>
                  <a:pt x="915789" y="632023"/>
                </a:lnTo>
                <a:lnTo>
                  <a:pt x="857250" y="571500"/>
                </a:lnTo>
                <a:lnTo>
                  <a:pt x="796727" y="512961"/>
                </a:lnTo>
                <a:lnTo>
                  <a:pt x="734219" y="456406"/>
                </a:lnTo>
                <a:lnTo>
                  <a:pt x="669727" y="401836"/>
                </a:lnTo>
                <a:lnTo>
                  <a:pt x="603250" y="349250"/>
                </a:lnTo>
                <a:lnTo>
                  <a:pt x="534789" y="298648"/>
                </a:lnTo>
                <a:lnTo>
                  <a:pt x="464344" y="250031"/>
                </a:lnTo>
                <a:lnTo>
                  <a:pt x="391914" y="203398"/>
                </a:lnTo>
                <a:lnTo>
                  <a:pt x="317500" y="158750"/>
                </a:lnTo>
                <a:lnTo>
                  <a:pt x="241102" y="116086"/>
                </a:lnTo>
                <a:lnTo>
                  <a:pt x="162719" y="75406"/>
                </a:lnTo>
                <a:lnTo>
                  <a:pt x="82352" y="36711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row 4"/>
          <p:cNvSpPr/>
          <p:nvPr/>
        </p:nvSpPr>
        <p:spPr>
          <a:xfrm>
            <a:off x="5334000" y="10001250"/>
            <a:ext cx="857250" cy="1666875"/>
          </a:xfrm>
          <a:custGeom>
            <a:avLst/>
            <a:gdLst/>
            <a:ahLst/>
            <a:cxnLst/>
            <a:rect l="l" t="t" r="r" b="b"/>
            <a:pathLst>
              <a:path w="857250" h="1666875">
                <a:moveTo>
                  <a:pt x="0" y="1666875"/>
                </a:moveTo>
                <a:lnTo>
                  <a:pt x="9095" y="1583730"/>
                </a:lnTo>
                <a:lnTo>
                  <a:pt x="20505" y="1501775"/>
                </a:lnTo>
                <a:lnTo>
                  <a:pt x="34230" y="1421011"/>
                </a:lnTo>
                <a:lnTo>
                  <a:pt x="50271" y="1341438"/>
                </a:lnTo>
                <a:lnTo>
                  <a:pt x="68626" y="1263055"/>
                </a:lnTo>
                <a:lnTo>
                  <a:pt x="89297" y="1185862"/>
                </a:lnTo>
                <a:lnTo>
                  <a:pt x="112283" y="1109861"/>
                </a:lnTo>
                <a:lnTo>
                  <a:pt x="137583" y="1035050"/>
                </a:lnTo>
                <a:lnTo>
                  <a:pt x="165199" y="961430"/>
                </a:lnTo>
                <a:lnTo>
                  <a:pt x="195130" y="889000"/>
                </a:lnTo>
                <a:lnTo>
                  <a:pt x="227376" y="817761"/>
                </a:lnTo>
                <a:lnTo>
                  <a:pt x="261938" y="747712"/>
                </a:lnTo>
                <a:lnTo>
                  <a:pt x="298814" y="678855"/>
                </a:lnTo>
                <a:lnTo>
                  <a:pt x="338005" y="611188"/>
                </a:lnTo>
                <a:lnTo>
                  <a:pt x="379512" y="544711"/>
                </a:lnTo>
                <a:lnTo>
                  <a:pt x="423333" y="479425"/>
                </a:lnTo>
                <a:lnTo>
                  <a:pt x="469470" y="415330"/>
                </a:lnTo>
                <a:lnTo>
                  <a:pt x="517922" y="352425"/>
                </a:lnTo>
                <a:lnTo>
                  <a:pt x="568689" y="290711"/>
                </a:lnTo>
                <a:lnTo>
                  <a:pt x="621771" y="230188"/>
                </a:lnTo>
                <a:lnTo>
                  <a:pt x="677168" y="170855"/>
                </a:lnTo>
                <a:lnTo>
                  <a:pt x="734880" y="112712"/>
                </a:lnTo>
                <a:lnTo>
                  <a:pt x="794908" y="55761"/>
                </a:lnTo>
                <a:lnTo>
                  <a:pt x="857250" y="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un fact"/>
          <p:cNvSpPr txBox="1"/>
          <p:nvPr/>
        </p:nvSpPr>
        <p:spPr>
          <a:xfrm>
            <a:off x="666750" y="571500"/>
            <a:ext cx="9715500" cy="472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56826"/>
                </a:solidFill>
                <a:latin typeface="Fredoka"/>
              </a:rPr>
              <a:t>Fun fact</a:t>
            </a:r>
          </a:p>
        </p:txBody>
      </p:sp>
      <p:sp>
        <p:nvSpPr>
          <p:cNvPr id="9" name="Worms lean on microbes to break down lea"/>
          <p:cNvSpPr txBox="1"/>
          <p:nvPr/>
        </p:nvSpPr>
        <p:spPr>
          <a:xfrm>
            <a:off x="666750" y="1028700"/>
            <a:ext cx="9906000" cy="118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>
                <a:solidFill>
                  <a:srgbClr val="4F3433"/>
                </a:solidFill>
                <a:latin typeface="Fredoka"/>
              </a:rPr>
              <a:t>Worms lean on microbes to break</a:t>
            </a:r>
          </a:p>
          <a:p>
            <a:pPr algn="l">
              <a:lnSpc>
                <a:spcPct val="102000"/>
              </a:lnSpc>
            </a:pPr>
            <a:r>
              <a:rPr sz="4200" b="1">
                <a:solidFill>
                  <a:srgbClr val="4F3433"/>
                </a:solidFill>
                <a:latin typeface="Fredoka"/>
              </a:rPr>
              <a:t>down leaves</a:t>
            </a:r>
          </a:p>
        </p:txBody>
      </p:sp>
      <p:sp>
        <p:nvSpPr>
          <p:cNvPr id="10" name="They take a bite and feed on the bacteri"/>
          <p:cNvSpPr txBox="1"/>
          <p:nvPr/>
        </p:nvSpPr>
        <p:spPr>
          <a:xfrm>
            <a:off x="685800" y="2724150"/>
            <a:ext cx="9715500" cy="8465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They take a bite and feed on the bacteria, fungi, protozoa and</a:t>
            </a:r>
          </a:p>
          <a:p>
            <a:pPr algn="l">
              <a:lnSpc>
                <a:spcPct val="136000"/>
              </a:lnSpc>
            </a:pPr>
            <a:r>
              <a:rPr sz="2175" b="0">
                <a:solidFill>
                  <a:srgbClr val="5B4C46"/>
                </a:solidFill>
                <a:latin typeface="Montserrat"/>
              </a:rPr>
              <a:t>nematodes living on the surface of those foods.</a:t>
            </a:r>
          </a:p>
        </p:txBody>
      </p:sp>
      <p:sp>
        <p:nvSpPr>
          <p:cNvPr id="11" name="Bacteria"/>
          <p:cNvSpPr txBox="1"/>
          <p:nvPr/>
        </p:nvSpPr>
        <p:spPr>
          <a:xfrm>
            <a:off x="8191500" y="4152900"/>
            <a:ext cx="2667000" cy="423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Bacteria</a:t>
            </a:r>
          </a:p>
        </p:txBody>
      </p:sp>
      <p:sp>
        <p:nvSpPr>
          <p:cNvPr id="12" name="Protozoa"/>
          <p:cNvSpPr txBox="1"/>
          <p:nvPr/>
        </p:nvSpPr>
        <p:spPr>
          <a:xfrm>
            <a:off x="8286750" y="10677525"/>
            <a:ext cx="2476500" cy="423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Protozoa</a:t>
            </a:r>
          </a:p>
        </p:txBody>
      </p:sp>
      <p:sp>
        <p:nvSpPr>
          <p:cNvPr id="13" name="Nematodes"/>
          <p:cNvSpPr txBox="1"/>
          <p:nvPr/>
        </p:nvSpPr>
        <p:spPr>
          <a:xfrm>
            <a:off x="4286250" y="11677650"/>
            <a:ext cx="2857500" cy="423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Nematodes</a:t>
            </a:r>
          </a:p>
        </p:txBody>
      </p:sp>
      <p:sp>
        <p:nvSpPr>
          <p:cNvPr id="14" name="Fungi"/>
          <p:cNvSpPr txBox="1"/>
          <p:nvPr/>
        </p:nvSpPr>
        <p:spPr>
          <a:xfrm>
            <a:off x="666750" y="5295900"/>
            <a:ext cx="2857500" cy="423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4F3433"/>
                </a:solidFill>
                <a:latin typeface="Fredoka"/>
              </a:rPr>
              <a:t>Fungi</a:t>
            </a:r>
          </a:p>
        </p:txBody>
      </p:sp>
      <p:pic>
        <p:nvPicPr>
          <p:cNvPr id="15" name="SFW 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11430000"/>
            <a:ext cx="1428750" cy="12375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