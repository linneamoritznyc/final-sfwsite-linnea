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Earthworm Society of Britain, World Earthworm Day: https://www.earthwormsoc.org.uk/worldwormday</a:t>
            </a:r>
          </a:p>
          <a:p>
            <a:r>
              <a:t>Darwin Correspondence Project, letter 13460 (3,500 Worms, 600 Origin): https://www.darwinproject.ac.uk/view/letters/DCP-LETT-13460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8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tory-frame-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685800" y="2857500"/>
            <a:ext cx="85725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76"/>
              </a:lnSpc>
            </a:pPr>
            <a:r>
              <a:rPr sz="9600" i="1" b="0">
                <a:solidFill>
                  <a:srgbClr val="F4F1EA"/>
                </a:solidFill>
                <a:latin typeface="EB Garamond Medium"/>
              </a:rPr>
              <a:t>Is World</a:t>
            </a:r>
          </a:p>
          <a:p>
            <a:pPr algn="l">
              <a:lnSpc>
                <a:spcPts val="10176"/>
              </a:lnSpc>
            </a:pPr>
            <a:r>
              <a:rPr sz="9600" i="1" b="0">
                <a:solidFill>
                  <a:srgbClr val="F4F1EA"/>
                </a:solidFill>
                <a:latin typeface="EB Garamond Medium"/>
              </a:rPr>
              <a:t>Earthworm Day</a:t>
            </a:r>
          </a:p>
          <a:p>
            <a:pPr algn="l">
              <a:lnSpc>
                <a:spcPts val="10176"/>
              </a:lnSpc>
            </a:pPr>
            <a:r>
              <a:rPr sz="9600" i="1" b="0">
                <a:solidFill>
                  <a:srgbClr val="F4F1EA"/>
                </a:solidFill>
                <a:latin typeface="EB Garamond Medium"/>
              </a:rPr>
              <a:t>even a thing?</a:t>
            </a:r>
          </a:p>
        </p:txBody>
      </p:sp>
      <p:pic>
        <p:nvPicPr>
          <p:cNvPr id="4" name="dark soil" descr="story-frame-1-03-dark so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8875" y="10810875"/>
            <a:ext cx="5810250" cy="4371975"/>
          </a:xfrm>
          <a:prstGeom prst="rect">
            <a:avLst/>
          </a:prstGeom>
        </p:spPr>
      </p:pic>
      <p:pic>
        <p:nvPicPr>
          <p:cNvPr id="5" name="moss" descr="story-frame-1-04-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625" y="11953875"/>
            <a:ext cx="4286250" cy="3076575"/>
          </a:xfrm>
          <a:prstGeom prst="rect">
            <a:avLst/>
          </a:prstGeom>
        </p:spPr>
      </p:pic>
      <p:pic>
        <p:nvPicPr>
          <p:cNvPr id="6" name="dry leaves" descr="story-frame-1-05-dry lea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75" y="10525125"/>
            <a:ext cx="4000500" cy="4124325"/>
          </a:xfrm>
          <a:prstGeom prst="rect">
            <a:avLst/>
          </a:prstGeom>
        </p:spPr>
      </p:pic>
      <p:pic>
        <p:nvPicPr>
          <p:cNvPr id="7" name="fiddlehead" descr="story-frame-1-06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9572625"/>
            <a:ext cx="3333750" cy="3238500"/>
          </a:xfrm>
          <a:prstGeom prst="rect">
            <a:avLst/>
          </a:prstGeom>
        </p:spPr>
      </p:pic>
      <p:pic>
        <p:nvPicPr>
          <p:cNvPr id="8" name="earthworm" descr="story-frame-1-07-earthwor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1875" y="7000875"/>
            <a:ext cx="4667250" cy="5381625"/>
          </a:xfrm>
          <a:prstGeom prst="rect">
            <a:avLst/>
          </a:prstGeom>
        </p:spPr>
      </p:pic>
      <p:pic>
        <p:nvPicPr>
          <p:cNvPr id="9" name="earthworm 2" descr="story-frame-1-08-earthworm 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7875" y="13287375"/>
            <a:ext cx="3905250" cy="3705225"/>
          </a:xfrm>
          <a:prstGeom prst="rect">
            <a:avLst/>
          </a:prstGeom>
        </p:spPr>
      </p:pic>
      <p:pic>
        <p:nvPicPr>
          <p:cNvPr id="10" name="logo" descr="story-frame-1-09-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4825" y="1524000"/>
            <a:ext cx="2038350" cy="203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tory-frame-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685800" y="2571750"/>
            <a:ext cx="8763000" cy="318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7632"/>
              </a:lnSpc>
            </a:pPr>
            <a:r>
              <a:rPr sz="7200" i="1" b="0">
                <a:solidFill>
                  <a:srgbClr val="F4F1EA"/>
                </a:solidFill>
                <a:latin typeface="EB Garamond Medium"/>
              </a:rPr>
              <a:t>Yes! It honors Darwin.</a:t>
            </a:r>
          </a:p>
          <a:p>
            <a:pPr algn="l">
              <a:lnSpc>
                <a:spcPts val="7632"/>
              </a:lnSpc>
            </a:pPr>
            <a:r>
              <a:rPr sz="7200" i="1" b="0">
                <a:solidFill>
                  <a:srgbClr val="F4F1EA"/>
                </a:solidFill>
                <a:latin typeface="EB Garamond Medium"/>
              </a:rPr>
              <a:t>His worm book came out</a:t>
            </a:r>
          </a:p>
          <a:p>
            <a:pPr algn="l">
              <a:lnSpc>
                <a:spcPts val="7632"/>
              </a:lnSpc>
            </a:pPr>
            <a:r>
              <a:rPr sz="7200" i="1" b="0">
                <a:solidFill>
                  <a:srgbClr val="F4F1EA"/>
                </a:solidFill>
                <a:latin typeface="EB Garamond Medium"/>
              </a:rPr>
              <a:t>in October 1881.</a:t>
            </a:r>
          </a:p>
        </p:txBody>
      </p:sp>
      <p:sp>
        <p:nvSpPr>
          <p:cNvPr id="4" name="small line"/>
          <p:cNvSpPr txBox="1"/>
          <p:nvPr/>
        </p:nvSpPr>
        <p:spPr>
          <a:xfrm>
            <a:off x="723900" y="6667500"/>
            <a:ext cx="8382000" cy="981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i="0" b="0">
                <a:solidFill>
                  <a:srgbClr val="CDE0C4"/>
                </a:solidFill>
                <a:latin typeface="Montserrat SemiBold"/>
              </a:rPr>
              <a:t>At his publisher's sale that November, it sold</a:t>
            </a:r>
          </a:p>
          <a:p>
            <a:pPr algn="l">
              <a:lnSpc>
                <a:spcPts val="3510"/>
              </a:lnSpc>
            </a:pPr>
            <a:r>
              <a:rPr sz="2700" i="0" b="0">
                <a:solidFill>
                  <a:srgbClr val="CDE0C4"/>
                </a:solidFill>
                <a:latin typeface="Montserrat SemiBold"/>
              </a:rPr>
              <a:t>3,500 copies. Origin of Species sold 600.</a:t>
            </a:r>
          </a:p>
        </p:txBody>
      </p:sp>
      <p:pic>
        <p:nvPicPr>
          <p:cNvPr id="5" name="Darwin woodcut, fig 3" descr="story-frame-2-04-Darwin woodcut, fig 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875" y="7953375"/>
            <a:ext cx="4476750" cy="6191250"/>
          </a:xfrm>
          <a:prstGeom prst="rect">
            <a:avLst/>
          </a:prstGeom>
        </p:spPr>
      </p:pic>
      <p:pic>
        <p:nvPicPr>
          <p:cNvPr id="6" name="piano pots" descr="story-frame-2-05-piano po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" y="7953375"/>
            <a:ext cx="5334000" cy="5143500"/>
          </a:xfrm>
          <a:prstGeom prst="rect">
            <a:avLst/>
          </a:prstGeom>
        </p:spPr>
      </p:pic>
      <p:pic>
        <p:nvPicPr>
          <p:cNvPr id="7" name="paper triangles" descr="story-frame-2-06-paper triang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" y="12811125"/>
            <a:ext cx="4857750" cy="4410075"/>
          </a:xfrm>
          <a:prstGeom prst="rect">
            <a:avLst/>
          </a:prstGeom>
        </p:spPr>
      </p:pic>
      <p:pic>
        <p:nvPicPr>
          <p:cNvPr id="8" name="worm stone" descr="story-frame-2-07-worm sto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875" y="13668375"/>
            <a:ext cx="5334000" cy="4362450"/>
          </a:xfrm>
          <a:prstGeom prst="rect">
            <a:avLst/>
          </a:prstGeom>
        </p:spPr>
      </p:pic>
      <p:pic>
        <p:nvPicPr>
          <p:cNvPr id="9" name="logo" descr="story-frame-1-09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4825" y="1333500"/>
            <a:ext cx="2038350" cy="2038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tory-frame-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685800" y="2762250"/>
            <a:ext cx="8953500" cy="2581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904"/>
              </a:lnSpc>
            </a:pPr>
            <a:r>
              <a:rPr sz="8400" i="1" b="0">
                <a:solidFill>
                  <a:srgbClr val="F4F1EA"/>
                </a:solidFill>
                <a:latin typeface="EB Garamond Medium"/>
              </a:rPr>
              <a:t>Which earthworm</a:t>
            </a:r>
          </a:p>
          <a:p>
            <a:pPr algn="l">
              <a:lnSpc>
                <a:spcPts val="8904"/>
              </a:lnSpc>
            </a:pPr>
            <a:r>
              <a:rPr sz="8400" i="1" b="0">
                <a:solidFill>
                  <a:srgbClr val="F4F1EA"/>
                </a:solidFill>
                <a:latin typeface="EB Garamond Medium"/>
              </a:rPr>
              <a:t>are you today?</a:t>
            </a:r>
          </a:p>
        </p:txBody>
      </p:sp>
      <p:pic>
        <p:nvPicPr>
          <p:cNvPr id="4" name="Epigeic" descr="story-frame-3-03-Epige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8575" y="7000875"/>
            <a:ext cx="3714750" cy="2667000"/>
          </a:xfrm>
          <a:prstGeom prst="rect">
            <a:avLst/>
          </a:prstGeom>
        </p:spPr>
      </p:pic>
      <p:sp>
        <p:nvSpPr>
          <p:cNvPr id="5" name="Epigeic. label"/>
          <p:cNvSpPr txBox="1"/>
          <p:nvPr/>
        </p:nvSpPr>
        <p:spPr>
          <a:xfrm>
            <a:off x="342900" y="9477375"/>
            <a:ext cx="2971800" cy="7429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sz="4500" i="1" b="0">
                <a:solidFill>
                  <a:srgbClr val="F4F1EA"/>
                </a:solidFill>
                <a:latin typeface="EB Garamond Medium"/>
              </a:rPr>
              <a:t>Epigeic.</a:t>
            </a:r>
          </a:p>
        </p:txBody>
      </p:sp>
      <p:sp>
        <p:nvSpPr>
          <p:cNvPr id="6" name="Epigeic. text"/>
          <p:cNvSpPr txBox="1"/>
          <p:nvPr/>
        </p:nvSpPr>
        <p:spPr>
          <a:xfrm>
            <a:off x="400050" y="10239375"/>
            <a:ext cx="2857500" cy="838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Lives in the leaf</a:t>
            </a:r>
          </a:p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litter and eats fast.</a:t>
            </a:r>
          </a:p>
        </p:txBody>
      </p:sp>
      <p:pic>
        <p:nvPicPr>
          <p:cNvPr id="7" name="Endogeic" descr="story-frame-3-06-Endoge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675" y="5924550"/>
            <a:ext cx="3714750" cy="3743325"/>
          </a:xfrm>
          <a:prstGeom prst="rect">
            <a:avLst/>
          </a:prstGeom>
        </p:spPr>
      </p:pic>
      <p:sp>
        <p:nvSpPr>
          <p:cNvPr id="8" name="Endogeic. label"/>
          <p:cNvSpPr txBox="1"/>
          <p:nvPr/>
        </p:nvSpPr>
        <p:spPr>
          <a:xfrm>
            <a:off x="3486150" y="9477375"/>
            <a:ext cx="2971800" cy="7429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sz="4500" i="1" b="0">
                <a:solidFill>
                  <a:srgbClr val="F4F1EA"/>
                </a:solidFill>
                <a:latin typeface="EB Garamond Medium"/>
              </a:rPr>
              <a:t>Endogeic.</a:t>
            </a:r>
          </a:p>
        </p:txBody>
      </p:sp>
      <p:sp>
        <p:nvSpPr>
          <p:cNvPr id="9" name="Endogeic. text"/>
          <p:cNvSpPr txBox="1"/>
          <p:nvPr/>
        </p:nvSpPr>
        <p:spPr>
          <a:xfrm>
            <a:off x="3543300" y="10239375"/>
            <a:ext cx="2857500" cy="1219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Stays in the</a:t>
            </a:r>
          </a:p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topsoil and eats its</a:t>
            </a:r>
          </a:p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way through it.</a:t>
            </a:r>
          </a:p>
        </p:txBody>
      </p:sp>
      <p:pic>
        <p:nvPicPr>
          <p:cNvPr id="10" name="Anecic" descr="story-frame-3-09-Anec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775" y="5191125"/>
            <a:ext cx="3057525" cy="4476750"/>
          </a:xfrm>
          <a:prstGeom prst="rect">
            <a:avLst/>
          </a:prstGeom>
        </p:spPr>
      </p:pic>
      <p:sp>
        <p:nvSpPr>
          <p:cNvPr id="11" name="Anecic. label"/>
          <p:cNvSpPr txBox="1"/>
          <p:nvPr/>
        </p:nvSpPr>
        <p:spPr>
          <a:xfrm>
            <a:off x="6629400" y="9477375"/>
            <a:ext cx="2971800" cy="7429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sz="4500" i="1" b="0">
                <a:solidFill>
                  <a:srgbClr val="F4F1EA"/>
                </a:solidFill>
                <a:latin typeface="EB Garamond Medium"/>
              </a:rPr>
              <a:t>Anecic.</a:t>
            </a:r>
          </a:p>
        </p:txBody>
      </p:sp>
      <p:sp>
        <p:nvSpPr>
          <p:cNvPr id="12" name="Anecic. text"/>
          <p:cNvSpPr txBox="1"/>
          <p:nvPr/>
        </p:nvSpPr>
        <p:spPr>
          <a:xfrm>
            <a:off x="6686550" y="10239375"/>
            <a:ext cx="2857500" cy="1219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Digs deep vertical</a:t>
            </a:r>
          </a:p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burrows and</a:t>
            </a:r>
          </a:p>
          <a:p>
            <a:pPr algn="ctr">
              <a:lnSpc>
                <a:spcPts val="3022"/>
              </a:lnSpc>
            </a:pPr>
            <a:r>
              <a:rPr sz="2325" i="0" b="0">
                <a:solidFill>
                  <a:srgbClr val="CDE0C4"/>
                </a:solidFill>
                <a:latin typeface="Montserrat SemiBold"/>
              </a:rPr>
              <a:t>comes up at night.</a:t>
            </a:r>
          </a:p>
        </p:txBody>
      </p:sp>
      <p:pic>
        <p:nvPicPr>
          <p:cNvPr id="13" name="logo" descr="story-frame-1-09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4825" y="1333500"/>
            <a:ext cx="2038350" cy="2038350"/>
          </a:xfrm>
          <a:prstGeom prst="rect">
            <a:avLst/>
          </a:prstGeom>
        </p:spPr>
      </p:pic>
      <p:pic>
        <p:nvPicPr>
          <p:cNvPr id="14" name="dry leaves" descr="story-frame-3-13-dry leav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875" y="14811375"/>
            <a:ext cx="3333750" cy="3429000"/>
          </a:xfrm>
          <a:prstGeom prst="rect">
            <a:avLst/>
          </a:prstGeom>
        </p:spPr>
      </p:pic>
      <p:pic>
        <p:nvPicPr>
          <p:cNvPr id="15" name="moss" descr="story-frame-3-14-mo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5001875"/>
            <a:ext cx="3714750" cy="2714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