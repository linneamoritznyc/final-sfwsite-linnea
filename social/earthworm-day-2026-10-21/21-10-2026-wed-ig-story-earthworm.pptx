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Fonts: Fredoka (headings, labels) and Montserrat (body), free on Google Fonts and in Canva.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Earthworm Society of Britain, World Worm Day: https://www.earthwormsoc.org.uk/worldwormday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Darwin Correspondence Project, letter 13460 (3,500 copies of Worms vs 600 of Origin at the 1881 sale): https://www.darwinproject.ac.uk/view/letters/DCP-LETT-13460 ; Nautilus on the piano and paper triangle experiments: https://nautil.us/why-darwin-admired-the-humble-earthworm-361515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Bouché 1977 (ecological groups); Colorado State Extension: https://extension.colostate.edu/resource/earthworms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y = 1250 to 1500 empty for the poll sticker: The Composter / The Mixer / The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ar with party worm" descr="f1-jar-t3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339" y="8238243"/>
            <a:ext cx="6541823" cy="10049757"/>
          </a:xfrm>
          <a:prstGeom prst="rect">
            <a:avLst/>
          </a:prstGeom>
        </p:spPr>
      </p:pic>
      <p:sp>
        <p:nvSpPr>
          <p:cNvPr id="3" name="Is World Earthworm Day even a thing?"/>
          <p:cNvSpPr txBox="1"/>
          <p:nvPr/>
        </p:nvSpPr>
        <p:spPr>
          <a:xfrm>
            <a:off x="0" y="3771900"/>
            <a:ext cx="10287000" cy="2155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4F3433"/>
                </a:solidFill>
                <a:latin typeface="Fredoka"/>
              </a:rPr>
              <a:t>Is World Earthworm</a:t>
            </a:r>
          </a:p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4F3433"/>
                </a:solidFill>
                <a:latin typeface="Fredoka"/>
              </a:rPr>
              <a:t>Day even a thing?</a:t>
            </a:r>
          </a:p>
        </p:txBody>
      </p:sp>
      <p:pic>
        <p:nvPicPr>
          <p:cNvPr id="4" name="SFW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4859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ook with worm" descr="f2-book-t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44" y="8214025"/>
            <a:ext cx="9441334" cy="6467990"/>
          </a:xfrm>
          <a:prstGeom prst="rect">
            <a:avLst/>
          </a:prstGeom>
        </p:spPr>
      </p:pic>
      <p:sp>
        <p:nvSpPr>
          <p:cNvPr id="3" name="Yes! Since 2016."/>
          <p:cNvSpPr txBox="1"/>
          <p:nvPr/>
        </p:nvSpPr>
        <p:spPr>
          <a:xfrm>
            <a:off x="0" y="2533650"/>
            <a:ext cx="10287000" cy="12047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8400" b="1" i="0">
                <a:solidFill>
                  <a:srgbClr val="4F3433"/>
                </a:solidFill>
                <a:latin typeface="Fredoka"/>
              </a:rPr>
              <a:t>Yes! Since 2016.</a:t>
            </a:r>
          </a:p>
        </p:txBody>
      </p:sp>
      <p:sp>
        <p:nvSpPr>
          <p:cNvPr id="4" name="The Earthworm Society of Britain picked "/>
          <p:cNvSpPr txBox="1"/>
          <p:nvPr/>
        </p:nvSpPr>
        <p:spPr>
          <a:xfrm>
            <a:off x="285750" y="4057650"/>
            <a:ext cx="9715500" cy="1727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6000"/>
              </a:lnSpc>
            </a:pPr>
            <a:r>
              <a:rPr sz="3150" b="0" i="0">
                <a:solidFill>
                  <a:srgbClr val="5B4C46"/>
                </a:solidFill>
                <a:latin typeface="Montserrat"/>
              </a:rPr>
              <a:t>The Earthworm Society of Britain picked 21</a:t>
            </a:r>
          </a:p>
          <a:p>
            <a:pPr algn="ctr">
              <a:lnSpc>
                <a:spcPct val="136000"/>
              </a:lnSpc>
            </a:pPr>
            <a:r>
              <a:rPr sz="3150" b="0" i="0">
                <a:solidFill>
                  <a:srgbClr val="5B4C46"/>
                </a:solidFill>
                <a:latin typeface="Montserrat"/>
              </a:rPr>
              <a:t>October to honour Charles Darwin. His</a:t>
            </a:r>
          </a:p>
          <a:p>
            <a:pPr algn="ctr">
              <a:lnSpc>
                <a:spcPct val="136000"/>
              </a:lnSpc>
            </a:pPr>
            <a:r>
              <a:rPr sz="3150" b="0" i="0">
                <a:solidFill>
                  <a:srgbClr val="5B4C46"/>
                </a:solidFill>
                <a:latin typeface="Montserrat"/>
              </a:rPr>
              <a:t>book on worms came out in October 1881.</a:t>
            </a:r>
          </a:p>
        </p:txBody>
      </p:sp>
      <p:pic>
        <p:nvPicPr>
          <p:cNvPr id="5" name="SFW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4859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ano with pots" descr="f3-piano-t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17" y="8483364"/>
            <a:ext cx="7619678" cy="4769901"/>
          </a:xfrm>
          <a:prstGeom prst="rect">
            <a:avLst/>
          </a:prstGeom>
        </p:spPr>
      </p:pic>
      <p:pic>
        <p:nvPicPr>
          <p:cNvPr id="3" name="Music notes" descr="note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71900"/>
            <a:ext cx="4838700" cy="5095875"/>
          </a:xfrm>
          <a:prstGeom prst="rect">
            <a:avLst/>
          </a:prstGeom>
        </p:spPr>
      </p:pic>
      <p:sp>
        <p:nvSpPr>
          <p:cNvPr id="4" name="Arrow 1"/>
          <p:cNvSpPr/>
          <p:nvPr/>
        </p:nvSpPr>
        <p:spPr>
          <a:xfrm>
            <a:off x="4933527" y="4476750"/>
            <a:ext cx="781473" cy="4362450"/>
          </a:xfrm>
          <a:custGeom>
            <a:avLst/>
            <a:gdLst/>
            <a:ahLst/>
            <a:cxnLst/>
            <a:rect l="l" t="t" r="r" b="b"/>
            <a:pathLst>
              <a:path w="781473" h="4362450">
                <a:moveTo>
                  <a:pt x="781473" y="0"/>
                </a:moveTo>
                <a:lnTo>
                  <a:pt x="687189" y="172336"/>
                </a:lnTo>
                <a:lnTo>
                  <a:pt x="598963" y="345493"/>
                </a:lnTo>
                <a:lnTo>
                  <a:pt x="516797" y="519470"/>
                </a:lnTo>
                <a:lnTo>
                  <a:pt x="440690" y="694267"/>
                </a:lnTo>
                <a:lnTo>
                  <a:pt x="370641" y="869884"/>
                </a:lnTo>
                <a:lnTo>
                  <a:pt x="306652" y="1046321"/>
                </a:lnTo>
                <a:lnTo>
                  <a:pt x="248721" y="1223579"/>
                </a:lnTo>
                <a:lnTo>
                  <a:pt x="196850" y="1401657"/>
                </a:lnTo>
                <a:lnTo>
                  <a:pt x="151037" y="1580555"/>
                </a:lnTo>
                <a:lnTo>
                  <a:pt x="111283" y="1760273"/>
                </a:lnTo>
                <a:lnTo>
                  <a:pt x="77589" y="1940811"/>
                </a:lnTo>
                <a:lnTo>
                  <a:pt x="49953" y="2122170"/>
                </a:lnTo>
                <a:lnTo>
                  <a:pt x="28376" y="2304349"/>
                </a:lnTo>
                <a:lnTo>
                  <a:pt x="12858" y="2487348"/>
                </a:lnTo>
                <a:lnTo>
                  <a:pt x="3400" y="2671167"/>
                </a:lnTo>
                <a:lnTo>
                  <a:pt x="0" y="2855807"/>
                </a:lnTo>
                <a:lnTo>
                  <a:pt x="2659" y="3041266"/>
                </a:lnTo>
                <a:lnTo>
                  <a:pt x="11377" y="3227546"/>
                </a:lnTo>
                <a:lnTo>
                  <a:pt x="26154" y="3414646"/>
                </a:lnTo>
                <a:lnTo>
                  <a:pt x="46990" y="3602567"/>
                </a:lnTo>
                <a:lnTo>
                  <a:pt x="73885" y="3791307"/>
                </a:lnTo>
                <a:lnTo>
                  <a:pt x="106838" y="3980868"/>
                </a:lnTo>
                <a:lnTo>
                  <a:pt x="145851" y="4171249"/>
                </a:lnTo>
                <a:lnTo>
                  <a:pt x="190923" y="436245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row 2"/>
          <p:cNvSpPr/>
          <p:nvPr/>
        </p:nvSpPr>
        <p:spPr>
          <a:xfrm>
            <a:off x="6096000" y="9582150"/>
            <a:ext cx="1552575" cy="3990975"/>
          </a:xfrm>
          <a:custGeom>
            <a:avLst/>
            <a:gdLst/>
            <a:ahLst/>
            <a:cxnLst/>
            <a:rect l="l" t="t" r="r" b="b"/>
            <a:pathLst>
              <a:path w="1552575" h="3990975">
                <a:moveTo>
                  <a:pt x="0" y="3990975"/>
                </a:moveTo>
                <a:lnTo>
                  <a:pt x="16882" y="3806086"/>
                </a:lnTo>
                <a:lnTo>
                  <a:pt x="37921" y="3622814"/>
                </a:lnTo>
                <a:lnTo>
                  <a:pt x="63118" y="3441159"/>
                </a:lnTo>
                <a:lnTo>
                  <a:pt x="92472" y="3261122"/>
                </a:lnTo>
                <a:lnTo>
                  <a:pt x="125983" y="3082702"/>
                </a:lnTo>
                <a:lnTo>
                  <a:pt x="163651" y="2905899"/>
                </a:lnTo>
                <a:lnTo>
                  <a:pt x="205477" y="2730713"/>
                </a:lnTo>
                <a:lnTo>
                  <a:pt x="251460" y="2557145"/>
                </a:lnTo>
                <a:lnTo>
                  <a:pt x="301600" y="2385194"/>
                </a:lnTo>
                <a:lnTo>
                  <a:pt x="355898" y="2214860"/>
                </a:lnTo>
                <a:lnTo>
                  <a:pt x="414352" y="2046144"/>
                </a:lnTo>
                <a:lnTo>
                  <a:pt x="476964" y="1879044"/>
                </a:lnTo>
                <a:lnTo>
                  <a:pt x="543734" y="1713562"/>
                </a:lnTo>
                <a:lnTo>
                  <a:pt x="614660" y="1549698"/>
                </a:lnTo>
                <a:lnTo>
                  <a:pt x="689744" y="1387450"/>
                </a:lnTo>
                <a:lnTo>
                  <a:pt x="768985" y="1226820"/>
                </a:lnTo>
                <a:lnTo>
                  <a:pt x="852383" y="1067807"/>
                </a:lnTo>
                <a:lnTo>
                  <a:pt x="939939" y="910411"/>
                </a:lnTo>
                <a:lnTo>
                  <a:pt x="1031652" y="754633"/>
                </a:lnTo>
                <a:lnTo>
                  <a:pt x="1127522" y="600472"/>
                </a:lnTo>
                <a:lnTo>
                  <a:pt x="1227549" y="447928"/>
                </a:lnTo>
                <a:lnTo>
                  <a:pt x="1331734" y="297001"/>
                </a:lnTo>
                <a:lnTo>
                  <a:pt x="1440076" y="147692"/>
                </a:lnTo>
                <a:lnTo>
                  <a:pt x="1552575" y="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rwin was obsessed"/>
          <p:cNvSpPr txBox="1"/>
          <p:nvPr/>
        </p:nvSpPr>
        <p:spPr>
          <a:xfrm>
            <a:off x="0" y="2533650"/>
            <a:ext cx="10287000" cy="1125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4F3433"/>
                </a:solidFill>
                <a:latin typeface="Fredoka"/>
              </a:rPr>
              <a:t>Darwin was obsessed</a:t>
            </a:r>
          </a:p>
        </p:txBody>
      </p:sp>
      <p:sp>
        <p:nvSpPr>
          <p:cNvPr id="7" name="He played the piano to his worms"/>
          <p:cNvSpPr txBox="1"/>
          <p:nvPr/>
        </p:nvSpPr>
        <p:spPr>
          <a:xfrm>
            <a:off x="5905500" y="3962400"/>
            <a:ext cx="4857750" cy="927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0" i="0">
                <a:solidFill>
                  <a:srgbClr val="4F3433"/>
                </a:solidFill>
                <a:latin typeface="Fredoka"/>
              </a:rPr>
              <a:t>He played the piano to</a:t>
            </a:r>
          </a:p>
          <a:p>
            <a:pPr algn="l">
              <a:lnSpc>
                <a:spcPct val="115000"/>
              </a:lnSpc>
            </a:pPr>
            <a:r>
              <a:rPr sz="2850" b="0" i="0">
                <a:solidFill>
                  <a:srgbClr val="4F3433"/>
                </a:solidFill>
                <a:latin typeface="Fredoka"/>
              </a:rPr>
              <a:t>his worms</a:t>
            </a:r>
          </a:p>
        </p:txBody>
      </p:sp>
      <p:sp>
        <p:nvSpPr>
          <p:cNvPr id="8" name="He tested how they pull leaves undergrou"/>
          <p:cNvSpPr txBox="1"/>
          <p:nvPr/>
        </p:nvSpPr>
        <p:spPr>
          <a:xfrm>
            <a:off x="6286500" y="13249275"/>
            <a:ext cx="4572000" cy="1146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F3433"/>
                </a:solidFill>
                <a:latin typeface="Fredoka"/>
              </a:rPr>
              <a:t>He tested how they pull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F3433"/>
                </a:solidFill>
                <a:latin typeface="Fredoka"/>
              </a:rPr>
              <a:t>leaves underground with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F3433"/>
                </a:solidFill>
                <a:latin typeface="Fredoka"/>
              </a:rPr>
              <a:t>paper triangles</a:t>
            </a:r>
          </a:p>
        </p:txBody>
      </p:sp>
      <p:pic>
        <p:nvPicPr>
          <p:cNvPr id="9" name="SFW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4859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ar with three worms" descr="f4-jar-t2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42" y="4173637"/>
            <a:ext cx="6075660" cy="11380391"/>
          </a:xfrm>
          <a:prstGeom prst="rect">
            <a:avLst/>
          </a:prstGeom>
        </p:spPr>
      </p:pic>
      <p:sp>
        <p:nvSpPr>
          <p:cNvPr id="3" name="Arrow 1"/>
          <p:cNvSpPr/>
          <p:nvPr/>
        </p:nvSpPr>
        <p:spPr>
          <a:xfrm>
            <a:off x="3848100" y="4476750"/>
            <a:ext cx="2724150" cy="2724150"/>
          </a:xfrm>
          <a:custGeom>
            <a:avLst/>
            <a:gdLst/>
            <a:ahLst/>
            <a:cxnLst/>
            <a:rect l="l" t="t" r="r" b="b"/>
            <a:pathLst>
              <a:path w="2724150" h="2724150">
                <a:moveTo>
                  <a:pt x="2724150" y="0"/>
                </a:moveTo>
                <a:lnTo>
                  <a:pt x="2643277" y="146139"/>
                </a:lnTo>
                <a:lnTo>
                  <a:pt x="2559566" y="289441"/>
                </a:lnTo>
                <a:lnTo>
                  <a:pt x="2473017" y="429905"/>
                </a:lnTo>
                <a:lnTo>
                  <a:pt x="2383631" y="567531"/>
                </a:lnTo>
                <a:lnTo>
                  <a:pt x="2291407" y="702320"/>
                </a:lnTo>
                <a:lnTo>
                  <a:pt x="2196346" y="834271"/>
                </a:lnTo>
                <a:lnTo>
                  <a:pt x="2098447" y="963384"/>
                </a:lnTo>
                <a:lnTo>
                  <a:pt x="1997710" y="1089660"/>
                </a:lnTo>
                <a:lnTo>
                  <a:pt x="1894136" y="1213098"/>
                </a:lnTo>
                <a:lnTo>
                  <a:pt x="1787723" y="1333698"/>
                </a:lnTo>
                <a:lnTo>
                  <a:pt x="1678474" y="1451461"/>
                </a:lnTo>
                <a:lnTo>
                  <a:pt x="1566386" y="1566386"/>
                </a:lnTo>
                <a:lnTo>
                  <a:pt x="1451461" y="1678474"/>
                </a:lnTo>
                <a:lnTo>
                  <a:pt x="1333698" y="1787723"/>
                </a:lnTo>
                <a:lnTo>
                  <a:pt x="1213098" y="1894136"/>
                </a:lnTo>
                <a:lnTo>
                  <a:pt x="1089660" y="1997710"/>
                </a:lnTo>
                <a:lnTo>
                  <a:pt x="963384" y="2098447"/>
                </a:lnTo>
                <a:lnTo>
                  <a:pt x="834271" y="2196346"/>
                </a:lnTo>
                <a:lnTo>
                  <a:pt x="702320" y="2291407"/>
                </a:lnTo>
                <a:lnTo>
                  <a:pt x="567531" y="2383631"/>
                </a:lnTo>
                <a:lnTo>
                  <a:pt x="429905" y="2473017"/>
                </a:lnTo>
                <a:lnTo>
                  <a:pt x="289441" y="2559566"/>
                </a:lnTo>
                <a:lnTo>
                  <a:pt x="146139" y="2643277"/>
                </a:lnTo>
                <a:lnTo>
                  <a:pt x="0" y="272415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row 2"/>
          <p:cNvSpPr/>
          <p:nvPr/>
        </p:nvSpPr>
        <p:spPr>
          <a:xfrm>
            <a:off x="2105025" y="8572500"/>
            <a:ext cx="4467225" cy="1562100"/>
          </a:xfrm>
          <a:custGeom>
            <a:avLst/>
            <a:gdLst/>
            <a:ahLst/>
            <a:cxnLst/>
            <a:rect l="l" t="t" r="r" b="b"/>
            <a:pathLst>
              <a:path w="4467225" h="1562100">
                <a:moveTo>
                  <a:pt x="4467225" y="0"/>
                </a:moveTo>
                <a:lnTo>
                  <a:pt x="4262378" y="11574"/>
                </a:lnTo>
                <a:lnTo>
                  <a:pt x="4059158" y="27801"/>
                </a:lnTo>
                <a:lnTo>
                  <a:pt x="3857565" y="48682"/>
                </a:lnTo>
                <a:lnTo>
                  <a:pt x="3657600" y="74216"/>
                </a:lnTo>
                <a:lnTo>
                  <a:pt x="3459262" y="104403"/>
                </a:lnTo>
                <a:lnTo>
                  <a:pt x="3262551" y="139244"/>
                </a:lnTo>
                <a:lnTo>
                  <a:pt x="3067467" y="178738"/>
                </a:lnTo>
                <a:lnTo>
                  <a:pt x="2874010" y="222885"/>
                </a:lnTo>
                <a:lnTo>
                  <a:pt x="2682180" y="271686"/>
                </a:lnTo>
                <a:lnTo>
                  <a:pt x="2491978" y="325140"/>
                </a:lnTo>
                <a:lnTo>
                  <a:pt x="2303403" y="383247"/>
                </a:lnTo>
                <a:lnTo>
                  <a:pt x="2116455" y="446008"/>
                </a:lnTo>
                <a:lnTo>
                  <a:pt x="1931134" y="513422"/>
                </a:lnTo>
                <a:lnTo>
                  <a:pt x="1747441" y="585490"/>
                </a:lnTo>
                <a:lnTo>
                  <a:pt x="1565374" y="662211"/>
                </a:lnTo>
                <a:lnTo>
                  <a:pt x="1384935" y="743585"/>
                </a:lnTo>
                <a:lnTo>
                  <a:pt x="1206123" y="829613"/>
                </a:lnTo>
                <a:lnTo>
                  <a:pt x="1028938" y="920294"/>
                </a:lnTo>
                <a:lnTo>
                  <a:pt x="853380" y="1015628"/>
                </a:lnTo>
                <a:lnTo>
                  <a:pt x="679450" y="1115616"/>
                </a:lnTo>
                <a:lnTo>
                  <a:pt x="507147" y="1220257"/>
                </a:lnTo>
                <a:lnTo>
                  <a:pt x="336471" y="1329551"/>
                </a:lnTo>
                <a:lnTo>
                  <a:pt x="167422" y="1443499"/>
                </a:lnTo>
                <a:lnTo>
                  <a:pt x="0" y="1562100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row 3"/>
          <p:cNvSpPr/>
          <p:nvPr/>
        </p:nvSpPr>
        <p:spPr>
          <a:xfrm>
            <a:off x="4953000" y="11639550"/>
            <a:ext cx="1600200" cy="333375"/>
          </a:xfrm>
          <a:custGeom>
            <a:avLst/>
            <a:gdLst/>
            <a:ahLst/>
            <a:cxnLst/>
            <a:rect l="l" t="t" r="r" b="b"/>
            <a:pathLst>
              <a:path w="1600200" h="333375">
                <a:moveTo>
                  <a:pt x="1600200" y="0"/>
                </a:moveTo>
                <a:lnTo>
                  <a:pt x="1536187" y="26670"/>
                </a:lnTo>
                <a:lnTo>
                  <a:pt x="1471943" y="52229"/>
                </a:lnTo>
                <a:lnTo>
                  <a:pt x="1407468" y="76676"/>
                </a:lnTo>
                <a:lnTo>
                  <a:pt x="1342760" y="100013"/>
                </a:lnTo>
                <a:lnTo>
                  <a:pt x="1277822" y="122238"/>
                </a:lnTo>
                <a:lnTo>
                  <a:pt x="1212652" y="143351"/>
                </a:lnTo>
                <a:lnTo>
                  <a:pt x="1147250" y="163354"/>
                </a:lnTo>
                <a:lnTo>
                  <a:pt x="1081617" y="182245"/>
                </a:lnTo>
                <a:lnTo>
                  <a:pt x="1015752" y="200025"/>
                </a:lnTo>
                <a:lnTo>
                  <a:pt x="949656" y="216694"/>
                </a:lnTo>
                <a:lnTo>
                  <a:pt x="883328" y="232251"/>
                </a:lnTo>
                <a:lnTo>
                  <a:pt x="816769" y="246698"/>
                </a:lnTo>
                <a:lnTo>
                  <a:pt x="749978" y="260033"/>
                </a:lnTo>
                <a:lnTo>
                  <a:pt x="682956" y="272256"/>
                </a:lnTo>
                <a:lnTo>
                  <a:pt x="615702" y="283369"/>
                </a:lnTo>
                <a:lnTo>
                  <a:pt x="548217" y="293370"/>
                </a:lnTo>
                <a:lnTo>
                  <a:pt x="480500" y="302260"/>
                </a:lnTo>
                <a:lnTo>
                  <a:pt x="412552" y="310039"/>
                </a:lnTo>
                <a:lnTo>
                  <a:pt x="344372" y="316706"/>
                </a:lnTo>
                <a:lnTo>
                  <a:pt x="275960" y="322263"/>
                </a:lnTo>
                <a:lnTo>
                  <a:pt x="207318" y="326708"/>
                </a:lnTo>
                <a:lnTo>
                  <a:pt x="138443" y="330041"/>
                </a:lnTo>
                <a:lnTo>
                  <a:pt x="69337" y="332264"/>
                </a:lnTo>
                <a:lnTo>
                  <a:pt x="0" y="333375"/>
                </a:lnTo>
              </a:path>
            </a:pathLst>
          </a:custGeom>
          <a:noFill/>
          <a:ln w="25400">
            <a:solidFill>
              <a:srgbClr val="4F3433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et the three worms"/>
          <p:cNvSpPr txBox="1"/>
          <p:nvPr/>
        </p:nvSpPr>
        <p:spPr>
          <a:xfrm>
            <a:off x="0" y="2533650"/>
            <a:ext cx="10287000" cy="1046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200" b="1" i="0">
                <a:solidFill>
                  <a:srgbClr val="4F3433"/>
                </a:solidFill>
                <a:latin typeface="Fredoka"/>
              </a:rPr>
              <a:t>Meet the three worms</a:t>
            </a:r>
          </a:p>
        </p:txBody>
      </p:sp>
      <p:sp>
        <p:nvSpPr>
          <p:cNvPr id="7" name="The Composter (epigeic). Small and red. "/>
          <p:cNvSpPr txBox="1"/>
          <p:nvPr/>
        </p:nvSpPr>
        <p:spPr>
          <a:xfrm>
            <a:off x="6667500" y="3962400"/>
            <a:ext cx="4191000" cy="2038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4F3433"/>
                </a:solidFill>
                <a:latin typeface="Fredoka"/>
              </a:rPr>
              <a:t>The</a:t>
            </a:r>
            <a:r>
              <a:rPr sz="2550" b="0" i="0">
                <a:solidFill>
                  <a:srgbClr val="4F3433"/>
                </a:solidFill>
                <a:latin typeface="Fredoka"/>
              </a:rPr>
              <a:t> </a:t>
            </a:r>
            <a:r>
              <a:rPr sz="2550" b="1" i="0">
                <a:solidFill>
                  <a:srgbClr val="4F3433"/>
                </a:solidFill>
                <a:latin typeface="Fredoka"/>
              </a:rPr>
              <a:t>Composter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(epigeic). Small and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red. Lives in the leaves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and turns them into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compost.</a:t>
            </a:r>
          </a:p>
        </p:txBody>
      </p:sp>
      <p:sp>
        <p:nvSpPr>
          <p:cNvPr id="8" name="The Mixer (endogeic). Pale. Eats its way"/>
          <p:cNvSpPr txBox="1"/>
          <p:nvPr/>
        </p:nvSpPr>
        <p:spPr>
          <a:xfrm>
            <a:off x="6667500" y="8153400"/>
            <a:ext cx="4191000" cy="1261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4F3433"/>
                </a:solidFill>
                <a:latin typeface="Fredoka"/>
              </a:rPr>
              <a:t>The</a:t>
            </a:r>
            <a:r>
              <a:rPr sz="2550" b="0" i="0">
                <a:solidFill>
                  <a:srgbClr val="4F3433"/>
                </a:solidFill>
                <a:latin typeface="Fredoka"/>
              </a:rPr>
              <a:t> </a:t>
            </a:r>
            <a:r>
              <a:rPr sz="2550" b="1" i="0">
                <a:solidFill>
                  <a:srgbClr val="4F3433"/>
                </a:solidFill>
                <a:latin typeface="Fredoka"/>
              </a:rPr>
              <a:t>Mixer</a:t>
            </a:r>
            <a:r>
              <a:rPr sz="2550" b="0" i="0">
                <a:solidFill>
                  <a:srgbClr val="4F3433"/>
                </a:solidFill>
                <a:latin typeface="Fredoka"/>
              </a:rPr>
              <a:t> (endogeic).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Pale. Eats its way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through the topsoil.</a:t>
            </a:r>
          </a:p>
        </p:txBody>
      </p:sp>
      <p:sp>
        <p:nvSpPr>
          <p:cNvPr id="9" name="The Engineer (anecic). Big and dark-head"/>
          <p:cNvSpPr txBox="1"/>
          <p:nvPr/>
        </p:nvSpPr>
        <p:spPr>
          <a:xfrm>
            <a:off x="6667500" y="11391900"/>
            <a:ext cx="4191000" cy="2038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50" b="1" i="0">
                <a:solidFill>
                  <a:srgbClr val="4F3433"/>
                </a:solidFill>
                <a:latin typeface="Fredoka"/>
              </a:rPr>
              <a:t>The</a:t>
            </a:r>
            <a:r>
              <a:rPr sz="2550" b="0" i="0">
                <a:solidFill>
                  <a:srgbClr val="4F3433"/>
                </a:solidFill>
                <a:latin typeface="Fredoka"/>
              </a:rPr>
              <a:t> </a:t>
            </a:r>
            <a:r>
              <a:rPr sz="2550" b="1" i="0">
                <a:solidFill>
                  <a:srgbClr val="4F3433"/>
                </a:solidFill>
                <a:latin typeface="Fredoka"/>
              </a:rPr>
              <a:t>Engineer</a:t>
            </a:r>
            <a:r>
              <a:rPr sz="2550" b="0" i="0">
                <a:solidFill>
                  <a:srgbClr val="4F3433"/>
                </a:solidFill>
                <a:latin typeface="Fredoka"/>
              </a:rPr>
              <a:t> (anecic).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Big and dark-headed.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Digs deep tunnels and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pulls leaves down at</a:t>
            </a:r>
          </a:p>
          <a:p>
            <a:pPr algn="l">
              <a:lnSpc>
                <a:spcPct val="120000"/>
              </a:lnSpc>
            </a:pPr>
            <a:r>
              <a:rPr sz="2550" b="0" i="0">
                <a:solidFill>
                  <a:srgbClr val="4F3433"/>
                </a:solidFill>
                <a:latin typeface="Fredoka"/>
              </a:rPr>
              <a:t>night.</a:t>
            </a:r>
          </a:p>
        </p:txBody>
      </p:sp>
      <p:pic>
        <p:nvPicPr>
          <p:cNvPr id="10" name="SFW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4859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ree party jars" descr="f5-jars-t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5586016"/>
            <a:ext cx="10235123" cy="5672478"/>
          </a:xfrm>
          <a:prstGeom prst="rect">
            <a:avLst/>
          </a:prstGeom>
        </p:spPr>
      </p:pic>
      <p:sp>
        <p:nvSpPr>
          <p:cNvPr id="3" name="Which worm are you today?"/>
          <p:cNvSpPr txBox="1"/>
          <p:nvPr/>
        </p:nvSpPr>
        <p:spPr>
          <a:xfrm>
            <a:off x="0" y="2533650"/>
            <a:ext cx="10287000" cy="2155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4F3433"/>
                </a:solidFill>
                <a:latin typeface="Fredoka"/>
              </a:rPr>
              <a:t>Which worm are you</a:t>
            </a:r>
          </a:p>
          <a:p>
            <a:pPr algn="ctr">
              <a:lnSpc>
                <a:spcPct val="104000"/>
              </a:lnSpc>
            </a:pPr>
            <a:r>
              <a:rPr sz="7800" b="1" i="0">
                <a:solidFill>
                  <a:srgbClr val="4F3433"/>
                </a:solidFill>
                <a:latin typeface="Fredoka"/>
              </a:rPr>
              <a:t>today?</a:t>
            </a:r>
          </a:p>
        </p:txBody>
      </p:sp>
      <p:sp>
        <p:nvSpPr>
          <p:cNvPr id="4" name="The Composter"/>
          <p:cNvSpPr txBox="1"/>
          <p:nvPr/>
        </p:nvSpPr>
        <p:spPr>
          <a:xfrm>
            <a:off x="-381000" y="10915650"/>
            <a:ext cx="4191000" cy="522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3300" b="1" i="0">
                <a:solidFill>
                  <a:srgbClr val="4F3433"/>
                </a:solidFill>
                <a:latin typeface="Fredoka"/>
              </a:rPr>
              <a:t>The Composter</a:t>
            </a:r>
          </a:p>
        </p:txBody>
      </p:sp>
      <p:sp>
        <p:nvSpPr>
          <p:cNvPr id="5" name="The Mixer"/>
          <p:cNvSpPr txBox="1"/>
          <p:nvPr/>
        </p:nvSpPr>
        <p:spPr>
          <a:xfrm>
            <a:off x="3114675" y="10915650"/>
            <a:ext cx="4191000" cy="522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3300" b="1" i="0">
                <a:solidFill>
                  <a:srgbClr val="4F3433"/>
                </a:solidFill>
                <a:latin typeface="Fredoka"/>
              </a:rPr>
              <a:t>The Mixer</a:t>
            </a:r>
          </a:p>
        </p:txBody>
      </p:sp>
      <p:sp>
        <p:nvSpPr>
          <p:cNvPr id="6" name="The Engineer"/>
          <p:cNvSpPr txBox="1"/>
          <p:nvPr/>
        </p:nvSpPr>
        <p:spPr>
          <a:xfrm>
            <a:off x="6486525" y="10915650"/>
            <a:ext cx="4191000" cy="522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3300" b="1" i="0">
                <a:solidFill>
                  <a:srgbClr val="4F3433"/>
                </a:solidFill>
                <a:latin typeface="Fredoka"/>
              </a:rPr>
              <a:t>The Engineer</a:t>
            </a:r>
          </a:p>
        </p:txBody>
      </p:sp>
      <p:pic>
        <p:nvPicPr>
          <p:cNvPr id="7" name="SFW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4859000"/>
            <a:ext cx="1428750" cy="12375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