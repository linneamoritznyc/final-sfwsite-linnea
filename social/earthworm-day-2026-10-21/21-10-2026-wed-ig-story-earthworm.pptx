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(headings, labels) and Montserrat (body), free on Google Fonts and in Canva.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Earthworm Society of Britain, World Worm Day: https://www.earthwormsoc.org.uk/worldwormday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Darwin Correspondence Project, letter 13460 (3,500 copies of Worms vs 600 of Origin at the 1881 sale): https://www.darwinproject.ac.uk/view/letters/DCP-LETT-13460 ; Nautilus on the piano and paper triangle experiments: https://nautil.us/why-darwin-admired-the-humble-earthworm-361515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Bouché 1977 (ecological groups); Colorado State Extension: https://extension.colostate.edu/resource/earthworms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y = 1250 to 1500 empty for the poll sticker: The Composter / The Mixer / The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party worm" descr="f1-jar-t3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6238875"/>
            <a:ext cx="8203406" cy="12549188"/>
          </a:xfrm>
          <a:prstGeom prst="rect">
            <a:avLst/>
          </a:prstGeom>
        </p:spPr>
      </p:pic>
      <p:sp>
        <p:nvSpPr>
          <p:cNvPr id="3" name="Is World Earthworm Day even a thing?"/>
          <p:cNvSpPr txBox="1"/>
          <p:nvPr/>
        </p:nvSpPr>
        <p:spPr>
          <a:xfrm>
            <a:off x="0" y="2533650"/>
            <a:ext cx="10287000" cy="2155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Is World Earthworm</a:t>
            </a:r>
          </a:p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Day even a thing?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Book with worm" descr="f2-book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44" y="8214025"/>
            <a:ext cx="9441334" cy="6467990"/>
          </a:xfrm>
          <a:prstGeom prst="rect">
            <a:avLst/>
          </a:prstGeom>
        </p:spPr>
      </p:pic>
      <p:sp>
        <p:nvSpPr>
          <p:cNvPr id="3" name="Yes! Since 2016."/>
          <p:cNvSpPr txBox="1"/>
          <p:nvPr/>
        </p:nvSpPr>
        <p:spPr>
          <a:xfrm>
            <a:off x="0" y="2533650"/>
            <a:ext cx="10287000" cy="12047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8400" b="1" i="0">
                <a:solidFill>
                  <a:srgbClr val="4F3433"/>
                </a:solidFill>
                <a:latin typeface="Fredoka"/>
              </a:rPr>
              <a:t>Yes! Since 2016.</a:t>
            </a:r>
          </a:p>
        </p:txBody>
      </p:sp>
      <p:sp>
        <p:nvSpPr>
          <p:cNvPr id="4" name="The Earthworm Society of Britain picked "/>
          <p:cNvSpPr txBox="1"/>
          <p:nvPr/>
        </p:nvSpPr>
        <p:spPr>
          <a:xfrm>
            <a:off x="285750" y="4057650"/>
            <a:ext cx="9715500" cy="1727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6000"/>
              </a:lnSpc>
            </a:pPr>
            <a:r>
              <a:rPr sz="3150" b="0" i="0">
                <a:solidFill>
                  <a:srgbClr val="5B4C46"/>
                </a:solidFill>
                <a:latin typeface="Montserrat"/>
              </a:rPr>
              <a:t>The Earthworm Society of Britain picked 21</a:t>
            </a:r>
          </a:p>
          <a:p>
            <a:pPr algn="ctr">
              <a:lnSpc>
                <a:spcPct val="136000"/>
              </a:lnSpc>
            </a:pPr>
            <a:r>
              <a:rPr sz="3150" b="0" i="0">
                <a:solidFill>
                  <a:srgbClr val="5B4C46"/>
                </a:solidFill>
                <a:latin typeface="Montserrat"/>
              </a:rPr>
              <a:t>October to honour Charles Darwin. His</a:t>
            </a:r>
          </a:p>
          <a:p>
            <a:pPr algn="ctr">
              <a:lnSpc>
                <a:spcPct val="136000"/>
              </a:lnSpc>
            </a:pPr>
            <a:r>
              <a:rPr sz="3150" b="0" i="0">
                <a:solidFill>
                  <a:srgbClr val="5B4C46"/>
                </a:solidFill>
                <a:latin typeface="Montserrat"/>
              </a:rPr>
              <a:t>book on worms came out in October 1881.</a:t>
            </a:r>
          </a:p>
        </p:txBody>
      </p:sp>
      <p:pic>
        <p:nvPicPr>
          <p:cNvPr id="5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ano with pots" descr="f3-piano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849" y="6443856"/>
            <a:ext cx="7055258" cy="4416575"/>
          </a:xfrm>
          <a:prstGeom prst="rect">
            <a:avLst/>
          </a:prstGeom>
        </p:spPr>
      </p:pic>
      <p:pic>
        <p:nvPicPr>
          <p:cNvPr id="3" name="Small book" descr="f2-book-t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5" y="12247509"/>
            <a:ext cx="3304467" cy="2263796"/>
          </a:xfrm>
          <a:prstGeom prst="rect">
            <a:avLst/>
          </a:prstGeom>
        </p:spPr>
      </p:pic>
      <p:sp>
        <p:nvSpPr>
          <p:cNvPr id="4" name="Arrow 1"/>
          <p:cNvSpPr/>
          <p:nvPr/>
        </p:nvSpPr>
        <p:spPr>
          <a:xfrm>
            <a:off x="4987826" y="4476750"/>
            <a:ext cx="346174" cy="2295525"/>
          </a:xfrm>
          <a:custGeom>
            <a:avLst/>
            <a:gdLst/>
            <a:ahLst/>
            <a:cxnLst/>
            <a:rect l="l" t="t" r="r" b="b"/>
            <a:pathLst>
              <a:path w="346174" h="2295525">
                <a:moveTo>
                  <a:pt x="346174" y="0"/>
                </a:moveTo>
                <a:lnTo>
                  <a:pt x="300778" y="92300"/>
                </a:lnTo>
                <a:lnTo>
                  <a:pt x="258570" y="184891"/>
                </a:lnTo>
                <a:lnTo>
                  <a:pt x="219551" y="277773"/>
                </a:lnTo>
                <a:lnTo>
                  <a:pt x="183720" y="370946"/>
                </a:lnTo>
                <a:lnTo>
                  <a:pt x="151077" y="464410"/>
                </a:lnTo>
                <a:lnTo>
                  <a:pt x="121622" y="558165"/>
                </a:lnTo>
                <a:lnTo>
                  <a:pt x="95356" y="652211"/>
                </a:lnTo>
                <a:lnTo>
                  <a:pt x="72277" y="746548"/>
                </a:lnTo>
                <a:lnTo>
                  <a:pt x="52387" y="841177"/>
                </a:lnTo>
                <a:lnTo>
                  <a:pt x="35685" y="936096"/>
                </a:lnTo>
                <a:lnTo>
                  <a:pt x="22172" y="1031306"/>
                </a:lnTo>
                <a:lnTo>
                  <a:pt x="11846" y="1126808"/>
                </a:lnTo>
                <a:lnTo>
                  <a:pt x="4709" y="1222600"/>
                </a:lnTo>
                <a:lnTo>
                  <a:pt x="760" y="1318683"/>
                </a:lnTo>
                <a:lnTo>
                  <a:pt x="0" y="1415058"/>
                </a:lnTo>
                <a:lnTo>
                  <a:pt x="2427" y="1511723"/>
                </a:lnTo>
                <a:lnTo>
                  <a:pt x="8043" y="1608680"/>
                </a:lnTo>
                <a:lnTo>
                  <a:pt x="16847" y="1705928"/>
                </a:lnTo>
                <a:lnTo>
                  <a:pt x="28839" y="1803466"/>
                </a:lnTo>
                <a:lnTo>
                  <a:pt x="44020" y="1901296"/>
                </a:lnTo>
                <a:lnTo>
                  <a:pt x="62389" y="1999417"/>
                </a:lnTo>
                <a:lnTo>
                  <a:pt x="83945" y="2097828"/>
                </a:lnTo>
                <a:lnTo>
                  <a:pt x="108691" y="2196531"/>
                </a:lnTo>
                <a:lnTo>
                  <a:pt x="136624" y="229552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2"/>
          <p:cNvSpPr/>
          <p:nvPr/>
        </p:nvSpPr>
        <p:spPr>
          <a:xfrm>
            <a:off x="6245754" y="7419975"/>
            <a:ext cx="1212321" cy="4248150"/>
          </a:xfrm>
          <a:custGeom>
            <a:avLst/>
            <a:gdLst/>
            <a:ahLst/>
            <a:cxnLst/>
            <a:rect l="l" t="t" r="r" b="b"/>
            <a:pathLst>
              <a:path w="1212321" h="4248150">
                <a:moveTo>
                  <a:pt x="40746" y="4248150"/>
                </a:moveTo>
                <a:lnTo>
                  <a:pt x="21709" y="4052431"/>
                </a:lnTo>
                <a:lnTo>
                  <a:pt x="8573" y="3858339"/>
                </a:lnTo>
                <a:lnTo>
                  <a:pt x="1336" y="3665875"/>
                </a:lnTo>
                <a:lnTo>
                  <a:pt x="0" y="3475038"/>
                </a:lnTo>
                <a:lnTo>
                  <a:pt x="4564" y="3285827"/>
                </a:lnTo>
                <a:lnTo>
                  <a:pt x="15028" y="3098244"/>
                </a:lnTo>
                <a:lnTo>
                  <a:pt x="31393" y="2912289"/>
                </a:lnTo>
                <a:lnTo>
                  <a:pt x="53658" y="2727960"/>
                </a:lnTo>
                <a:lnTo>
                  <a:pt x="81823" y="2545259"/>
                </a:lnTo>
                <a:lnTo>
                  <a:pt x="115888" y="2364184"/>
                </a:lnTo>
                <a:lnTo>
                  <a:pt x="155853" y="2184737"/>
                </a:lnTo>
                <a:lnTo>
                  <a:pt x="201718" y="2006917"/>
                </a:lnTo>
                <a:lnTo>
                  <a:pt x="253484" y="1830725"/>
                </a:lnTo>
                <a:lnTo>
                  <a:pt x="311150" y="1656159"/>
                </a:lnTo>
                <a:lnTo>
                  <a:pt x="374716" y="1483221"/>
                </a:lnTo>
                <a:lnTo>
                  <a:pt x="444183" y="1311910"/>
                </a:lnTo>
                <a:lnTo>
                  <a:pt x="519549" y="1142226"/>
                </a:lnTo>
                <a:lnTo>
                  <a:pt x="600816" y="974169"/>
                </a:lnTo>
                <a:lnTo>
                  <a:pt x="687983" y="807740"/>
                </a:lnTo>
                <a:lnTo>
                  <a:pt x="781050" y="642937"/>
                </a:lnTo>
                <a:lnTo>
                  <a:pt x="880018" y="479762"/>
                </a:lnTo>
                <a:lnTo>
                  <a:pt x="984885" y="318214"/>
                </a:lnTo>
                <a:lnTo>
                  <a:pt x="1095653" y="158294"/>
                </a:lnTo>
                <a:lnTo>
                  <a:pt x="1212321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rrow 3"/>
          <p:cNvSpPr/>
          <p:nvPr/>
        </p:nvSpPr>
        <p:spPr>
          <a:xfrm>
            <a:off x="3733800" y="13013382"/>
            <a:ext cx="742950" cy="273993"/>
          </a:xfrm>
          <a:custGeom>
            <a:avLst/>
            <a:gdLst/>
            <a:ahLst/>
            <a:cxnLst/>
            <a:rect l="l" t="t" r="r" b="b"/>
            <a:pathLst>
              <a:path w="742950" h="273993">
                <a:moveTo>
                  <a:pt x="742950" y="273993"/>
                </a:moveTo>
                <a:lnTo>
                  <a:pt x="717318" y="248047"/>
                </a:lnTo>
                <a:lnTo>
                  <a:pt x="691224" y="223391"/>
                </a:lnTo>
                <a:lnTo>
                  <a:pt x="664666" y="200025"/>
                </a:lnTo>
                <a:lnTo>
                  <a:pt x="637646" y="177949"/>
                </a:lnTo>
                <a:lnTo>
                  <a:pt x="610162" y="157163"/>
                </a:lnTo>
                <a:lnTo>
                  <a:pt x="582216" y="137666"/>
                </a:lnTo>
                <a:lnTo>
                  <a:pt x="553806" y="119460"/>
                </a:lnTo>
                <a:lnTo>
                  <a:pt x="524933" y="102543"/>
                </a:lnTo>
                <a:lnTo>
                  <a:pt x="495598" y="86916"/>
                </a:lnTo>
                <a:lnTo>
                  <a:pt x="465799" y="72579"/>
                </a:lnTo>
                <a:lnTo>
                  <a:pt x="435537" y="59532"/>
                </a:lnTo>
                <a:lnTo>
                  <a:pt x="404812" y="47774"/>
                </a:lnTo>
                <a:lnTo>
                  <a:pt x="373625" y="37307"/>
                </a:lnTo>
                <a:lnTo>
                  <a:pt x="341974" y="28129"/>
                </a:lnTo>
                <a:lnTo>
                  <a:pt x="309860" y="20241"/>
                </a:lnTo>
                <a:lnTo>
                  <a:pt x="277283" y="13643"/>
                </a:lnTo>
                <a:lnTo>
                  <a:pt x="244243" y="8335"/>
                </a:lnTo>
                <a:lnTo>
                  <a:pt x="210741" y="4316"/>
                </a:lnTo>
                <a:lnTo>
                  <a:pt x="176775" y="1588"/>
                </a:lnTo>
                <a:lnTo>
                  <a:pt x="142346" y="149"/>
                </a:lnTo>
                <a:lnTo>
                  <a:pt x="107454" y="0"/>
                </a:lnTo>
                <a:lnTo>
                  <a:pt x="72099" y="1141"/>
                </a:lnTo>
                <a:lnTo>
                  <a:pt x="36281" y="3572"/>
                </a:lnTo>
                <a:lnTo>
                  <a:pt x="0" y="7293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rwin was obsessed"/>
          <p:cNvSpPr txBox="1"/>
          <p:nvPr/>
        </p:nvSpPr>
        <p:spPr>
          <a:xfrm>
            <a:off x="0" y="2533650"/>
            <a:ext cx="10287000" cy="11254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Darwin was obsessed</a:t>
            </a:r>
          </a:p>
        </p:txBody>
      </p:sp>
      <p:sp>
        <p:nvSpPr>
          <p:cNvPr id="8" name="He played the piano to his worms"/>
          <p:cNvSpPr txBox="1"/>
          <p:nvPr/>
        </p:nvSpPr>
        <p:spPr>
          <a:xfrm>
            <a:off x="5619750" y="3962400"/>
            <a:ext cx="5143500" cy="927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50" b="0" i="0">
                <a:solidFill>
                  <a:srgbClr val="4F3433"/>
                </a:solidFill>
                <a:latin typeface="Fredoka"/>
              </a:rPr>
              <a:t>He played the piano to his</a:t>
            </a:r>
          </a:p>
          <a:p>
            <a:pPr algn="l">
              <a:lnSpc>
                <a:spcPct val="115000"/>
              </a:lnSpc>
            </a:pPr>
            <a:r>
              <a:rPr sz="2850" b="0" i="0">
                <a:solidFill>
                  <a:srgbClr val="4F3433"/>
                </a:solidFill>
                <a:latin typeface="Fredoka"/>
              </a:rPr>
              <a:t>worms</a:t>
            </a:r>
          </a:p>
        </p:txBody>
      </p:sp>
      <p:sp>
        <p:nvSpPr>
          <p:cNvPr id="9" name="He tested how they pull leaves undergrou"/>
          <p:cNvSpPr txBox="1"/>
          <p:nvPr/>
        </p:nvSpPr>
        <p:spPr>
          <a:xfrm>
            <a:off x="6477000" y="11010900"/>
            <a:ext cx="4381500" cy="1212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He tested how they pull</a:t>
            </a:r>
          </a:p>
          <a:p>
            <a:pPr algn="l">
              <a:lnSpc>
                <a:spcPct val="115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leaves underground with</a:t>
            </a:r>
          </a:p>
          <a:p>
            <a:pPr algn="l">
              <a:lnSpc>
                <a:spcPct val="115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paper triangles</a:t>
            </a:r>
          </a:p>
        </p:txBody>
      </p:sp>
      <p:sp>
        <p:nvSpPr>
          <p:cNvPr id="10" name="His worm book outsold Origin of Species "/>
          <p:cNvSpPr txBox="1"/>
          <p:nvPr/>
        </p:nvSpPr>
        <p:spPr>
          <a:xfrm>
            <a:off x="4667250" y="12868275"/>
            <a:ext cx="6096000" cy="8401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His worm book outsold </a:t>
            </a:r>
            <a:r>
              <a:rPr sz="2550" b="0" i="1">
                <a:solidFill>
                  <a:srgbClr val="4F3433"/>
                </a:solidFill>
                <a:latin typeface="Fredoka"/>
              </a:rPr>
              <a:t>Origin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550" b="0" i="1">
                <a:solidFill>
                  <a:srgbClr val="4F3433"/>
                </a:solidFill>
                <a:latin typeface="Fredoka"/>
              </a:rPr>
              <a:t>of</a:t>
            </a:r>
          </a:p>
          <a:p>
            <a:pPr algn="l">
              <a:lnSpc>
                <a:spcPct val="115000"/>
              </a:lnSpc>
            </a:pPr>
            <a:r>
              <a:rPr sz="2550" b="0" i="1">
                <a:solidFill>
                  <a:srgbClr val="4F3433"/>
                </a:solidFill>
                <a:latin typeface="Fredoka"/>
              </a:rPr>
              <a:t>Species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at his publisher’s 1881 sale</a:t>
            </a:r>
          </a:p>
        </p:txBody>
      </p:sp>
      <p:pic>
        <p:nvPicPr>
          <p:cNvPr id="11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three worms" descr="f4-jar-t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42" y="4173637"/>
            <a:ext cx="6075660" cy="11380391"/>
          </a:xfrm>
          <a:prstGeom prst="rect">
            <a:avLst/>
          </a:prstGeom>
        </p:spPr>
      </p:pic>
      <p:sp>
        <p:nvSpPr>
          <p:cNvPr id="3" name="Arrow 1"/>
          <p:cNvSpPr/>
          <p:nvPr/>
        </p:nvSpPr>
        <p:spPr>
          <a:xfrm>
            <a:off x="3848100" y="4476750"/>
            <a:ext cx="2724150" cy="2724150"/>
          </a:xfrm>
          <a:custGeom>
            <a:avLst/>
            <a:gdLst/>
            <a:ahLst/>
            <a:cxnLst/>
            <a:rect l="l" t="t" r="r" b="b"/>
            <a:pathLst>
              <a:path w="2724150" h="2724150">
                <a:moveTo>
                  <a:pt x="2724150" y="0"/>
                </a:moveTo>
                <a:lnTo>
                  <a:pt x="2643277" y="146139"/>
                </a:lnTo>
                <a:lnTo>
                  <a:pt x="2559566" y="289441"/>
                </a:lnTo>
                <a:lnTo>
                  <a:pt x="2473017" y="429905"/>
                </a:lnTo>
                <a:lnTo>
                  <a:pt x="2383631" y="567531"/>
                </a:lnTo>
                <a:lnTo>
                  <a:pt x="2291407" y="702320"/>
                </a:lnTo>
                <a:lnTo>
                  <a:pt x="2196346" y="834271"/>
                </a:lnTo>
                <a:lnTo>
                  <a:pt x="2098447" y="963384"/>
                </a:lnTo>
                <a:lnTo>
                  <a:pt x="1997710" y="1089660"/>
                </a:lnTo>
                <a:lnTo>
                  <a:pt x="1894136" y="1213098"/>
                </a:lnTo>
                <a:lnTo>
                  <a:pt x="1787723" y="1333698"/>
                </a:lnTo>
                <a:lnTo>
                  <a:pt x="1678474" y="1451461"/>
                </a:lnTo>
                <a:lnTo>
                  <a:pt x="1566386" y="1566386"/>
                </a:lnTo>
                <a:lnTo>
                  <a:pt x="1451461" y="1678474"/>
                </a:lnTo>
                <a:lnTo>
                  <a:pt x="1333698" y="1787723"/>
                </a:lnTo>
                <a:lnTo>
                  <a:pt x="1213098" y="1894136"/>
                </a:lnTo>
                <a:lnTo>
                  <a:pt x="1089660" y="1997710"/>
                </a:lnTo>
                <a:lnTo>
                  <a:pt x="963384" y="2098447"/>
                </a:lnTo>
                <a:lnTo>
                  <a:pt x="834271" y="2196346"/>
                </a:lnTo>
                <a:lnTo>
                  <a:pt x="702320" y="2291407"/>
                </a:lnTo>
                <a:lnTo>
                  <a:pt x="567531" y="2383631"/>
                </a:lnTo>
                <a:lnTo>
                  <a:pt x="429905" y="2473017"/>
                </a:lnTo>
                <a:lnTo>
                  <a:pt x="289441" y="2559566"/>
                </a:lnTo>
                <a:lnTo>
                  <a:pt x="146139" y="2643277"/>
                </a:lnTo>
                <a:lnTo>
                  <a:pt x="0" y="272415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row 2"/>
          <p:cNvSpPr/>
          <p:nvPr/>
        </p:nvSpPr>
        <p:spPr>
          <a:xfrm>
            <a:off x="2105025" y="8572500"/>
            <a:ext cx="4467225" cy="1562100"/>
          </a:xfrm>
          <a:custGeom>
            <a:avLst/>
            <a:gdLst/>
            <a:ahLst/>
            <a:cxnLst/>
            <a:rect l="l" t="t" r="r" b="b"/>
            <a:pathLst>
              <a:path w="4467225" h="1562100">
                <a:moveTo>
                  <a:pt x="4467225" y="0"/>
                </a:moveTo>
                <a:lnTo>
                  <a:pt x="4262378" y="11574"/>
                </a:lnTo>
                <a:lnTo>
                  <a:pt x="4059158" y="27801"/>
                </a:lnTo>
                <a:lnTo>
                  <a:pt x="3857565" y="48682"/>
                </a:lnTo>
                <a:lnTo>
                  <a:pt x="3657600" y="74216"/>
                </a:lnTo>
                <a:lnTo>
                  <a:pt x="3459262" y="104403"/>
                </a:lnTo>
                <a:lnTo>
                  <a:pt x="3262551" y="139244"/>
                </a:lnTo>
                <a:lnTo>
                  <a:pt x="3067467" y="178738"/>
                </a:lnTo>
                <a:lnTo>
                  <a:pt x="2874010" y="222885"/>
                </a:lnTo>
                <a:lnTo>
                  <a:pt x="2682180" y="271686"/>
                </a:lnTo>
                <a:lnTo>
                  <a:pt x="2491978" y="325140"/>
                </a:lnTo>
                <a:lnTo>
                  <a:pt x="2303403" y="383247"/>
                </a:lnTo>
                <a:lnTo>
                  <a:pt x="2116455" y="446008"/>
                </a:lnTo>
                <a:lnTo>
                  <a:pt x="1931134" y="513422"/>
                </a:lnTo>
                <a:lnTo>
                  <a:pt x="1747441" y="585490"/>
                </a:lnTo>
                <a:lnTo>
                  <a:pt x="1565374" y="662211"/>
                </a:lnTo>
                <a:lnTo>
                  <a:pt x="1384935" y="743585"/>
                </a:lnTo>
                <a:lnTo>
                  <a:pt x="1206123" y="829613"/>
                </a:lnTo>
                <a:lnTo>
                  <a:pt x="1028938" y="920294"/>
                </a:lnTo>
                <a:lnTo>
                  <a:pt x="853380" y="1015628"/>
                </a:lnTo>
                <a:lnTo>
                  <a:pt x="679450" y="1115616"/>
                </a:lnTo>
                <a:lnTo>
                  <a:pt x="507147" y="1220257"/>
                </a:lnTo>
                <a:lnTo>
                  <a:pt x="336471" y="1329551"/>
                </a:lnTo>
                <a:lnTo>
                  <a:pt x="167422" y="1443499"/>
                </a:lnTo>
                <a:lnTo>
                  <a:pt x="0" y="15621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3"/>
          <p:cNvSpPr/>
          <p:nvPr/>
        </p:nvSpPr>
        <p:spPr>
          <a:xfrm>
            <a:off x="4953000" y="11639550"/>
            <a:ext cx="1600200" cy="333375"/>
          </a:xfrm>
          <a:custGeom>
            <a:avLst/>
            <a:gdLst/>
            <a:ahLst/>
            <a:cxnLst/>
            <a:rect l="l" t="t" r="r" b="b"/>
            <a:pathLst>
              <a:path w="1600200" h="333375">
                <a:moveTo>
                  <a:pt x="1600200" y="0"/>
                </a:moveTo>
                <a:lnTo>
                  <a:pt x="1536187" y="26670"/>
                </a:lnTo>
                <a:lnTo>
                  <a:pt x="1471943" y="52229"/>
                </a:lnTo>
                <a:lnTo>
                  <a:pt x="1407468" y="76676"/>
                </a:lnTo>
                <a:lnTo>
                  <a:pt x="1342760" y="100013"/>
                </a:lnTo>
                <a:lnTo>
                  <a:pt x="1277822" y="122238"/>
                </a:lnTo>
                <a:lnTo>
                  <a:pt x="1212652" y="143351"/>
                </a:lnTo>
                <a:lnTo>
                  <a:pt x="1147250" y="163354"/>
                </a:lnTo>
                <a:lnTo>
                  <a:pt x="1081617" y="182245"/>
                </a:lnTo>
                <a:lnTo>
                  <a:pt x="1015752" y="200025"/>
                </a:lnTo>
                <a:lnTo>
                  <a:pt x="949656" y="216694"/>
                </a:lnTo>
                <a:lnTo>
                  <a:pt x="883328" y="232251"/>
                </a:lnTo>
                <a:lnTo>
                  <a:pt x="816769" y="246698"/>
                </a:lnTo>
                <a:lnTo>
                  <a:pt x="749978" y="260033"/>
                </a:lnTo>
                <a:lnTo>
                  <a:pt x="682956" y="272256"/>
                </a:lnTo>
                <a:lnTo>
                  <a:pt x="615702" y="283369"/>
                </a:lnTo>
                <a:lnTo>
                  <a:pt x="548217" y="293370"/>
                </a:lnTo>
                <a:lnTo>
                  <a:pt x="480500" y="302260"/>
                </a:lnTo>
                <a:lnTo>
                  <a:pt x="412552" y="310039"/>
                </a:lnTo>
                <a:lnTo>
                  <a:pt x="344372" y="316706"/>
                </a:lnTo>
                <a:lnTo>
                  <a:pt x="275960" y="322263"/>
                </a:lnTo>
                <a:lnTo>
                  <a:pt x="207318" y="326708"/>
                </a:lnTo>
                <a:lnTo>
                  <a:pt x="138443" y="330041"/>
                </a:lnTo>
                <a:lnTo>
                  <a:pt x="69337" y="332264"/>
                </a:lnTo>
                <a:lnTo>
                  <a:pt x="0" y="33337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eet the three worms"/>
          <p:cNvSpPr txBox="1"/>
          <p:nvPr/>
        </p:nvSpPr>
        <p:spPr>
          <a:xfrm>
            <a:off x="0" y="2533650"/>
            <a:ext cx="10287000" cy="1046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7200" b="1" i="0">
                <a:solidFill>
                  <a:srgbClr val="4F3433"/>
                </a:solidFill>
                <a:latin typeface="Fredoka"/>
              </a:rPr>
              <a:t>Meet the three worms</a:t>
            </a:r>
          </a:p>
        </p:txBody>
      </p:sp>
      <p:sp>
        <p:nvSpPr>
          <p:cNvPr id="7" name="The Composter (epigeic). Small and red. "/>
          <p:cNvSpPr txBox="1"/>
          <p:nvPr/>
        </p:nvSpPr>
        <p:spPr>
          <a:xfrm>
            <a:off x="6667500" y="3962400"/>
            <a:ext cx="4191000" cy="203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5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550" b="1" i="0">
                <a:solidFill>
                  <a:srgbClr val="4F3433"/>
                </a:solidFill>
                <a:latin typeface="Fredoka"/>
              </a:rPr>
              <a:t>Composter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(epigeic). Small and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red. Lives in the leaves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and turns them into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compost.</a:t>
            </a:r>
          </a:p>
        </p:txBody>
      </p:sp>
      <p:sp>
        <p:nvSpPr>
          <p:cNvPr id="8" name="The Mixer (endogeic). Pale. Eats its way"/>
          <p:cNvSpPr txBox="1"/>
          <p:nvPr/>
        </p:nvSpPr>
        <p:spPr>
          <a:xfrm>
            <a:off x="6667500" y="8153400"/>
            <a:ext cx="4191000" cy="12611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5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550" b="1" i="0">
                <a:solidFill>
                  <a:srgbClr val="4F3433"/>
                </a:solidFill>
                <a:latin typeface="Fredoka"/>
              </a:rPr>
              <a:t>Mixer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(endogeic).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Pale. Eats its way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through the topsoil.</a:t>
            </a:r>
          </a:p>
        </p:txBody>
      </p:sp>
      <p:sp>
        <p:nvSpPr>
          <p:cNvPr id="9" name="The Engineer (anecic). Big and dark-head"/>
          <p:cNvSpPr txBox="1"/>
          <p:nvPr/>
        </p:nvSpPr>
        <p:spPr>
          <a:xfrm>
            <a:off x="6667500" y="11391900"/>
            <a:ext cx="4191000" cy="203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5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550" b="1" i="0">
                <a:solidFill>
                  <a:srgbClr val="4F3433"/>
                </a:solidFill>
                <a:latin typeface="Fredoka"/>
              </a:rPr>
              <a:t>Engineer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(anecic).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Big and dark-headed.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Digs deep tunnels and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pulls leaves down at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night.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Three party jars" descr="f5-jars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1000" y="5586016"/>
            <a:ext cx="10235123" cy="5672478"/>
          </a:xfrm>
          <a:prstGeom prst="rect">
            <a:avLst/>
          </a:prstGeom>
        </p:spPr>
      </p:pic>
      <p:sp>
        <p:nvSpPr>
          <p:cNvPr id="3" name="Which worm are you today?"/>
          <p:cNvSpPr txBox="1"/>
          <p:nvPr/>
        </p:nvSpPr>
        <p:spPr>
          <a:xfrm>
            <a:off x="0" y="2533650"/>
            <a:ext cx="10287000" cy="2155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Which worm are you</a:t>
            </a:r>
          </a:p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today?</a:t>
            </a:r>
          </a:p>
        </p:txBody>
      </p:sp>
      <p:sp>
        <p:nvSpPr>
          <p:cNvPr id="4" name="The Composter"/>
          <p:cNvSpPr txBox="1"/>
          <p:nvPr/>
        </p:nvSpPr>
        <p:spPr>
          <a:xfrm>
            <a:off x="-381000" y="10915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Composter</a:t>
            </a:r>
          </a:p>
        </p:txBody>
      </p:sp>
      <p:sp>
        <p:nvSpPr>
          <p:cNvPr id="5" name="The Mixer"/>
          <p:cNvSpPr txBox="1"/>
          <p:nvPr/>
        </p:nvSpPr>
        <p:spPr>
          <a:xfrm>
            <a:off x="3114675" y="10915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Mixer</a:t>
            </a:r>
          </a:p>
        </p:txBody>
      </p:sp>
      <p:sp>
        <p:nvSpPr>
          <p:cNvPr id="6" name="The Engineer"/>
          <p:cNvSpPr txBox="1"/>
          <p:nvPr/>
        </p:nvSpPr>
        <p:spPr>
          <a:xfrm>
            <a:off x="6486525" y="10915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Engineer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