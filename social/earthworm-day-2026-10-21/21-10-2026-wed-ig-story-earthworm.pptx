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https://www.earthwormsoc.org.uk/worldwormday  (Fonts: Montserrat, free on Google Fonts and in Canva.)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https://nautil.us/why-darwin-admired-the-humble-earthworm-361515 ; http://darwin-online.org.uk/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https://www.echocommunity.org/en/resources/58d05ca9-030c-42fa-98fa-746d4dc9bc2f ; https://crsa.cnr.berkeley.edu/wp-content/uploads/2021/08/Soil-Biology-Primer.pdf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https://extension.colostate.edu/resource/earthworms  (Leave the empty space under the jars for the poll sticker.)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Jar with party worm" descr="g1-jar-a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6658" y="6655308"/>
            <a:ext cx="5453685" cy="7917942"/>
          </a:xfrm>
          <a:prstGeom prst="rect">
            <a:avLst/>
          </a:prstGeom>
        </p:spPr>
      </p:pic>
      <p:sp>
        <p:nvSpPr>
          <p:cNvPr id="3" name="Is World Earthworm Day even a thing?"/>
          <p:cNvSpPr txBox="1"/>
          <p:nvPr/>
        </p:nvSpPr>
        <p:spPr>
          <a:xfrm>
            <a:off x="190500" y="2628900"/>
            <a:ext cx="9906000" cy="6393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Is World Earthworm Day even a thing?</a:t>
            </a:r>
          </a:p>
        </p:txBody>
      </p:sp>
      <p:sp>
        <p:nvSpPr>
          <p:cNvPr id="4" name="It is! In 2016 the Earthworm Society of "/>
          <p:cNvSpPr txBox="1"/>
          <p:nvPr/>
        </p:nvSpPr>
        <p:spPr>
          <a:xfrm>
            <a:off x="190500" y="3420618"/>
            <a:ext cx="9906000" cy="2815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It is! In 2016 the Earthworm Society of</a:t>
            </a:r>
          </a:p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Britain picked 21 October, to honour</a:t>
            </a:r>
          </a:p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Charles Darwin. His book on worms</a:t>
            </a:r>
          </a:p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came out in October 1881, after more</a:t>
            </a:r>
          </a:p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than 40 years of studying them.</a:t>
            </a:r>
          </a:p>
        </p:txBody>
      </p:sp>
      <p:pic>
        <p:nvPicPr>
          <p:cNvPr id="5" name="SFW 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4859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ano with pot and diving worm" descr="g4-piano-c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459" y="8831580"/>
            <a:ext cx="8144081" cy="5741670"/>
          </a:xfrm>
          <a:prstGeom prst="rect">
            <a:avLst/>
          </a:prstGeom>
        </p:spPr>
      </p:pic>
      <p:sp>
        <p:nvSpPr>
          <p:cNvPr id="3" name="Darwin wanted to know if worms can hear."/>
          <p:cNvSpPr txBox="1"/>
          <p:nvPr/>
        </p:nvSpPr>
        <p:spPr>
          <a:xfrm>
            <a:off x="190500" y="2628900"/>
            <a:ext cx="9906000" cy="2815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Darwin wanted to know if worms can</a:t>
            </a:r>
          </a:p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hear. His son played the bassoon at</a:t>
            </a:r>
          </a:p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them, Darwin whistled and shouted, and</a:t>
            </a:r>
          </a:p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his wife played the piano right next to</a:t>
            </a:r>
          </a:p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their pots. The worms didn’t react at all.</a:t>
            </a:r>
          </a:p>
        </p:txBody>
      </p:sp>
      <p:sp>
        <p:nvSpPr>
          <p:cNvPr id="4" name="Then he put the pots on top of the piano"/>
          <p:cNvSpPr txBox="1"/>
          <p:nvPr/>
        </p:nvSpPr>
        <p:spPr>
          <a:xfrm>
            <a:off x="190500" y="5596890"/>
            <a:ext cx="9906000" cy="2815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Then he put the pots on top of the</a:t>
            </a:r>
          </a:p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piano. One note, and the worms shot</a:t>
            </a:r>
          </a:p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back into their burrows. Worms have</a:t>
            </a:r>
          </a:p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no ears. They feel music through</a:t>
            </a:r>
          </a:p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the ground with their whole body.</a:t>
            </a:r>
          </a:p>
        </p:txBody>
      </p:sp>
      <p:pic>
        <p:nvPicPr>
          <p:cNvPr id="5" name="SFW 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4859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Worm biting a leaf, magnified" descr="g6-bite-b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5729" y="9623298"/>
            <a:ext cx="7275541" cy="4949952"/>
          </a:xfrm>
          <a:prstGeom prst="rect">
            <a:avLst/>
          </a:prstGeom>
        </p:spPr>
      </p:pic>
      <p:sp>
        <p:nvSpPr>
          <p:cNvPr id="3" name="Dr. Elaine Ingham, who founded our schoo"/>
          <p:cNvSpPr txBox="1"/>
          <p:nvPr/>
        </p:nvSpPr>
        <p:spPr>
          <a:xfrm>
            <a:off x="190500" y="2628900"/>
            <a:ext cx="9906000" cy="17274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Dr. Elaine Ingham, who founded</a:t>
            </a:r>
          </a:p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our school, taught that worms</a:t>
            </a:r>
          </a:p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are part of the soil food web.</a:t>
            </a:r>
          </a:p>
        </p:txBody>
      </p:sp>
      <p:sp>
        <p:nvSpPr>
          <p:cNvPr id="4" name="When a worm eats a fallen leaf, it also "/>
          <p:cNvSpPr txBox="1"/>
          <p:nvPr/>
        </p:nvSpPr>
        <p:spPr>
          <a:xfrm>
            <a:off x="190500" y="4508754"/>
            <a:ext cx="9906000" cy="3359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When a worm eats a fallen leaf, it also</a:t>
            </a:r>
          </a:p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eats the bacteria and fungi growing on it.</a:t>
            </a:r>
          </a:p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They broke the leaf down first. The worm</a:t>
            </a:r>
          </a:p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passes those nutrients on in a form plant</a:t>
            </a:r>
          </a:p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roots can take up, and lines its tunnels</a:t>
            </a:r>
          </a:p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with slime full of nutrients and microbes.</a:t>
            </a:r>
          </a:p>
        </p:txBody>
      </p:sp>
      <p:sp>
        <p:nvSpPr>
          <p:cNvPr id="5" name="So when you find worms, the life under t"/>
          <p:cNvSpPr txBox="1"/>
          <p:nvPr/>
        </p:nvSpPr>
        <p:spPr>
          <a:xfrm>
            <a:off x="190500" y="8020812"/>
            <a:ext cx="9906000" cy="1183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So when you find worms, the life</a:t>
            </a:r>
          </a:p>
          <a:p>
            <a:pPr algn="ctr">
              <a:lnSpc>
                <a:spcPts val="4284"/>
              </a:lnSpc>
            </a:pPr>
            <a:r>
              <a:rPr sz="3150" b="0" i="0">
                <a:solidFill>
                  <a:srgbClr val="4F3433"/>
                </a:solidFill>
                <a:latin typeface="Montserrat"/>
              </a:rPr>
              <a:t>under them is doing well too.</a:t>
            </a:r>
          </a:p>
        </p:txBody>
      </p:sp>
      <p:pic>
        <p:nvPicPr>
          <p:cNvPr id="6" name="SFW 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4859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Three party jars" descr="f5-jars-t1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304" y="3868674"/>
            <a:ext cx="9624391" cy="5334000"/>
          </a:xfrm>
          <a:prstGeom prst="rect">
            <a:avLst/>
          </a:prstGeom>
        </p:spPr>
      </p:pic>
      <p:sp>
        <p:nvSpPr>
          <p:cNvPr id="3" name="Which worm are you today?"/>
          <p:cNvSpPr txBox="1"/>
          <p:nvPr/>
        </p:nvSpPr>
        <p:spPr>
          <a:xfrm>
            <a:off x="190500" y="2628900"/>
            <a:ext cx="9906000" cy="8206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5712"/>
              </a:lnSpc>
            </a:pPr>
            <a:r>
              <a:rPr sz="4200" b="0" i="0">
                <a:solidFill>
                  <a:srgbClr val="4F3433"/>
                </a:solidFill>
                <a:latin typeface="Montserrat"/>
              </a:rPr>
              <a:t>Which worm are you today?</a:t>
            </a:r>
          </a:p>
        </p:txBody>
      </p:sp>
      <p:sp>
        <p:nvSpPr>
          <p:cNvPr id="4" name="The Composter: small and red, lives in t"/>
          <p:cNvSpPr txBox="1"/>
          <p:nvPr/>
        </p:nvSpPr>
        <p:spPr>
          <a:xfrm>
            <a:off x="304800" y="8991600"/>
            <a:ext cx="4000500" cy="16070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976"/>
              </a:lnSpc>
            </a:pPr>
            <a:r>
              <a:rPr sz="2325" b="1" i="0">
                <a:solidFill>
                  <a:srgbClr val="4F3433"/>
                </a:solidFill>
                <a:latin typeface="Montserrat"/>
              </a:rPr>
              <a:t>The</a:t>
            </a:r>
            <a:r>
              <a:rPr sz="2325" b="0" i="0">
                <a:solidFill>
                  <a:srgbClr val="4F3433"/>
                </a:solidFill>
                <a:latin typeface="Montserrat"/>
              </a:rPr>
              <a:t> </a:t>
            </a:r>
            <a:r>
              <a:rPr sz="2325" b="1" i="0">
                <a:solidFill>
                  <a:srgbClr val="4F3433"/>
                </a:solidFill>
                <a:latin typeface="Montserrat"/>
              </a:rPr>
              <a:t>Composter:</a:t>
            </a:r>
          </a:p>
          <a:p>
            <a:pPr algn="ctr">
              <a:lnSpc>
                <a:spcPts val="2976"/>
              </a:lnSpc>
            </a:pPr>
            <a:r>
              <a:rPr sz="2325" b="0" i="0">
                <a:solidFill>
                  <a:srgbClr val="4F3433"/>
                </a:solidFill>
                <a:latin typeface="Montserrat"/>
              </a:rPr>
              <a:t>small and red, lives in</a:t>
            </a:r>
          </a:p>
          <a:p>
            <a:pPr algn="ctr">
              <a:lnSpc>
                <a:spcPts val="2976"/>
              </a:lnSpc>
            </a:pPr>
            <a:r>
              <a:rPr sz="2325" b="0" i="0">
                <a:solidFill>
                  <a:srgbClr val="4F3433"/>
                </a:solidFill>
                <a:latin typeface="Montserrat"/>
              </a:rPr>
              <a:t>the leaves and turns</a:t>
            </a:r>
          </a:p>
          <a:p>
            <a:pPr algn="ctr">
              <a:lnSpc>
                <a:spcPts val="2976"/>
              </a:lnSpc>
            </a:pPr>
            <a:r>
              <a:rPr sz="2325" b="0" i="0">
                <a:solidFill>
                  <a:srgbClr val="4F3433"/>
                </a:solidFill>
                <a:latin typeface="Montserrat"/>
              </a:rPr>
              <a:t>them into compost</a:t>
            </a:r>
          </a:p>
        </p:txBody>
      </p:sp>
      <p:sp>
        <p:nvSpPr>
          <p:cNvPr id="5" name="The Mixer: pale, eats its way through th"/>
          <p:cNvSpPr txBox="1"/>
          <p:nvPr/>
        </p:nvSpPr>
        <p:spPr>
          <a:xfrm>
            <a:off x="3590925" y="8991600"/>
            <a:ext cx="4000500" cy="12291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976"/>
              </a:lnSpc>
            </a:pPr>
            <a:r>
              <a:rPr sz="2325" b="1" i="0">
                <a:solidFill>
                  <a:srgbClr val="4F3433"/>
                </a:solidFill>
                <a:latin typeface="Montserrat"/>
              </a:rPr>
              <a:t>The</a:t>
            </a:r>
            <a:r>
              <a:rPr sz="2325" b="0" i="0">
                <a:solidFill>
                  <a:srgbClr val="4F3433"/>
                </a:solidFill>
                <a:latin typeface="Montserrat"/>
              </a:rPr>
              <a:t> </a:t>
            </a:r>
            <a:r>
              <a:rPr sz="2325" b="1" i="0">
                <a:solidFill>
                  <a:srgbClr val="4F3433"/>
                </a:solidFill>
                <a:latin typeface="Montserrat"/>
              </a:rPr>
              <a:t>Mixer:</a:t>
            </a:r>
            <a:r>
              <a:rPr sz="2325" b="0" i="0">
                <a:solidFill>
                  <a:srgbClr val="4F3433"/>
                </a:solidFill>
                <a:latin typeface="Montserrat"/>
              </a:rPr>
              <a:t> pale,</a:t>
            </a:r>
          </a:p>
          <a:p>
            <a:pPr algn="ctr">
              <a:lnSpc>
                <a:spcPts val="2976"/>
              </a:lnSpc>
            </a:pPr>
            <a:r>
              <a:rPr sz="2325" b="0" i="0">
                <a:solidFill>
                  <a:srgbClr val="4F3433"/>
                </a:solidFill>
                <a:latin typeface="Montserrat"/>
              </a:rPr>
              <a:t>eats its way</a:t>
            </a:r>
          </a:p>
          <a:p>
            <a:pPr algn="ctr">
              <a:lnSpc>
                <a:spcPts val="2976"/>
              </a:lnSpc>
            </a:pPr>
            <a:r>
              <a:rPr sz="2325" b="0" i="0">
                <a:solidFill>
                  <a:srgbClr val="4F3433"/>
                </a:solidFill>
                <a:latin typeface="Montserrat"/>
              </a:rPr>
              <a:t>through the topsoil</a:t>
            </a:r>
          </a:p>
        </p:txBody>
      </p:sp>
      <p:sp>
        <p:nvSpPr>
          <p:cNvPr id="6" name="The Engineer: big and dark-headed, digs "/>
          <p:cNvSpPr txBox="1"/>
          <p:nvPr/>
        </p:nvSpPr>
        <p:spPr>
          <a:xfrm>
            <a:off x="6553200" y="8991600"/>
            <a:ext cx="4000500" cy="19850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976"/>
              </a:lnSpc>
            </a:pPr>
            <a:r>
              <a:rPr sz="2325" b="1" i="0">
                <a:solidFill>
                  <a:srgbClr val="4F3433"/>
                </a:solidFill>
                <a:latin typeface="Montserrat"/>
              </a:rPr>
              <a:t>The</a:t>
            </a:r>
            <a:r>
              <a:rPr sz="2325" b="0" i="0">
                <a:solidFill>
                  <a:srgbClr val="4F3433"/>
                </a:solidFill>
                <a:latin typeface="Montserrat"/>
              </a:rPr>
              <a:t> </a:t>
            </a:r>
            <a:r>
              <a:rPr sz="2325" b="1" i="0">
                <a:solidFill>
                  <a:srgbClr val="4F3433"/>
                </a:solidFill>
                <a:latin typeface="Montserrat"/>
              </a:rPr>
              <a:t>Engineer:</a:t>
            </a:r>
            <a:r>
              <a:rPr sz="2325" b="0" i="0">
                <a:solidFill>
                  <a:srgbClr val="4F3433"/>
                </a:solidFill>
                <a:latin typeface="Montserrat"/>
              </a:rPr>
              <a:t> big</a:t>
            </a:r>
          </a:p>
          <a:p>
            <a:pPr algn="ctr">
              <a:lnSpc>
                <a:spcPts val="2976"/>
              </a:lnSpc>
            </a:pPr>
            <a:r>
              <a:rPr sz="2325" b="0" i="0">
                <a:solidFill>
                  <a:srgbClr val="4F3433"/>
                </a:solidFill>
                <a:latin typeface="Montserrat"/>
              </a:rPr>
              <a:t>and dark-headed,</a:t>
            </a:r>
          </a:p>
          <a:p>
            <a:pPr algn="ctr">
              <a:lnSpc>
                <a:spcPts val="2976"/>
              </a:lnSpc>
            </a:pPr>
            <a:r>
              <a:rPr sz="2325" b="0" i="0">
                <a:solidFill>
                  <a:srgbClr val="4F3433"/>
                </a:solidFill>
                <a:latin typeface="Montserrat"/>
              </a:rPr>
              <a:t>digs deep tunnels</a:t>
            </a:r>
          </a:p>
          <a:p>
            <a:pPr algn="ctr">
              <a:lnSpc>
                <a:spcPts val="2976"/>
              </a:lnSpc>
            </a:pPr>
            <a:r>
              <a:rPr sz="2325" b="0" i="0">
                <a:solidFill>
                  <a:srgbClr val="4F3433"/>
                </a:solidFill>
                <a:latin typeface="Montserrat"/>
              </a:rPr>
              <a:t>and pulls leaves</a:t>
            </a:r>
          </a:p>
          <a:p>
            <a:pPr algn="ctr">
              <a:lnSpc>
                <a:spcPts val="2976"/>
              </a:lnSpc>
            </a:pPr>
            <a:r>
              <a:rPr sz="2325" b="0" i="0">
                <a:solidFill>
                  <a:srgbClr val="4F3433"/>
                </a:solidFill>
                <a:latin typeface="Montserrat"/>
              </a:rPr>
              <a:t>down at night</a:t>
            </a:r>
          </a:p>
        </p:txBody>
      </p:sp>
      <p:pic>
        <p:nvPicPr>
          <p:cNvPr id="7" name="SFW 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4859000"/>
            <a:ext cx="1428750" cy="123759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