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Fonts: Fredoka (headings, labels) and Montserrat (body), free on Google Fonts and in Canva.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Earthworm Society of Britain https://www.earthwormsoc.org.uk/worldwormday ; Darwin's cast measurements via Darwin Online https://darwin-online.org.uk/converted/Ancillary/reviews/1881_Earthworms_A1333.html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Nautilus https://nautil.us/why-darwin-admired-the-humble-earthworm-361515 ; Darwin Correspondence Project letter 13460 https://www.darwinproject.ac.uk/view/letters/DCP-LETT-13460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Bouché 1977 (ecological groups); Colorado State Extension: https://extension.colostate.edu/resource/earthworms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y = 1250 to 1500 empty for the poll sticker: The Composter / The Mixer / The Engineer.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2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Jar with party worm" descr="f1-jar-t3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6339" y="8238243"/>
            <a:ext cx="6541823" cy="10049757"/>
          </a:xfrm>
          <a:prstGeom prst="rect">
            <a:avLst/>
          </a:prstGeom>
        </p:spPr>
      </p:pic>
      <p:sp>
        <p:nvSpPr>
          <p:cNvPr id="3" name="Is World Earthworm Day even a thing?"/>
          <p:cNvSpPr txBox="1"/>
          <p:nvPr/>
        </p:nvSpPr>
        <p:spPr>
          <a:xfrm>
            <a:off x="0" y="3771900"/>
            <a:ext cx="10287000" cy="21556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7800" b="1" i="0">
                <a:solidFill>
                  <a:srgbClr val="4F3433"/>
                </a:solidFill>
                <a:latin typeface="Fredoka"/>
              </a:rPr>
              <a:t>Is World Earthworm</a:t>
            </a:r>
          </a:p>
          <a:p>
            <a:pPr algn="ctr">
              <a:lnSpc>
                <a:spcPct val="104000"/>
              </a:lnSpc>
            </a:pPr>
            <a:r>
              <a:rPr sz="7800" b="1" i="0">
                <a:solidFill>
                  <a:srgbClr val="4F3433"/>
                </a:solidFill>
                <a:latin typeface="Fredoka"/>
              </a:rPr>
              <a:t>Day even a thing?</a:t>
            </a:r>
          </a:p>
        </p:txBody>
      </p:sp>
      <p:pic>
        <p:nvPicPr>
          <p:cNvPr id="4" name="SFW logo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0" y="14859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Book with worm" descr="f2-book-t1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4311" y="10223768"/>
            <a:ext cx="6766290" cy="4635393"/>
          </a:xfrm>
          <a:prstGeom prst="rect">
            <a:avLst/>
          </a:prstGeom>
        </p:spPr>
      </p:pic>
      <p:sp>
        <p:nvSpPr>
          <p:cNvPr id="3" name="Yes! Since 2016."/>
          <p:cNvSpPr txBox="1"/>
          <p:nvPr/>
        </p:nvSpPr>
        <p:spPr>
          <a:xfrm>
            <a:off x="0" y="2533650"/>
            <a:ext cx="10287000" cy="12047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8400" b="1" i="0">
                <a:solidFill>
                  <a:srgbClr val="4F3433"/>
                </a:solidFill>
                <a:latin typeface="Fredoka"/>
              </a:rPr>
              <a:t>Yes! Since 2016.</a:t>
            </a:r>
          </a:p>
        </p:txBody>
      </p:sp>
      <p:sp>
        <p:nvSpPr>
          <p:cNvPr id="4" name="The Earthworm Society of Britain picked "/>
          <p:cNvSpPr txBox="1"/>
          <p:nvPr/>
        </p:nvSpPr>
        <p:spPr>
          <a:xfrm>
            <a:off x="190500" y="3962400"/>
            <a:ext cx="9906000" cy="15720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6000"/>
              </a:lnSpc>
            </a:pPr>
            <a:r>
              <a:rPr sz="2850" b="0" i="0">
                <a:solidFill>
                  <a:srgbClr val="5B4C46"/>
                </a:solidFill>
                <a:latin typeface="Montserrat"/>
              </a:rPr>
              <a:t>The Earthworm Society of Britain picked 21</a:t>
            </a:r>
          </a:p>
          <a:p>
            <a:pPr algn="ctr">
              <a:lnSpc>
                <a:spcPct val="136000"/>
              </a:lnSpc>
            </a:pPr>
            <a:r>
              <a:rPr sz="2850" b="0" i="0">
                <a:solidFill>
                  <a:srgbClr val="5B4C46"/>
                </a:solidFill>
                <a:latin typeface="Montserrat"/>
              </a:rPr>
              <a:t>October to honour Charles Darwin. His book on</a:t>
            </a:r>
          </a:p>
          <a:p>
            <a:pPr algn="ctr">
              <a:lnSpc>
                <a:spcPct val="136000"/>
              </a:lnSpc>
            </a:pPr>
            <a:r>
              <a:rPr sz="2850" b="0" i="0">
                <a:solidFill>
                  <a:srgbClr val="5B4C46"/>
                </a:solidFill>
                <a:latin typeface="Montserrat"/>
              </a:rPr>
              <a:t>worms came out in October 1881.</a:t>
            </a:r>
          </a:p>
        </p:txBody>
      </p:sp>
      <p:sp>
        <p:nvSpPr>
          <p:cNvPr id="5" name="Darwin studied worms for over 40 years. "/>
          <p:cNvSpPr txBox="1"/>
          <p:nvPr/>
        </p:nvSpPr>
        <p:spPr>
          <a:xfrm>
            <a:off x="190500" y="5867400"/>
            <a:ext cx="9906000" cy="15720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6000"/>
              </a:lnSpc>
            </a:pPr>
            <a:r>
              <a:rPr sz="2850" b="0" i="0">
                <a:solidFill>
                  <a:srgbClr val="5B4C46"/>
                </a:solidFill>
                <a:latin typeface="Montserrat"/>
              </a:rPr>
              <a:t>Darwin studied worms for over 40 years. The</a:t>
            </a:r>
          </a:p>
          <a:p>
            <a:pPr algn="ctr">
              <a:lnSpc>
                <a:spcPct val="136000"/>
              </a:lnSpc>
            </a:pPr>
            <a:r>
              <a:rPr sz="2850" b="0" i="0">
                <a:solidFill>
                  <a:srgbClr val="5B4C46"/>
                </a:solidFill>
                <a:latin typeface="Montserrat"/>
              </a:rPr>
              <a:t>worm book was his last, published a year before</a:t>
            </a:r>
          </a:p>
          <a:p>
            <a:pPr algn="ctr">
              <a:lnSpc>
                <a:spcPct val="136000"/>
              </a:lnSpc>
            </a:pPr>
            <a:r>
              <a:rPr sz="2850" b="0" i="0">
                <a:solidFill>
                  <a:srgbClr val="5B4C46"/>
                </a:solidFill>
                <a:latin typeface="Montserrat"/>
              </a:rPr>
              <a:t>he died.</a:t>
            </a:r>
          </a:p>
        </p:txBody>
      </p:sp>
      <p:sp>
        <p:nvSpPr>
          <p:cNvPr id="6" name="He weighed the casts worms left on the g"/>
          <p:cNvSpPr txBox="1"/>
          <p:nvPr/>
        </p:nvSpPr>
        <p:spPr>
          <a:xfrm>
            <a:off x="190500" y="7772400"/>
            <a:ext cx="9906000" cy="15720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6000"/>
              </a:lnSpc>
            </a:pPr>
            <a:r>
              <a:rPr sz="2850" b="0" i="0">
                <a:solidFill>
                  <a:srgbClr val="5B4C46"/>
                </a:solidFill>
                <a:latin typeface="Montserrat"/>
              </a:rPr>
              <a:t>He weighed the casts worms left on the ground</a:t>
            </a:r>
          </a:p>
          <a:p>
            <a:pPr algn="ctr">
              <a:lnSpc>
                <a:spcPct val="136000"/>
              </a:lnSpc>
            </a:pPr>
            <a:r>
              <a:rPr sz="2850" b="0" i="0">
                <a:solidFill>
                  <a:srgbClr val="5B4C46"/>
                </a:solidFill>
                <a:latin typeface="Montserrat"/>
              </a:rPr>
              <a:t>and found they bring up 7 to 18 tons of soil per</a:t>
            </a:r>
          </a:p>
          <a:p>
            <a:pPr algn="ctr">
              <a:lnSpc>
                <a:spcPct val="136000"/>
              </a:lnSpc>
            </a:pPr>
            <a:r>
              <a:rPr sz="2850" b="0" i="0">
                <a:solidFill>
                  <a:srgbClr val="5B4C46"/>
                </a:solidFill>
                <a:latin typeface="Montserrat"/>
              </a:rPr>
              <a:t>acre every year.</a:t>
            </a:r>
          </a:p>
        </p:txBody>
      </p:sp>
      <p:pic>
        <p:nvPicPr>
          <p:cNvPr id="7" name="SFW logo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0" y="14859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ano with pots" descr="f3-piano-keys-k2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628" y="6098735"/>
            <a:ext cx="7768828" cy="5871873"/>
          </a:xfrm>
          <a:prstGeom prst="rect">
            <a:avLst/>
          </a:prstGeom>
        </p:spPr>
      </p:pic>
      <p:pic>
        <p:nvPicPr>
          <p:cNvPr id="3" name="Music notes" descr="notes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25" y="3962400"/>
            <a:ext cx="4838700" cy="3362325"/>
          </a:xfrm>
          <a:prstGeom prst="rect">
            <a:avLst/>
          </a:prstGeom>
        </p:spPr>
      </p:pic>
      <p:pic>
        <p:nvPicPr>
          <p:cNvPr id="4" name="Small book" descr="f2-book-t1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661" y="13483506"/>
            <a:ext cx="2360334" cy="1616997"/>
          </a:xfrm>
          <a:prstGeom prst="rect">
            <a:avLst/>
          </a:prstGeom>
        </p:spPr>
      </p:pic>
      <p:sp>
        <p:nvSpPr>
          <p:cNvPr id="5" name="Arrow 1"/>
          <p:cNvSpPr/>
          <p:nvPr/>
        </p:nvSpPr>
        <p:spPr>
          <a:xfrm>
            <a:off x="5025919" y="4286250"/>
            <a:ext cx="689081" cy="3276600"/>
          </a:xfrm>
          <a:custGeom>
            <a:avLst/>
            <a:gdLst/>
            <a:ahLst/>
            <a:cxnLst/>
            <a:rect l="l" t="t" r="r" b="b"/>
            <a:pathLst>
              <a:path w="689081" h="3276600">
                <a:moveTo>
                  <a:pt x="689081" y="0"/>
                </a:moveTo>
                <a:lnTo>
                  <a:pt x="612140" y="127093"/>
                </a:lnTo>
                <a:lnTo>
                  <a:pt x="539750" y="255005"/>
                </a:lnTo>
                <a:lnTo>
                  <a:pt x="471911" y="383738"/>
                </a:lnTo>
                <a:lnTo>
                  <a:pt x="408623" y="513292"/>
                </a:lnTo>
                <a:lnTo>
                  <a:pt x="349885" y="643665"/>
                </a:lnTo>
                <a:lnTo>
                  <a:pt x="295699" y="774859"/>
                </a:lnTo>
                <a:lnTo>
                  <a:pt x="246063" y="906873"/>
                </a:lnTo>
                <a:lnTo>
                  <a:pt x="200978" y="1039707"/>
                </a:lnTo>
                <a:lnTo>
                  <a:pt x="160443" y="1173361"/>
                </a:lnTo>
                <a:lnTo>
                  <a:pt x="124460" y="1307835"/>
                </a:lnTo>
                <a:lnTo>
                  <a:pt x="93028" y="1443130"/>
                </a:lnTo>
                <a:lnTo>
                  <a:pt x="66146" y="1579245"/>
                </a:lnTo>
                <a:lnTo>
                  <a:pt x="43815" y="1716180"/>
                </a:lnTo>
                <a:lnTo>
                  <a:pt x="26035" y="1853935"/>
                </a:lnTo>
                <a:lnTo>
                  <a:pt x="12806" y="1992511"/>
                </a:lnTo>
                <a:lnTo>
                  <a:pt x="4128" y="2131907"/>
                </a:lnTo>
                <a:lnTo>
                  <a:pt x="0" y="2272123"/>
                </a:lnTo>
                <a:lnTo>
                  <a:pt x="423" y="2413159"/>
                </a:lnTo>
                <a:lnTo>
                  <a:pt x="5398" y="2555015"/>
                </a:lnTo>
                <a:lnTo>
                  <a:pt x="14923" y="2697692"/>
                </a:lnTo>
                <a:lnTo>
                  <a:pt x="28999" y="2841188"/>
                </a:lnTo>
                <a:lnTo>
                  <a:pt x="47625" y="2985505"/>
                </a:lnTo>
                <a:lnTo>
                  <a:pt x="70803" y="3130643"/>
                </a:lnTo>
                <a:lnTo>
                  <a:pt x="98531" y="327660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Arrow 2"/>
          <p:cNvSpPr/>
          <p:nvPr/>
        </p:nvSpPr>
        <p:spPr>
          <a:xfrm>
            <a:off x="6187519" y="8105775"/>
            <a:ext cx="965756" cy="3657600"/>
          </a:xfrm>
          <a:custGeom>
            <a:avLst/>
            <a:gdLst/>
            <a:ahLst/>
            <a:cxnLst/>
            <a:rect l="l" t="t" r="r" b="b"/>
            <a:pathLst>
              <a:path w="965756" h="3657600">
                <a:moveTo>
                  <a:pt x="3731" y="3657600"/>
                </a:moveTo>
                <a:lnTo>
                  <a:pt x="0" y="3493676"/>
                </a:lnTo>
                <a:lnTo>
                  <a:pt x="80" y="3330754"/>
                </a:lnTo>
                <a:lnTo>
                  <a:pt x="3969" y="3168834"/>
                </a:lnTo>
                <a:lnTo>
                  <a:pt x="11669" y="3007916"/>
                </a:lnTo>
                <a:lnTo>
                  <a:pt x="23178" y="2848000"/>
                </a:lnTo>
                <a:lnTo>
                  <a:pt x="38497" y="2689086"/>
                </a:lnTo>
                <a:lnTo>
                  <a:pt x="57627" y="2531174"/>
                </a:lnTo>
                <a:lnTo>
                  <a:pt x="80566" y="2374265"/>
                </a:lnTo>
                <a:lnTo>
                  <a:pt x="107315" y="2218358"/>
                </a:lnTo>
                <a:lnTo>
                  <a:pt x="137875" y="2063452"/>
                </a:lnTo>
                <a:lnTo>
                  <a:pt x="172244" y="1909549"/>
                </a:lnTo>
                <a:lnTo>
                  <a:pt x="210423" y="1756648"/>
                </a:lnTo>
                <a:lnTo>
                  <a:pt x="252413" y="1604749"/>
                </a:lnTo>
                <a:lnTo>
                  <a:pt x="298212" y="1453852"/>
                </a:lnTo>
                <a:lnTo>
                  <a:pt x="347822" y="1303958"/>
                </a:lnTo>
                <a:lnTo>
                  <a:pt x="401241" y="1155065"/>
                </a:lnTo>
                <a:lnTo>
                  <a:pt x="458470" y="1007174"/>
                </a:lnTo>
                <a:lnTo>
                  <a:pt x="519510" y="860286"/>
                </a:lnTo>
                <a:lnTo>
                  <a:pt x="584359" y="714400"/>
                </a:lnTo>
                <a:lnTo>
                  <a:pt x="653019" y="569516"/>
                </a:lnTo>
                <a:lnTo>
                  <a:pt x="725488" y="425634"/>
                </a:lnTo>
                <a:lnTo>
                  <a:pt x="801767" y="282754"/>
                </a:lnTo>
                <a:lnTo>
                  <a:pt x="881857" y="140876"/>
                </a:lnTo>
                <a:lnTo>
                  <a:pt x="965756" y="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row 3"/>
          <p:cNvSpPr/>
          <p:nvPr/>
        </p:nvSpPr>
        <p:spPr>
          <a:xfrm>
            <a:off x="2030677" y="12744450"/>
            <a:ext cx="350573" cy="1047750"/>
          </a:xfrm>
          <a:custGeom>
            <a:avLst/>
            <a:gdLst/>
            <a:ahLst/>
            <a:cxnLst/>
            <a:rect l="l" t="t" r="r" b="b"/>
            <a:pathLst>
              <a:path w="350573" h="1047750">
                <a:moveTo>
                  <a:pt x="350573" y="0"/>
                </a:moveTo>
                <a:lnTo>
                  <a:pt x="315764" y="37000"/>
                </a:lnTo>
                <a:lnTo>
                  <a:pt x="282774" y="74579"/>
                </a:lnTo>
                <a:lnTo>
                  <a:pt x="251602" y="112737"/>
                </a:lnTo>
                <a:lnTo>
                  <a:pt x="222250" y="151474"/>
                </a:lnTo>
                <a:lnTo>
                  <a:pt x="194717" y="190789"/>
                </a:lnTo>
                <a:lnTo>
                  <a:pt x="169003" y="230684"/>
                </a:lnTo>
                <a:lnTo>
                  <a:pt x="145108" y="271157"/>
                </a:lnTo>
                <a:lnTo>
                  <a:pt x="123031" y="312208"/>
                </a:lnTo>
                <a:lnTo>
                  <a:pt x="102774" y="353839"/>
                </a:lnTo>
                <a:lnTo>
                  <a:pt x="84336" y="396048"/>
                </a:lnTo>
                <a:lnTo>
                  <a:pt x="67717" y="438836"/>
                </a:lnTo>
                <a:lnTo>
                  <a:pt x="52917" y="482203"/>
                </a:lnTo>
                <a:lnTo>
                  <a:pt x="39936" y="526149"/>
                </a:lnTo>
                <a:lnTo>
                  <a:pt x="28774" y="570673"/>
                </a:lnTo>
                <a:lnTo>
                  <a:pt x="19430" y="615776"/>
                </a:lnTo>
                <a:lnTo>
                  <a:pt x="11906" y="661458"/>
                </a:lnTo>
                <a:lnTo>
                  <a:pt x="6201" y="707719"/>
                </a:lnTo>
                <a:lnTo>
                  <a:pt x="2315" y="754559"/>
                </a:lnTo>
                <a:lnTo>
                  <a:pt x="248" y="801977"/>
                </a:lnTo>
                <a:lnTo>
                  <a:pt x="0" y="849974"/>
                </a:lnTo>
                <a:lnTo>
                  <a:pt x="1571" y="898550"/>
                </a:lnTo>
                <a:lnTo>
                  <a:pt x="4961" y="947704"/>
                </a:lnTo>
                <a:lnTo>
                  <a:pt x="10170" y="997438"/>
                </a:lnTo>
                <a:lnTo>
                  <a:pt x="17198" y="104775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arwin was obsessed"/>
          <p:cNvSpPr txBox="1"/>
          <p:nvPr/>
        </p:nvSpPr>
        <p:spPr>
          <a:xfrm>
            <a:off x="0" y="2533650"/>
            <a:ext cx="10287000" cy="11254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7800" b="1" i="0">
                <a:solidFill>
                  <a:srgbClr val="4F3433"/>
                </a:solidFill>
                <a:latin typeface="Fredoka"/>
              </a:rPr>
              <a:t>Darwin was obsessed</a:t>
            </a:r>
          </a:p>
        </p:txBody>
      </p:sp>
      <p:sp>
        <p:nvSpPr>
          <p:cNvPr id="9" name="Loud music didn’t bother them. But with "/>
          <p:cNvSpPr txBox="1"/>
          <p:nvPr/>
        </p:nvSpPr>
        <p:spPr>
          <a:xfrm>
            <a:off x="5905500" y="3771900"/>
            <a:ext cx="4857750" cy="1695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4F3433"/>
                </a:solidFill>
                <a:latin typeface="Fredoka"/>
              </a:rPr>
              <a:t>Loud music didn’t bother them.</a:t>
            </a:r>
          </a:p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4F3433"/>
                </a:solidFill>
                <a:latin typeface="Fredoka"/>
              </a:rPr>
              <a:t>But with their pots on the piano,</a:t>
            </a:r>
          </a:p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4F3433"/>
                </a:solidFill>
                <a:latin typeface="Fredoka"/>
              </a:rPr>
              <a:t>one struck note sent them diving</a:t>
            </a:r>
          </a:p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4F3433"/>
                </a:solidFill>
                <a:latin typeface="Fredoka"/>
              </a:rPr>
              <a:t>into their burrows. Worms feel</a:t>
            </a:r>
          </a:p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4F3433"/>
                </a:solidFill>
                <a:latin typeface="Fredoka"/>
              </a:rPr>
              <a:t>vibrations.</a:t>
            </a:r>
          </a:p>
        </p:txBody>
      </p:sp>
      <p:sp>
        <p:nvSpPr>
          <p:cNvPr id="10" name="He scattered about 300 paper triangles n"/>
          <p:cNvSpPr txBox="1"/>
          <p:nvPr/>
        </p:nvSpPr>
        <p:spPr>
          <a:xfrm>
            <a:off x="6286500" y="11391900"/>
            <a:ext cx="4572000" cy="1695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4F3433"/>
                </a:solidFill>
                <a:latin typeface="Fredoka"/>
              </a:rPr>
              <a:t>He scattered about 300 paper</a:t>
            </a:r>
          </a:p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4F3433"/>
                </a:solidFill>
                <a:latin typeface="Fredoka"/>
              </a:rPr>
              <a:t>triangles near their burrows.</a:t>
            </a:r>
          </a:p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4F3433"/>
                </a:solidFill>
                <a:latin typeface="Fredoka"/>
              </a:rPr>
              <a:t>Most were pulled in by the</a:t>
            </a:r>
          </a:p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4F3433"/>
                </a:solidFill>
                <a:latin typeface="Fredoka"/>
              </a:rPr>
              <a:t>pointed end, the same way they</a:t>
            </a:r>
          </a:p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4F3433"/>
                </a:solidFill>
                <a:latin typeface="Fredoka"/>
              </a:rPr>
              <a:t>pull leaves in tip first.</a:t>
            </a:r>
          </a:p>
        </p:txBody>
      </p:sp>
      <p:sp>
        <p:nvSpPr>
          <p:cNvPr id="11" name="At his publisher’s November 1881 sale, t"/>
          <p:cNvSpPr txBox="1"/>
          <p:nvPr/>
        </p:nvSpPr>
        <p:spPr>
          <a:xfrm>
            <a:off x="571500" y="11391900"/>
            <a:ext cx="5715000" cy="10553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4F3433"/>
                </a:solidFill>
                <a:latin typeface="Fredoka"/>
              </a:rPr>
              <a:t>At his publisher’s November 1881 sale,</a:t>
            </a:r>
          </a:p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4F3433"/>
                </a:solidFill>
                <a:latin typeface="Fredoka"/>
              </a:rPr>
              <a:t>the worm book sold 3,500 copies. </a:t>
            </a:r>
            <a:r>
              <a:rPr sz="2100" b="0" i="1">
                <a:solidFill>
                  <a:srgbClr val="4F3433"/>
                </a:solidFill>
                <a:latin typeface="Fredoka"/>
              </a:rPr>
              <a:t>Origin</a:t>
            </a:r>
          </a:p>
          <a:p>
            <a:pPr algn="l">
              <a:lnSpc>
                <a:spcPct val="120000"/>
              </a:lnSpc>
            </a:pPr>
            <a:r>
              <a:rPr sz="2100" b="0" i="1">
                <a:solidFill>
                  <a:srgbClr val="4F3433"/>
                </a:solidFill>
                <a:latin typeface="Fredoka"/>
              </a:rPr>
              <a:t>of</a:t>
            </a:r>
            <a:r>
              <a:rPr sz="2100" b="0" i="0">
                <a:solidFill>
                  <a:srgbClr val="4F3433"/>
                </a:solidFill>
                <a:latin typeface="Fredoka"/>
              </a:rPr>
              <a:t> </a:t>
            </a:r>
            <a:r>
              <a:rPr sz="2100" b="0" i="1">
                <a:solidFill>
                  <a:srgbClr val="4F3433"/>
                </a:solidFill>
                <a:latin typeface="Fredoka"/>
              </a:rPr>
              <a:t>Species</a:t>
            </a:r>
            <a:r>
              <a:rPr sz="2100" b="0" i="0">
                <a:solidFill>
                  <a:srgbClr val="4F3433"/>
                </a:solidFill>
                <a:latin typeface="Fredoka"/>
              </a:rPr>
              <a:t> sold 600.</a:t>
            </a:r>
          </a:p>
        </p:txBody>
      </p:sp>
      <p:pic>
        <p:nvPicPr>
          <p:cNvPr id="12" name="SFW logo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7250" y="14859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Jar with three worms" descr="f4-jar-t2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742" y="4173637"/>
            <a:ext cx="6075660" cy="11380391"/>
          </a:xfrm>
          <a:prstGeom prst="rect">
            <a:avLst/>
          </a:prstGeom>
        </p:spPr>
      </p:pic>
      <p:sp>
        <p:nvSpPr>
          <p:cNvPr id="3" name="Arrow 1"/>
          <p:cNvSpPr/>
          <p:nvPr/>
        </p:nvSpPr>
        <p:spPr>
          <a:xfrm>
            <a:off x="3848100" y="4476750"/>
            <a:ext cx="2724150" cy="2724150"/>
          </a:xfrm>
          <a:custGeom>
            <a:avLst/>
            <a:gdLst/>
            <a:ahLst/>
            <a:cxnLst/>
            <a:rect l="l" t="t" r="r" b="b"/>
            <a:pathLst>
              <a:path w="2724150" h="2724150">
                <a:moveTo>
                  <a:pt x="2724150" y="0"/>
                </a:moveTo>
                <a:lnTo>
                  <a:pt x="2643277" y="146139"/>
                </a:lnTo>
                <a:lnTo>
                  <a:pt x="2559566" y="289441"/>
                </a:lnTo>
                <a:lnTo>
                  <a:pt x="2473017" y="429905"/>
                </a:lnTo>
                <a:lnTo>
                  <a:pt x="2383631" y="567531"/>
                </a:lnTo>
                <a:lnTo>
                  <a:pt x="2291407" y="702320"/>
                </a:lnTo>
                <a:lnTo>
                  <a:pt x="2196346" y="834271"/>
                </a:lnTo>
                <a:lnTo>
                  <a:pt x="2098447" y="963384"/>
                </a:lnTo>
                <a:lnTo>
                  <a:pt x="1997710" y="1089660"/>
                </a:lnTo>
                <a:lnTo>
                  <a:pt x="1894136" y="1213098"/>
                </a:lnTo>
                <a:lnTo>
                  <a:pt x="1787723" y="1333698"/>
                </a:lnTo>
                <a:lnTo>
                  <a:pt x="1678474" y="1451461"/>
                </a:lnTo>
                <a:lnTo>
                  <a:pt x="1566386" y="1566386"/>
                </a:lnTo>
                <a:lnTo>
                  <a:pt x="1451461" y="1678474"/>
                </a:lnTo>
                <a:lnTo>
                  <a:pt x="1333698" y="1787723"/>
                </a:lnTo>
                <a:lnTo>
                  <a:pt x="1213098" y="1894136"/>
                </a:lnTo>
                <a:lnTo>
                  <a:pt x="1089660" y="1997710"/>
                </a:lnTo>
                <a:lnTo>
                  <a:pt x="963384" y="2098447"/>
                </a:lnTo>
                <a:lnTo>
                  <a:pt x="834271" y="2196346"/>
                </a:lnTo>
                <a:lnTo>
                  <a:pt x="702320" y="2291407"/>
                </a:lnTo>
                <a:lnTo>
                  <a:pt x="567531" y="2383631"/>
                </a:lnTo>
                <a:lnTo>
                  <a:pt x="429905" y="2473017"/>
                </a:lnTo>
                <a:lnTo>
                  <a:pt x="289441" y="2559566"/>
                </a:lnTo>
                <a:lnTo>
                  <a:pt x="146139" y="2643277"/>
                </a:lnTo>
                <a:lnTo>
                  <a:pt x="0" y="272415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Arrow 2"/>
          <p:cNvSpPr/>
          <p:nvPr/>
        </p:nvSpPr>
        <p:spPr>
          <a:xfrm>
            <a:off x="2105025" y="8572500"/>
            <a:ext cx="4467225" cy="1562100"/>
          </a:xfrm>
          <a:custGeom>
            <a:avLst/>
            <a:gdLst/>
            <a:ahLst/>
            <a:cxnLst/>
            <a:rect l="l" t="t" r="r" b="b"/>
            <a:pathLst>
              <a:path w="4467225" h="1562100">
                <a:moveTo>
                  <a:pt x="4467225" y="0"/>
                </a:moveTo>
                <a:lnTo>
                  <a:pt x="4262378" y="11574"/>
                </a:lnTo>
                <a:lnTo>
                  <a:pt x="4059158" y="27801"/>
                </a:lnTo>
                <a:lnTo>
                  <a:pt x="3857565" y="48682"/>
                </a:lnTo>
                <a:lnTo>
                  <a:pt x="3657600" y="74216"/>
                </a:lnTo>
                <a:lnTo>
                  <a:pt x="3459262" y="104403"/>
                </a:lnTo>
                <a:lnTo>
                  <a:pt x="3262551" y="139244"/>
                </a:lnTo>
                <a:lnTo>
                  <a:pt x="3067467" y="178738"/>
                </a:lnTo>
                <a:lnTo>
                  <a:pt x="2874010" y="222885"/>
                </a:lnTo>
                <a:lnTo>
                  <a:pt x="2682180" y="271686"/>
                </a:lnTo>
                <a:lnTo>
                  <a:pt x="2491978" y="325140"/>
                </a:lnTo>
                <a:lnTo>
                  <a:pt x="2303403" y="383247"/>
                </a:lnTo>
                <a:lnTo>
                  <a:pt x="2116455" y="446008"/>
                </a:lnTo>
                <a:lnTo>
                  <a:pt x="1931134" y="513422"/>
                </a:lnTo>
                <a:lnTo>
                  <a:pt x="1747441" y="585490"/>
                </a:lnTo>
                <a:lnTo>
                  <a:pt x="1565374" y="662211"/>
                </a:lnTo>
                <a:lnTo>
                  <a:pt x="1384935" y="743585"/>
                </a:lnTo>
                <a:lnTo>
                  <a:pt x="1206123" y="829613"/>
                </a:lnTo>
                <a:lnTo>
                  <a:pt x="1028938" y="920294"/>
                </a:lnTo>
                <a:lnTo>
                  <a:pt x="853380" y="1015628"/>
                </a:lnTo>
                <a:lnTo>
                  <a:pt x="679450" y="1115616"/>
                </a:lnTo>
                <a:lnTo>
                  <a:pt x="507147" y="1220257"/>
                </a:lnTo>
                <a:lnTo>
                  <a:pt x="336471" y="1329551"/>
                </a:lnTo>
                <a:lnTo>
                  <a:pt x="167422" y="1443499"/>
                </a:lnTo>
                <a:lnTo>
                  <a:pt x="0" y="1562100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rrow 3"/>
          <p:cNvSpPr/>
          <p:nvPr/>
        </p:nvSpPr>
        <p:spPr>
          <a:xfrm>
            <a:off x="4953000" y="11639550"/>
            <a:ext cx="1600200" cy="333375"/>
          </a:xfrm>
          <a:custGeom>
            <a:avLst/>
            <a:gdLst/>
            <a:ahLst/>
            <a:cxnLst/>
            <a:rect l="l" t="t" r="r" b="b"/>
            <a:pathLst>
              <a:path w="1600200" h="333375">
                <a:moveTo>
                  <a:pt x="1600200" y="0"/>
                </a:moveTo>
                <a:lnTo>
                  <a:pt x="1536187" y="26670"/>
                </a:lnTo>
                <a:lnTo>
                  <a:pt x="1471943" y="52229"/>
                </a:lnTo>
                <a:lnTo>
                  <a:pt x="1407468" y="76676"/>
                </a:lnTo>
                <a:lnTo>
                  <a:pt x="1342760" y="100013"/>
                </a:lnTo>
                <a:lnTo>
                  <a:pt x="1277822" y="122238"/>
                </a:lnTo>
                <a:lnTo>
                  <a:pt x="1212652" y="143351"/>
                </a:lnTo>
                <a:lnTo>
                  <a:pt x="1147250" y="163354"/>
                </a:lnTo>
                <a:lnTo>
                  <a:pt x="1081617" y="182245"/>
                </a:lnTo>
                <a:lnTo>
                  <a:pt x="1015752" y="200025"/>
                </a:lnTo>
                <a:lnTo>
                  <a:pt x="949656" y="216694"/>
                </a:lnTo>
                <a:lnTo>
                  <a:pt x="883328" y="232251"/>
                </a:lnTo>
                <a:lnTo>
                  <a:pt x="816769" y="246698"/>
                </a:lnTo>
                <a:lnTo>
                  <a:pt x="749978" y="260033"/>
                </a:lnTo>
                <a:lnTo>
                  <a:pt x="682956" y="272256"/>
                </a:lnTo>
                <a:lnTo>
                  <a:pt x="615702" y="283369"/>
                </a:lnTo>
                <a:lnTo>
                  <a:pt x="548217" y="293370"/>
                </a:lnTo>
                <a:lnTo>
                  <a:pt x="480500" y="302260"/>
                </a:lnTo>
                <a:lnTo>
                  <a:pt x="412552" y="310039"/>
                </a:lnTo>
                <a:lnTo>
                  <a:pt x="344372" y="316706"/>
                </a:lnTo>
                <a:lnTo>
                  <a:pt x="275960" y="322263"/>
                </a:lnTo>
                <a:lnTo>
                  <a:pt x="207318" y="326708"/>
                </a:lnTo>
                <a:lnTo>
                  <a:pt x="138443" y="330041"/>
                </a:lnTo>
                <a:lnTo>
                  <a:pt x="69337" y="332264"/>
                </a:lnTo>
                <a:lnTo>
                  <a:pt x="0" y="333375"/>
                </a:lnTo>
              </a:path>
            </a:pathLst>
          </a:custGeom>
          <a:noFill/>
          <a:ln w="25400">
            <a:solidFill>
              <a:srgbClr val="4F3433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Meet the three worms"/>
          <p:cNvSpPr txBox="1"/>
          <p:nvPr/>
        </p:nvSpPr>
        <p:spPr>
          <a:xfrm>
            <a:off x="0" y="2533650"/>
            <a:ext cx="10287000" cy="1046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7200" b="1" i="0">
                <a:solidFill>
                  <a:srgbClr val="4F3433"/>
                </a:solidFill>
                <a:latin typeface="Fredoka"/>
              </a:rPr>
              <a:t>Meet the three worms</a:t>
            </a:r>
          </a:p>
        </p:txBody>
      </p:sp>
      <p:sp>
        <p:nvSpPr>
          <p:cNvPr id="7" name="The Composter (epigeic). Small and red. "/>
          <p:cNvSpPr txBox="1"/>
          <p:nvPr/>
        </p:nvSpPr>
        <p:spPr>
          <a:xfrm>
            <a:off x="6667500" y="3962400"/>
            <a:ext cx="4191000" cy="2038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50" b="1" i="0">
                <a:solidFill>
                  <a:srgbClr val="4F3433"/>
                </a:solidFill>
                <a:latin typeface="Fredoka"/>
              </a:rPr>
              <a:t>The</a:t>
            </a:r>
            <a:r>
              <a:rPr sz="2550" b="0" i="0">
                <a:solidFill>
                  <a:srgbClr val="4F3433"/>
                </a:solidFill>
                <a:latin typeface="Fredoka"/>
              </a:rPr>
              <a:t> </a:t>
            </a:r>
            <a:r>
              <a:rPr sz="2550" b="1" i="0">
                <a:solidFill>
                  <a:srgbClr val="4F3433"/>
                </a:solidFill>
                <a:latin typeface="Fredoka"/>
              </a:rPr>
              <a:t>Composter</a:t>
            </a:r>
          </a:p>
          <a:p>
            <a:pPr algn="l">
              <a:lnSpc>
                <a:spcPct val="120000"/>
              </a:lnSpc>
            </a:pPr>
            <a:r>
              <a:rPr sz="2550" b="0" i="0">
                <a:solidFill>
                  <a:srgbClr val="4F3433"/>
                </a:solidFill>
                <a:latin typeface="Fredoka"/>
              </a:rPr>
              <a:t>(epigeic). Small and</a:t>
            </a:r>
          </a:p>
          <a:p>
            <a:pPr algn="l">
              <a:lnSpc>
                <a:spcPct val="120000"/>
              </a:lnSpc>
            </a:pPr>
            <a:r>
              <a:rPr sz="2550" b="0" i="0">
                <a:solidFill>
                  <a:srgbClr val="4F3433"/>
                </a:solidFill>
                <a:latin typeface="Fredoka"/>
              </a:rPr>
              <a:t>red. Lives in the leaves</a:t>
            </a:r>
          </a:p>
          <a:p>
            <a:pPr algn="l">
              <a:lnSpc>
                <a:spcPct val="120000"/>
              </a:lnSpc>
            </a:pPr>
            <a:r>
              <a:rPr sz="2550" b="0" i="0">
                <a:solidFill>
                  <a:srgbClr val="4F3433"/>
                </a:solidFill>
                <a:latin typeface="Fredoka"/>
              </a:rPr>
              <a:t>and turns them into</a:t>
            </a:r>
          </a:p>
          <a:p>
            <a:pPr algn="l">
              <a:lnSpc>
                <a:spcPct val="120000"/>
              </a:lnSpc>
            </a:pPr>
            <a:r>
              <a:rPr sz="2550" b="0" i="0">
                <a:solidFill>
                  <a:srgbClr val="4F3433"/>
                </a:solidFill>
                <a:latin typeface="Fredoka"/>
              </a:rPr>
              <a:t>compost.</a:t>
            </a:r>
          </a:p>
        </p:txBody>
      </p:sp>
      <p:sp>
        <p:nvSpPr>
          <p:cNvPr id="8" name="The Mixer (endogeic). Pale. Eats its way"/>
          <p:cNvSpPr txBox="1"/>
          <p:nvPr/>
        </p:nvSpPr>
        <p:spPr>
          <a:xfrm>
            <a:off x="6667500" y="8153400"/>
            <a:ext cx="4191000" cy="12611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50" b="1" i="0">
                <a:solidFill>
                  <a:srgbClr val="4F3433"/>
                </a:solidFill>
                <a:latin typeface="Fredoka"/>
              </a:rPr>
              <a:t>The</a:t>
            </a:r>
            <a:r>
              <a:rPr sz="2550" b="0" i="0">
                <a:solidFill>
                  <a:srgbClr val="4F3433"/>
                </a:solidFill>
                <a:latin typeface="Fredoka"/>
              </a:rPr>
              <a:t> </a:t>
            </a:r>
            <a:r>
              <a:rPr sz="2550" b="1" i="0">
                <a:solidFill>
                  <a:srgbClr val="4F3433"/>
                </a:solidFill>
                <a:latin typeface="Fredoka"/>
              </a:rPr>
              <a:t>Mixer</a:t>
            </a:r>
            <a:r>
              <a:rPr sz="2550" b="0" i="0">
                <a:solidFill>
                  <a:srgbClr val="4F3433"/>
                </a:solidFill>
                <a:latin typeface="Fredoka"/>
              </a:rPr>
              <a:t> (endogeic).</a:t>
            </a:r>
          </a:p>
          <a:p>
            <a:pPr algn="l">
              <a:lnSpc>
                <a:spcPct val="120000"/>
              </a:lnSpc>
            </a:pPr>
            <a:r>
              <a:rPr sz="2550" b="0" i="0">
                <a:solidFill>
                  <a:srgbClr val="4F3433"/>
                </a:solidFill>
                <a:latin typeface="Fredoka"/>
              </a:rPr>
              <a:t>Pale. Eats its way</a:t>
            </a:r>
          </a:p>
          <a:p>
            <a:pPr algn="l">
              <a:lnSpc>
                <a:spcPct val="120000"/>
              </a:lnSpc>
            </a:pPr>
            <a:r>
              <a:rPr sz="2550" b="0" i="0">
                <a:solidFill>
                  <a:srgbClr val="4F3433"/>
                </a:solidFill>
                <a:latin typeface="Fredoka"/>
              </a:rPr>
              <a:t>through the topsoil.</a:t>
            </a:r>
          </a:p>
        </p:txBody>
      </p:sp>
      <p:sp>
        <p:nvSpPr>
          <p:cNvPr id="9" name="The Engineer (anecic). Big and dark-head"/>
          <p:cNvSpPr txBox="1"/>
          <p:nvPr/>
        </p:nvSpPr>
        <p:spPr>
          <a:xfrm>
            <a:off x="6667500" y="11391900"/>
            <a:ext cx="4191000" cy="2038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50" b="1" i="0">
                <a:solidFill>
                  <a:srgbClr val="4F3433"/>
                </a:solidFill>
                <a:latin typeface="Fredoka"/>
              </a:rPr>
              <a:t>The</a:t>
            </a:r>
            <a:r>
              <a:rPr sz="2550" b="0" i="0">
                <a:solidFill>
                  <a:srgbClr val="4F3433"/>
                </a:solidFill>
                <a:latin typeface="Fredoka"/>
              </a:rPr>
              <a:t> </a:t>
            </a:r>
            <a:r>
              <a:rPr sz="2550" b="1" i="0">
                <a:solidFill>
                  <a:srgbClr val="4F3433"/>
                </a:solidFill>
                <a:latin typeface="Fredoka"/>
              </a:rPr>
              <a:t>Engineer</a:t>
            </a:r>
            <a:r>
              <a:rPr sz="2550" b="0" i="0">
                <a:solidFill>
                  <a:srgbClr val="4F3433"/>
                </a:solidFill>
                <a:latin typeface="Fredoka"/>
              </a:rPr>
              <a:t> (anecic).</a:t>
            </a:r>
          </a:p>
          <a:p>
            <a:pPr algn="l">
              <a:lnSpc>
                <a:spcPct val="120000"/>
              </a:lnSpc>
            </a:pPr>
            <a:r>
              <a:rPr sz="2550" b="0" i="0">
                <a:solidFill>
                  <a:srgbClr val="4F3433"/>
                </a:solidFill>
                <a:latin typeface="Fredoka"/>
              </a:rPr>
              <a:t>Big and dark-headed.</a:t>
            </a:r>
          </a:p>
          <a:p>
            <a:pPr algn="l">
              <a:lnSpc>
                <a:spcPct val="120000"/>
              </a:lnSpc>
            </a:pPr>
            <a:r>
              <a:rPr sz="2550" b="0" i="0">
                <a:solidFill>
                  <a:srgbClr val="4F3433"/>
                </a:solidFill>
                <a:latin typeface="Fredoka"/>
              </a:rPr>
              <a:t>Digs deep tunnels and</a:t>
            </a:r>
          </a:p>
          <a:p>
            <a:pPr algn="l">
              <a:lnSpc>
                <a:spcPct val="120000"/>
              </a:lnSpc>
            </a:pPr>
            <a:r>
              <a:rPr sz="2550" b="0" i="0">
                <a:solidFill>
                  <a:srgbClr val="4F3433"/>
                </a:solidFill>
                <a:latin typeface="Fredoka"/>
              </a:rPr>
              <a:t>pulls leaves down at</a:t>
            </a:r>
          </a:p>
          <a:p>
            <a:pPr algn="l">
              <a:lnSpc>
                <a:spcPct val="120000"/>
              </a:lnSpc>
            </a:pPr>
            <a:r>
              <a:rPr sz="2550" b="0" i="0">
                <a:solidFill>
                  <a:srgbClr val="4F3433"/>
                </a:solidFill>
                <a:latin typeface="Fredoka"/>
              </a:rPr>
              <a:t>night.</a:t>
            </a:r>
          </a:p>
        </p:txBody>
      </p:sp>
      <p:pic>
        <p:nvPicPr>
          <p:cNvPr id="10" name="SFW logo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0" y="14859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Three party jars" descr="f5-jars-t1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81000" y="5586016"/>
            <a:ext cx="10235123" cy="5672478"/>
          </a:xfrm>
          <a:prstGeom prst="rect">
            <a:avLst/>
          </a:prstGeom>
        </p:spPr>
      </p:pic>
      <p:sp>
        <p:nvSpPr>
          <p:cNvPr id="3" name="Which worm are you today?"/>
          <p:cNvSpPr txBox="1"/>
          <p:nvPr/>
        </p:nvSpPr>
        <p:spPr>
          <a:xfrm>
            <a:off x="0" y="2533650"/>
            <a:ext cx="10287000" cy="21556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7800" b="1" i="0">
                <a:solidFill>
                  <a:srgbClr val="4F3433"/>
                </a:solidFill>
                <a:latin typeface="Fredoka"/>
              </a:rPr>
              <a:t>Which worm are you</a:t>
            </a:r>
          </a:p>
          <a:p>
            <a:pPr algn="ctr">
              <a:lnSpc>
                <a:spcPct val="104000"/>
              </a:lnSpc>
            </a:pPr>
            <a:r>
              <a:rPr sz="7800" b="1" i="0">
                <a:solidFill>
                  <a:srgbClr val="4F3433"/>
                </a:solidFill>
                <a:latin typeface="Fredoka"/>
              </a:rPr>
              <a:t>today?</a:t>
            </a:r>
          </a:p>
        </p:txBody>
      </p:sp>
      <p:sp>
        <p:nvSpPr>
          <p:cNvPr id="4" name="The Composter"/>
          <p:cNvSpPr txBox="1"/>
          <p:nvPr/>
        </p:nvSpPr>
        <p:spPr>
          <a:xfrm>
            <a:off x="-381000" y="10915650"/>
            <a:ext cx="4191000" cy="5227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</a:pPr>
            <a:r>
              <a:rPr sz="3300" b="1" i="0">
                <a:solidFill>
                  <a:srgbClr val="4F3433"/>
                </a:solidFill>
                <a:latin typeface="Fredoka"/>
              </a:rPr>
              <a:t>The Composter</a:t>
            </a:r>
          </a:p>
        </p:txBody>
      </p:sp>
      <p:sp>
        <p:nvSpPr>
          <p:cNvPr id="5" name="The Mixer"/>
          <p:cNvSpPr txBox="1"/>
          <p:nvPr/>
        </p:nvSpPr>
        <p:spPr>
          <a:xfrm>
            <a:off x="3114675" y="10915650"/>
            <a:ext cx="4191000" cy="5227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</a:pPr>
            <a:r>
              <a:rPr sz="3300" b="1" i="0">
                <a:solidFill>
                  <a:srgbClr val="4F3433"/>
                </a:solidFill>
                <a:latin typeface="Fredoka"/>
              </a:rPr>
              <a:t>The Mixer</a:t>
            </a:r>
          </a:p>
        </p:txBody>
      </p:sp>
      <p:sp>
        <p:nvSpPr>
          <p:cNvPr id="6" name="The Engineer"/>
          <p:cNvSpPr txBox="1"/>
          <p:nvPr/>
        </p:nvSpPr>
        <p:spPr>
          <a:xfrm>
            <a:off x="6486525" y="10915650"/>
            <a:ext cx="4191000" cy="5227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</a:pPr>
            <a:r>
              <a:rPr sz="3300" b="1" i="0">
                <a:solidFill>
                  <a:srgbClr val="4F3433"/>
                </a:solidFill>
                <a:latin typeface="Fredoka"/>
              </a:rPr>
              <a:t>The Engineer</a:t>
            </a:r>
          </a:p>
        </p:txBody>
      </p:sp>
      <p:pic>
        <p:nvPicPr>
          <p:cNvPr id="7" name="SFW logo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0" y="14859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