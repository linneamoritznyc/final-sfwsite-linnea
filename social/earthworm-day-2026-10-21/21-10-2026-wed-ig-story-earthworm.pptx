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Montserrat (story text) and Fredoka (labels), free on Google Fonts and in Canva.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Earthworm Society of Britain https://www.earthwormsoc.org.uk/worldwormday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Darwin Online https://darwin-online.org.uk/converted/Ancillary/reviews/1881_Earthworms_A1333.html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Nautilus https://nautil.us/why-darwin-admired-the-humble-earthworm-361515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Nautilus https://nautil.us/why-darwin-admired-the-humble-earthworm-361515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Nautilus https://nautil.us/why-darwin-admired-the-humble-earthworm-361515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Darwin Correspondence Project letter 13460 https://www.darwinproject.ac.uk/view/letters/DCP-LETT-13460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Bouché 1977; Colorado State Extension https://extension.colostate.edu/resource/earthworms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y = 1250 to 1500 empty for the poll sticker: The Composter / The Mixer /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party worm" descr="f1-jar-t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021" y="8004528"/>
            <a:ext cx="6693958" cy="10283472"/>
          </a:xfrm>
          <a:prstGeom prst="rect">
            <a:avLst/>
          </a:prstGeom>
        </p:spPr>
      </p:pic>
      <p:sp>
        <p:nvSpPr>
          <p:cNvPr id="3" name="Is World Earthworm Day even a thing?"/>
          <p:cNvSpPr txBox="1"/>
          <p:nvPr/>
        </p:nvSpPr>
        <p:spPr>
          <a:xfrm>
            <a:off x="190500" y="2724150"/>
            <a:ext cx="99060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Is World Earthworm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Day even a thing?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Open book with worm" descr="f2-book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6096000"/>
            <a:ext cx="9144000" cy="6264294"/>
          </a:xfrm>
          <a:prstGeom prst="rect">
            <a:avLst/>
          </a:prstGeom>
        </p:spPr>
      </p:pic>
      <p:sp>
        <p:nvSpPr>
          <p:cNvPr id="3" name="It is! In 2016 the Earthworm Society of "/>
          <p:cNvSpPr txBox="1"/>
          <p:nvPr/>
        </p:nvSpPr>
        <p:spPr>
          <a:xfrm>
            <a:off x="190500" y="2724150"/>
            <a:ext cx="9906000" cy="276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It is! In 2016 the Earthworm Society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of Britain picked 21 October, to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honour Charles Darwin. His book on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worms came out in October 1881.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Worm and music note" descr="f3-note-b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97" y="5429250"/>
            <a:ext cx="9033607" cy="9239250"/>
          </a:xfrm>
          <a:prstGeom prst="rect">
            <a:avLst/>
          </a:prstGeom>
        </p:spPr>
      </p:pic>
      <p:sp>
        <p:nvSpPr>
          <p:cNvPr id="3" name="Darwin studied worms for over 40 years. "/>
          <p:cNvSpPr txBox="1"/>
          <p:nvPr/>
        </p:nvSpPr>
        <p:spPr>
          <a:xfrm>
            <a:off x="190500" y="2724150"/>
            <a:ext cx="9906000" cy="209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Darwin studied worms for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over 40 years. At one point he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wanted to know if they can hear.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ano with pots on a stool" descr="f4-stool-a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6762750"/>
            <a:ext cx="9144000" cy="7443469"/>
          </a:xfrm>
          <a:prstGeom prst="rect">
            <a:avLst/>
          </a:prstGeom>
        </p:spPr>
      </p:pic>
      <p:sp>
        <p:nvSpPr>
          <p:cNvPr id="3" name="So his son played the bassoon at them. D"/>
          <p:cNvSpPr txBox="1"/>
          <p:nvPr/>
        </p:nvSpPr>
        <p:spPr>
          <a:xfrm>
            <a:off x="190500" y="2724150"/>
            <a:ext cx="9906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So his son played the bassoon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at them. Darwin whistled and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shouted. His wife played the piano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loudly right next to their pots.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The worms didn’t react at all.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ts on the piano" descr="f3-piano-keys-k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6096000"/>
            <a:ext cx="9144000" cy="6911262"/>
          </a:xfrm>
          <a:prstGeom prst="rect">
            <a:avLst/>
          </a:prstGeom>
        </p:spPr>
      </p:pic>
      <p:sp>
        <p:nvSpPr>
          <p:cNvPr id="3" name="Then he put the pots on top of the piano"/>
          <p:cNvSpPr txBox="1"/>
          <p:nvPr/>
        </p:nvSpPr>
        <p:spPr>
          <a:xfrm>
            <a:off x="190500" y="2724150"/>
            <a:ext cx="9906000" cy="276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Then he put the pots on top of the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piano. One note, and the worms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shot back into their burrows. They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felt the music through the wood.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aper triangle pulled into a burrow" descr="f6-triangles-a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55" y="6096000"/>
            <a:ext cx="8371490" cy="8572500"/>
          </a:xfrm>
          <a:prstGeom prst="rect">
            <a:avLst/>
          </a:prstGeom>
        </p:spPr>
      </p:pic>
      <p:sp>
        <p:nvSpPr>
          <p:cNvPr id="3" name="He also left about 300 paper triangles b"/>
          <p:cNvSpPr txBox="1"/>
          <p:nvPr/>
        </p:nvSpPr>
        <p:spPr>
          <a:xfrm>
            <a:off x="190500" y="2724150"/>
            <a:ext cx="9906000" cy="276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He also left about 300 paper triangles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by their burrows, to see how worms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drag leaves underground. Most went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in pointed end first, just like leaves.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tack of old books" descr="f7-books-a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6096000"/>
            <a:ext cx="9144000" cy="7274503"/>
          </a:xfrm>
          <a:prstGeom prst="rect">
            <a:avLst/>
          </a:prstGeom>
        </p:spPr>
      </p:pic>
      <p:sp>
        <p:nvSpPr>
          <p:cNvPr id="3" name="People loved it. At his publisher’s sale"/>
          <p:cNvSpPr txBox="1"/>
          <p:nvPr/>
        </p:nvSpPr>
        <p:spPr>
          <a:xfrm>
            <a:off x="190500" y="2724150"/>
            <a:ext cx="9906000" cy="276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People loved it. At his publisher’s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sale that November, the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worm book sold 3,500 copies.</a:t>
            </a:r>
          </a:p>
          <a:p>
            <a:pPr algn="ctr">
              <a:lnSpc>
                <a:spcPct val="140000"/>
              </a:lnSpc>
            </a:pPr>
            <a:r>
              <a:rPr sz="3750" b="0" i="1">
                <a:solidFill>
                  <a:srgbClr val="4A3B36"/>
                </a:solidFill>
                <a:latin typeface="Montserrat"/>
              </a:rPr>
              <a:t>Origin</a:t>
            </a:r>
            <a:r>
              <a:rPr sz="3750" b="0" i="0">
                <a:solidFill>
                  <a:srgbClr val="4A3B36"/>
                </a:solidFill>
                <a:latin typeface="Montserrat"/>
              </a:rPr>
              <a:t> </a:t>
            </a:r>
            <a:r>
              <a:rPr sz="3750" b="0" i="1">
                <a:solidFill>
                  <a:srgbClr val="4A3B36"/>
                </a:solidFill>
                <a:latin typeface="Montserrat"/>
              </a:rPr>
              <a:t>of</a:t>
            </a:r>
            <a:r>
              <a:rPr sz="3750" b="0" i="0">
                <a:solidFill>
                  <a:srgbClr val="4A3B36"/>
                </a:solidFill>
                <a:latin typeface="Montserrat"/>
              </a:rPr>
              <a:t> </a:t>
            </a:r>
            <a:r>
              <a:rPr sz="3750" b="0" i="1">
                <a:solidFill>
                  <a:srgbClr val="4A3B36"/>
                </a:solidFill>
                <a:latin typeface="Montserrat"/>
              </a:rPr>
              <a:t>Species</a:t>
            </a:r>
            <a:r>
              <a:rPr sz="3750" b="0" i="0">
                <a:solidFill>
                  <a:srgbClr val="4A3B36"/>
                </a:solidFill>
                <a:latin typeface="Montserrat"/>
              </a:rPr>
              <a:t> sold 600.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three worms" descr="f4-jar-t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46" y="4523631"/>
            <a:ext cx="5665143" cy="10611445"/>
          </a:xfrm>
          <a:prstGeom prst="rect">
            <a:avLst/>
          </a:prstGeom>
        </p:spPr>
      </p:pic>
      <p:sp>
        <p:nvSpPr>
          <p:cNvPr id="3" name="Arrow 1"/>
          <p:cNvSpPr/>
          <p:nvPr/>
        </p:nvSpPr>
        <p:spPr>
          <a:xfrm>
            <a:off x="3476625" y="4972050"/>
            <a:ext cx="3076575" cy="2371725"/>
          </a:xfrm>
          <a:custGeom>
            <a:avLst/>
            <a:gdLst/>
            <a:ahLst/>
            <a:cxnLst/>
            <a:rect l="l" t="t" r="r" b="b"/>
            <a:pathLst>
              <a:path w="3076575" h="2371725">
                <a:moveTo>
                  <a:pt x="3076575" y="0"/>
                </a:moveTo>
                <a:lnTo>
                  <a:pt x="2976796" y="135677"/>
                </a:lnTo>
                <a:lnTo>
                  <a:pt x="2874546" y="268149"/>
                </a:lnTo>
                <a:lnTo>
                  <a:pt x="2769825" y="397416"/>
                </a:lnTo>
                <a:lnTo>
                  <a:pt x="2662634" y="523478"/>
                </a:lnTo>
                <a:lnTo>
                  <a:pt x="2552973" y="646336"/>
                </a:lnTo>
                <a:lnTo>
                  <a:pt x="2440841" y="765989"/>
                </a:lnTo>
                <a:lnTo>
                  <a:pt x="2326238" y="882437"/>
                </a:lnTo>
                <a:lnTo>
                  <a:pt x="2209165" y="995680"/>
                </a:lnTo>
                <a:lnTo>
                  <a:pt x="2089621" y="1105719"/>
                </a:lnTo>
                <a:lnTo>
                  <a:pt x="1967607" y="1212552"/>
                </a:lnTo>
                <a:lnTo>
                  <a:pt x="1843122" y="1316181"/>
                </a:lnTo>
                <a:lnTo>
                  <a:pt x="1716167" y="1416606"/>
                </a:lnTo>
                <a:lnTo>
                  <a:pt x="1586741" y="1513825"/>
                </a:lnTo>
                <a:lnTo>
                  <a:pt x="1454845" y="1607840"/>
                </a:lnTo>
                <a:lnTo>
                  <a:pt x="1320478" y="1698650"/>
                </a:lnTo>
                <a:lnTo>
                  <a:pt x="1183640" y="1786255"/>
                </a:lnTo>
                <a:lnTo>
                  <a:pt x="1044332" y="1870655"/>
                </a:lnTo>
                <a:lnTo>
                  <a:pt x="902553" y="1951851"/>
                </a:lnTo>
                <a:lnTo>
                  <a:pt x="758304" y="2029842"/>
                </a:lnTo>
                <a:lnTo>
                  <a:pt x="611584" y="2104628"/>
                </a:lnTo>
                <a:lnTo>
                  <a:pt x="462394" y="2176209"/>
                </a:lnTo>
                <a:lnTo>
                  <a:pt x="310733" y="2244586"/>
                </a:lnTo>
                <a:lnTo>
                  <a:pt x="156602" y="2309758"/>
                </a:lnTo>
                <a:lnTo>
                  <a:pt x="0" y="23717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row 2"/>
          <p:cNvSpPr/>
          <p:nvPr/>
        </p:nvSpPr>
        <p:spPr>
          <a:xfrm>
            <a:off x="1857375" y="9121378"/>
            <a:ext cx="4695825" cy="965597"/>
          </a:xfrm>
          <a:custGeom>
            <a:avLst/>
            <a:gdLst/>
            <a:ahLst/>
            <a:cxnLst/>
            <a:rect l="l" t="t" r="r" b="b"/>
            <a:pathLst>
              <a:path w="4695825" h="965597">
                <a:moveTo>
                  <a:pt x="4695825" y="41672"/>
                </a:moveTo>
                <a:lnTo>
                  <a:pt x="4489098" y="23917"/>
                </a:lnTo>
                <a:lnTo>
                  <a:pt x="4283333" y="11053"/>
                </a:lnTo>
                <a:lnTo>
                  <a:pt x="4078531" y="3081"/>
                </a:lnTo>
                <a:lnTo>
                  <a:pt x="3874691" y="0"/>
                </a:lnTo>
                <a:lnTo>
                  <a:pt x="3671813" y="1811"/>
                </a:lnTo>
                <a:lnTo>
                  <a:pt x="3469898" y="8513"/>
                </a:lnTo>
                <a:lnTo>
                  <a:pt x="3268945" y="20107"/>
                </a:lnTo>
                <a:lnTo>
                  <a:pt x="3068955" y="36592"/>
                </a:lnTo>
                <a:lnTo>
                  <a:pt x="2869927" y="57969"/>
                </a:lnTo>
                <a:lnTo>
                  <a:pt x="2671862" y="84237"/>
                </a:lnTo>
                <a:lnTo>
                  <a:pt x="2474759" y="115396"/>
                </a:lnTo>
                <a:lnTo>
                  <a:pt x="2278618" y="151448"/>
                </a:lnTo>
                <a:lnTo>
                  <a:pt x="2083440" y="192390"/>
                </a:lnTo>
                <a:lnTo>
                  <a:pt x="1889224" y="238224"/>
                </a:lnTo>
                <a:lnTo>
                  <a:pt x="1695971" y="288950"/>
                </a:lnTo>
                <a:lnTo>
                  <a:pt x="1503680" y="344567"/>
                </a:lnTo>
                <a:lnTo>
                  <a:pt x="1312352" y="405076"/>
                </a:lnTo>
                <a:lnTo>
                  <a:pt x="1121985" y="470476"/>
                </a:lnTo>
                <a:lnTo>
                  <a:pt x="932582" y="540767"/>
                </a:lnTo>
                <a:lnTo>
                  <a:pt x="744141" y="615950"/>
                </a:lnTo>
                <a:lnTo>
                  <a:pt x="556662" y="696025"/>
                </a:lnTo>
                <a:lnTo>
                  <a:pt x="370145" y="780991"/>
                </a:lnTo>
                <a:lnTo>
                  <a:pt x="184592" y="870848"/>
                </a:lnTo>
                <a:lnTo>
                  <a:pt x="0" y="965597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3"/>
          <p:cNvSpPr/>
          <p:nvPr/>
        </p:nvSpPr>
        <p:spPr>
          <a:xfrm>
            <a:off x="4505325" y="11801475"/>
            <a:ext cx="2047875" cy="173567"/>
          </a:xfrm>
          <a:custGeom>
            <a:avLst/>
            <a:gdLst/>
            <a:ahLst/>
            <a:cxnLst/>
            <a:rect l="l" t="t" r="r" b="b"/>
            <a:pathLst>
              <a:path w="2047875" h="173567">
                <a:moveTo>
                  <a:pt x="2047875" y="123825"/>
                </a:moveTo>
                <a:lnTo>
                  <a:pt x="1961558" y="135020"/>
                </a:lnTo>
                <a:lnTo>
                  <a:pt x="1875327" y="144793"/>
                </a:lnTo>
                <a:lnTo>
                  <a:pt x="1789182" y="153144"/>
                </a:lnTo>
                <a:lnTo>
                  <a:pt x="1703123" y="160073"/>
                </a:lnTo>
                <a:lnTo>
                  <a:pt x="1617150" y="165580"/>
                </a:lnTo>
                <a:lnTo>
                  <a:pt x="1531263" y="169664"/>
                </a:lnTo>
                <a:lnTo>
                  <a:pt x="1445462" y="172326"/>
                </a:lnTo>
                <a:lnTo>
                  <a:pt x="1359747" y="173567"/>
                </a:lnTo>
                <a:lnTo>
                  <a:pt x="1274118" y="173385"/>
                </a:lnTo>
                <a:lnTo>
                  <a:pt x="1188574" y="171781"/>
                </a:lnTo>
                <a:lnTo>
                  <a:pt x="1103117" y="168755"/>
                </a:lnTo>
                <a:lnTo>
                  <a:pt x="1017746" y="164306"/>
                </a:lnTo>
                <a:lnTo>
                  <a:pt x="932461" y="158436"/>
                </a:lnTo>
                <a:lnTo>
                  <a:pt x="847262" y="151143"/>
                </a:lnTo>
                <a:lnTo>
                  <a:pt x="762149" y="142429"/>
                </a:lnTo>
                <a:lnTo>
                  <a:pt x="677122" y="132292"/>
                </a:lnTo>
                <a:lnTo>
                  <a:pt x="592180" y="120733"/>
                </a:lnTo>
                <a:lnTo>
                  <a:pt x="507325" y="107752"/>
                </a:lnTo>
                <a:lnTo>
                  <a:pt x="422556" y="93348"/>
                </a:lnTo>
                <a:lnTo>
                  <a:pt x="337873" y="77523"/>
                </a:lnTo>
                <a:lnTo>
                  <a:pt x="253276" y="60275"/>
                </a:lnTo>
                <a:lnTo>
                  <a:pt x="168764" y="41606"/>
                </a:lnTo>
                <a:lnTo>
                  <a:pt x="84339" y="2151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Worms are still doing the same work in y"/>
          <p:cNvSpPr txBox="1"/>
          <p:nvPr/>
        </p:nvSpPr>
        <p:spPr>
          <a:xfrm>
            <a:off x="190500" y="2724150"/>
            <a:ext cx="99060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Worms are still doing the same work</a:t>
            </a:r>
          </a:p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in your garden. There are three kinds.</a:t>
            </a:r>
          </a:p>
        </p:txBody>
      </p:sp>
      <p:sp>
        <p:nvSpPr>
          <p:cNvPr id="7" name="The Composter (epigeic). Small and red. "/>
          <p:cNvSpPr txBox="1"/>
          <p:nvPr/>
        </p:nvSpPr>
        <p:spPr>
          <a:xfrm>
            <a:off x="6667500" y="4724400"/>
            <a:ext cx="4191000" cy="1558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1" i="0">
                <a:solidFill>
                  <a:srgbClr val="4F3433"/>
                </a:solidFill>
                <a:latin typeface="Fredoka"/>
              </a:rPr>
              <a:t>Composter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(epigeic). Small and red.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Lives in the leaves and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turns them into compost.</a:t>
            </a:r>
          </a:p>
        </p:txBody>
      </p:sp>
      <p:sp>
        <p:nvSpPr>
          <p:cNvPr id="8" name="The Mixer (endogeic). Pale. Eats its way"/>
          <p:cNvSpPr txBox="1"/>
          <p:nvPr/>
        </p:nvSpPr>
        <p:spPr>
          <a:xfrm>
            <a:off x="6667500" y="8915400"/>
            <a:ext cx="4191000" cy="1192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1" i="0">
                <a:solidFill>
                  <a:srgbClr val="4F3433"/>
                </a:solidFill>
                <a:latin typeface="Fredoka"/>
              </a:rPr>
              <a:t>Mixer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(endogeic).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Pale. Eats its way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through the topsoil.</a:t>
            </a:r>
          </a:p>
        </p:txBody>
      </p:sp>
      <p:sp>
        <p:nvSpPr>
          <p:cNvPr id="9" name="The Engineer (anecic). Big and dark-head"/>
          <p:cNvSpPr txBox="1"/>
          <p:nvPr/>
        </p:nvSpPr>
        <p:spPr>
          <a:xfrm>
            <a:off x="6667500" y="11677650"/>
            <a:ext cx="4191000" cy="1924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1" i="0">
                <a:solidFill>
                  <a:srgbClr val="4F3433"/>
                </a:solidFill>
                <a:latin typeface="Fredoka"/>
              </a:rPr>
              <a:t>Engineer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(anecic).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Big and dark-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headed. Digs deep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tunnels and pulls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leaves down at night.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Three party jars" descr="f5-jars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000" y="5109766"/>
            <a:ext cx="10235123" cy="5672478"/>
          </a:xfrm>
          <a:prstGeom prst="rect">
            <a:avLst/>
          </a:prstGeom>
        </p:spPr>
      </p:pic>
      <p:sp>
        <p:nvSpPr>
          <p:cNvPr id="3" name="Which worm are you today?"/>
          <p:cNvSpPr txBox="1"/>
          <p:nvPr/>
        </p:nvSpPr>
        <p:spPr>
          <a:xfrm>
            <a:off x="190500" y="2724150"/>
            <a:ext cx="9906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Which worm are you today?</a:t>
            </a:r>
          </a:p>
        </p:txBody>
      </p:sp>
      <p:sp>
        <p:nvSpPr>
          <p:cNvPr id="4" name="The Composter"/>
          <p:cNvSpPr txBox="1"/>
          <p:nvPr/>
        </p:nvSpPr>
        <p:spPr>
          <a:xfrm>
            <a:off x="-381000" y="10534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Composter</a:t>
            </a:r>
          </a:p>
        </p:txBody>
      </p:sp>
      <p:sp>
        <p:nvSpPr>
          <p:cNvPr id="5" name="The Mixer"/>
          <p:cNvSpPr txBox="1"/>
          <p:nvPr/>
        </p:nvSpPr>
        <p:spPr>
          <a:xfrm>
            <a:off x="3114675" y="10534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Mixer</a:t>
            </a:r>
          </a:p>
        </p:txBody>
      </p:sp>
      <p:sp>
        <p:nvSpPr>
          <p:cNvPr id="6" name="The Engineer"/>
          <p:cNvSpPr txBox="1"/>
          <p:nvPr/>
        </p:nvSpPr>
        <p:spPr>
          <a:xfrm>
            <a:off x="6486525" y="10534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Engineer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