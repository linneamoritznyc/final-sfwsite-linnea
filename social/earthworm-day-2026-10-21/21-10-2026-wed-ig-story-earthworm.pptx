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(headings, labels) and Montserrat (body), free on Google Fonts and in Canva.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Earthworm Society of Britain, World Worm Day: https://www.earthwormsoc.org.uk/worldwormday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Darwin Correspondence Project, letter 13460 (3,500 copies of Worms vs 600 of Origin at the 1881 sale): https://www.darwinproject.ac.uk/view/letters/DCP-LETT-13460 ; Nautilus on the piano and paper triangle experiments: https://nautil.us/why-darwin-admired-the-humble-earthworm-361515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Bouché 1977 (ecological groups); Colorado State Extension: https://extension.colostate.edu/resource/earthworms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y = 1250 to 1500 empty for the poll sticker: The Composter / The Mixer / The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 with party worm" descr="f1-jar-t3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861" y="5856111"/>
            <a:ext cx="6076597" cy="9304514"/>
          </a:xfrm>
          <a:prstGeom prst="rect">
            <a:avLst/>
          </a:prstGeom>
        </p:spPr>
      </p:pic>
      <p:sp>
        <p:nvSpPr>
          <p:cNvPr id="3" name="Is World Earthworm Day even a thing?"/>
          <p:cNvSpPr txBox="1"/>
          <p:nvPr/>
        </p:nvSpPr>
        <p:spPr>
          <a:xfrm>
            <a:off x="666750" y="2533650"/>
            <a:ext cx="9715500" cy="1775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i="0">
                <a:solidFill>
                  <a:srgbClr val="4F3433"/>
                </a:solidFill>
                <a:latin typeface="Fredoka"/>
              </a:rPr>
              <a:t>Is World Earthworm Day</a:t>
            </a:r>
          </a:p>
          <a:p>
            <a:pPr algn="l">
              <a:lnSpc>
                <a:spcPct val="105000"/>
              </a:lnSpc>
            </a:pPr>
            <a:r>
              <a:rPr sz="6300" b="1" i="0">
                <a:solidFill>
                  <a:srgbClr val="4F3433"/>
                </a:solidFill>
                <a:latin typeface="Fredoka"/>
              </a:rPr>
              <a:t>even a thing?</a:t>
            </a:r>
          </a:p>
        </p:txBody>
      </p:sp>
      <p:pic>
        <p:nvPicPr>
          <p:cNvPr id="4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Book with worm" descr="f2-book-t1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536" y="6908521"/>
            <a:ext cx="7867779" cy="5389992"/>
          </a:xfrm>
          <a:prstGeom prst="rect">
            <a:avLst/>
          </a:prstGeom>
        </p:spPr>
      </p:pic>
      <p:sp>
        <p:nvSpPr>
          <p:cNvPr id="3" name="Yes! Since 2016."/>
          <p:cNvSpPr txBox="1"/>
          <p:nvPr/>
        </p:nvSpPr>
        <p:spPr>
          <a:xfrm>
            <a:off x="666750" y="2533650"/>
            <a:ext cx="9715500" cy="911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6300" b="1" i="0">
                <a:solidFill>
                  <a:srgbClr val="4F3433"/>
                </a:solidFill>
                <a:latin typeface="Fredoka"/>
              </a:rPr>
              <a:t>Yes! Since 2016.</a:t>
            </a:r>
          </a:p>
        </p:txBody>
      </p:sp>
      <p:sp>
        <p:nvSpPr>
          <p:cNvPr id="4" name="The Earthworm Society of Britain picked "/>
          <p:cNvSpPr txBox="1"/>
          <p:nvPr/>
        </p:nvSpPr>
        <p:spPr>
          <a:xfrm>
            <a:off x="685800" y="3771900"/>
            <a:ext cx="9620250" cy="14359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2550" b="0" i="0">
                <a:solidFill>
                  <a:srgbClr val="5B4C46"/>
                </a:solidFill>
                <a:latin typeface="Montserrat"/>
              </a:rPr>
              <a:t>The Earthworm Society of Britain picked 21 October to</a:t>
            </a:r>
          </a:p>
          <a:p>
            <a:pPr algn="l">
              <a:lnSpc>
                <a:spcPct val="138000"/>
              </a:lnSpc>
            </a:pPr>
            <a:r>
              <a:rPr sz="2550" b="0" i="0">
                <a:solidFill>
                  <a:srgbClr val="5B4C46"/>
                </a:solidFill>
                <a:latin typeface="Montserrat"/>
              </a:rPr>
              <a:t>honour Charles Darwin. His book on worms came out</a:t>
            </a:r>
          </a:p>
          <a:p>
            <a:pPr algn="l">
              <a:lnSpc>
                <a:spcPct val="138000"/>
              </a:lnSpc>
            </a:pPr>
            <a:r>
              <a:rPr sz="2550" b="0" i="0">
                <a:solidFill>
                  <a:srgbClr val="5B4C46"/>
                </a:solidFill>
                <a:latin typeface="Montserrat"/>
              </a:rPr>
              <a:t>in October 1881.</a:t>
            </a:r>
          </a:p>
        </p:txBody>
      </p:sp>
      <p:pic>
        <p:nvPicPr>
          <p:cNvPr id="5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ano with pots" descr="f3-piano-t1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849" y="5872356"/>
            <a:ext cx="7055258" cy="4416575"/>
          </a:xfrm>
          <a:prstGeom prst="rect">
            <a:avLst/>
          </a:prstGeom>
        </p:spPr>
      </p:pic>
      <p:pic>
        <p:nvPicPr>
          <p:cNvPr id="3" name="Small book" descr="f2-book-t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82" y="11230007"/>
            <a:ext cx="2675045" cy="1832597"/>
          </a:xfrm>
          <a:prstGeom prst="rect">
            <a:avLst/>
          </a:prstGeom>
        </p:spPr>
      </p:pic>
      <p:sp>
        <p:nvSpPr>
          <p:cNvPr id="4" name="Arrow 1"/>
          <p:cNvSpPr/>
          <p:nvPr/>
        </p:nvSpPr>
        <p:spPr>
          <a:xfrm>
            <a:off x="5028009" y="4333875"/>
            <a:ext cx="305991" cy="1866900"/>
          </a:xfrm>
          <a:custGeom>
            <a:avLst/>
            <a:gdLst/>
            <a:ahLst/>
            <a:cxnLst/>
            <a:rect l="l" t="t" r="r" b="b"/>
            <a:pathLst>
              <a:path w="305991" h="1866900">
                <a:moveTo>
                  <a:pt x="305991" y="0"/>
                </a:moveTo>
                <a:lnTo>
                  <a:pt x="267441" y="74441"/>
                </a:lnTo>
                <a:lnTo>
                  <a:pt x="231484" y="149172"/>
                </a:lnTo>
                <a:lnTo>
                  <a:pt x="198120" y="224195"/>
                </a:lnTo>
                <a:lnTo>
                  <a:pt x="167349" y="299508"/>
                </a:lnTo>
                <a:lnTo>
                  <a:pt x="139171" y="375113"/>
                </a:lnTo>
                <a:lnTo>
                  <a:pt x="113586" y="451009"/>
                </a:lnTo>
                <a:lnTo>
                  <a:pt x="90594" y="527196"/>
                </a:lnTo>
                <a:lnTo>
                  <a:pt x="70194" y="603673"/>
                </a:lnTo>
                <a:lnTo>
                  <a:pt x="52388" y="680442"/>
                </a:lnTo>
                <a:lnTo>
                  <a:pt x="37174" y="757502"/>
                </a:lnTo>
                <a:lnTo>
                  <a:pt x="24554" y="834853"/>
                </a:lnTo>
                <a:lnTo>
                  <a:pt x="14526" y="912495"/>
                </a:lnTo>
                <a:lnTo>
                  <a:pt x="7091" y="990428"/>
                </a:lnTo>
                <a:lnTo>
                  <a:pt x="2249" y="1068652"/>
                </a:lnTo>
                <a:lnTo>
                  <a:pt x="0" y="1147167"/>
                </a:lnTo>
                <a:lnTo>
                  <a:pt x="344" y="1225973"/>
                </a:lnTo>
                <a:lnTo>
                  <a:pt x="3281" y="1305071"/>
                </a:lnTo>
                <a:lnTo>
                  <a:pt x="8811" y="1384459"/>
                </a:lnTo>
                <a:lnTo>
                  <a:pt x="16934" y="1464138"/>
                </a:lnTo>
                <a:lnTo>
                  <a:pt x="27649" y="1544108"/>
                </a:lnTo>
                <a:lnTo>
                  <a:pt x="40958" y="1624370"/>
                </a:lnTo>
                <a:lnTo>
                  <a:pt x="56859" y="1704922"/>
                </a:lnTo>
                <a:lnTo>
                  <a:pt x="75354" y="1785766"/>
                </a:lnTo>
                <a:lnTo>
                  <a:pt x="96441" y="18669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row 2"/>
          <p:cNvSpPr/>
          <p:nvPr/>
        </p:nvSpPr>
        <p:spPr>
          <a:xfrm>
            <a:off x="7227689" y="6848475"/>
            <a:ext cx="678061" cy="4248150"/>
          </a:xfrm>
          <a:custGeom>
            <a:avLst/>
            <a:gdLst/>
            <a:ahLst/>
            <a:cxnLst/>
            <a:rect l="l" t="t" r="r" b="b"/>
            <a:pathLst>
              <a:path w="678061" h="4248150">
                <a:moveTo>
                  <a:pt x="678061" y="4248150"/>
                </a:moveTo>
                <a:lnTo>
                  <a:pt x="591555" y="4078294"/>
                </a:lnTo>
                <a:lnTo>
                  <a:pt x="510950" y="3907816"/>
                </a:lnTo>
                <a:lnTo>
                  <a:pt x="436245" y="3736717"/>
                </a:lnTo>
                <a:lnTo>
                  <a:pt x="367440" y="3564996"/>
                </a:lnTo>
                <a:lnTo>
                  <a:pt x="304535" y="3392653"/>
                </a:lnTo>
                <a:lnTo>
                  <a:pt x="247531" y="3219688"/>
                </a:lnTo>
                <a:lnTo>
                  <a:pt x="196427" y="3046102"/>
                </a:lnTo>
                <a:lnTo>
                  <a:pt x="151223" y="2871893"/>
                </a:lnTo>
                <a:lnTo>
                  <a:pt x="111919" y="2697063"/>
                </a:lnTo>
                <a:lnTo>
                  <a:pt x="78515" y="2521611"/>
                </a:lnTo>
                <a:lnTo>
                  <a:pt x="51012" y="2345538"/>
                </a:lnTo>
                <a:lnTo>
                  <a:pt x="29409" y="2168843"/>
                </a:lnTo>
                <a:lnTo>
                  <a:pt x="13705" y="1991525"/>
                </a:lnTo>
                <a:lnTo>
                  <a:pt x="3903" y="1813586"/>
                </a:lnTo>
                <a:lnTo>
                  <a:pt x="0" y="1635026"/>
                </a:lnTo>
                <a:lnTo>
                  <a:pt x="1998" y="1455843"/>
                </a:lnTo>
                <a:lnTo>
                  <a:pt x="9895" y="1276039"/>
                </a:lnTo>
                <a:lnTo>
                  <a:pt x="23693" y="1095613"/>
                </a:lnTo>
                <a:lnTo>
                  <a:pt x="43392" y="914565"/>
                </a:lnTo>
                <a:lnTo>
                  <a:pt x="68990" y="732896"/>
                </a:lnTo>
                <a:lnTo>
                  <a:pt x="100489" y="550605"/>
                </a:lnTo>
                <a:lnTo>
                  <a:pt x="137888" y="367691"/>
                </a:lnTo>
                <a:lnTo>
                  <a:pt x="181187" y="184157"/>
                </a:lnTo>
                <a:lnTo>
                  <a:pt x="230386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rrow 3"/>
          <p:cNvSpPr/>
          <p:nvPr/>
        </p:nvSpPr>
        <p:spPr>
          <a:xfrm>
            <a:off x="3276600" y="11772900"/>
            <a:ext cx="1200150" cy="609600"/>
          </a:xfrm>
          <a:custGeom>
            <a:avLst/>
            <a:gdLst/>
            <a:ahLst/>
            <a:cxnLst/>
            <a:rect l="l" t="t" r="r" b="b"/>
            <a:pathLst>
              <a:path w="1200150" h="609600">
                <a:moveTo>
                  <a:pt x="1200150" y="609600"/>
                </a:moveTo>
                <a:lnTo>
                  <a:pt x="1162315" y="560239"/>
                </a:lnTo>
                <a:lnTo>
                  <a:pt x="1123421" y="512961"/>
                </a:lnTo>
                <a:lnTo>
                  <a:pt x="1083469" y="467767"/>
                </a:lnTo>
                <a:lnTo>
                  <a:pt x="1042458" y="424656"/>
                </a:lnTo>
                <a:lnTo>
                  <a:pt x="1000390" y="383629"/>
                </a:lnTo>
                <a:lnTo>
                  <a:pt x="957262" y="344686"/>
                </a:lnTo>
                <a:lnTo>
                  <a:pt x="913077" y="307826"/>
                </a:lnTo>
                <a:lnTo>
                  <a:pt x="867833" y="273050"/>
                </a:lnTo>
                <a:lnTo>
                  <a:pt x="821531" y="240357"/>
                </a:lnTo>
                <a:lnTo>
                  <a:pt x="774171" y="209748"/>
                </a:lnTo>
                <a:lnTo>
                  <a:pt x="725752" y="181223"/>
                </a:lnTo>
                <a:lnTo>
                  <a:pt x="676275" y="154781"/>
                </a:lnTo>
                <a:lnTo>
                  <a:pt x="625740" y="130423"/>
                </a:lnTo>
                <a:lnTo>
                  <a:pt x="574146" y="108148"/>
                </a:lnTo>
                <a:lnTo>
                  <a:pt x="521494" y="87957"/>
                </a:lnTo>
                <a:lnTo>
                  <a:pt x="467783" y="69850"/>
                </a:lnTo>
                <a:lnTo>
                  <a:pt x="413015" y="53826"/>
                </a:lnTo>
                <a:lnTo>
                  <a:pt x="357188" y="39886"/>
                </a:lnTo>
                <a:lnTo>
                  <a:pt x="300302" y="28029"/>
                </a:lnTo>
                <a:lnTo>
                  <a:pt x="242358" y="18256"/>
                </a:lnTo>
                <a:lnTo>
                  <a:pt x="183356" y="10567"/>
                </a:lnTo>
                <a:lnTo>
                  <a:pt x="123296" y="4961"/>
                </a:lnTo>
                <a:lnTo>
                  <a:pt x="62177" y="1439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rwin was obsessed"/>
          <p:cNvSpPr txBox="1"/>
          <p:nvPr/>
        </p:nvSpPr>
        <p:spPr>
          <a:xfrm>
            <a:off x="666750" y="2533650"/>
            <a:ext cx="9715500" cy="911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6300" b="1" i="0">
                <a:solidFill>
                  <a:srgbClr val="4F3433"/>
                </a:solidFill>
                <a:latin typeface="Fredoka"/>
              </a:rPr>
              <a:t>Darwin was obsessed</a:t>
            </a:r>
          </a:p>
        </p:txBody>
      </p:sp>
      <p:sp>
        <p:nvSpPr>
          <p:cNvPr id="8" name="He played the piano to his worms"/>
          <p:cNvSpPr txBox="1"/>
          <p:nvPr/>
        </p:nvSpPr>
        <p:spPr>
          <a:xfrm>
            <a:off x="5619750" y="3724275"/>
            <a:ext cx="5048250" cy="7962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He played the piano to his</a:t>
            </a:r>
          </a:p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worms</a:t>
            </a:r>
          </a:p>
        </p:txBody>
      </p:sp>
      <p:sp>
        <p:nvSpPr>
          <p:cNvPr id="9" name="He tested how they pull leaves undergrou"/>
          <p:cNvSpPr txBox="1"/>
          <p:nvPr/>
        </p:nvSpPr>
        <p:spPr>
          <a:xfrm>
            <a:off x="5619750" y="11201400"/>
            <a:ext cx="5048250" cy="1146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He tested how they pull leaves</a:t>
            </a:r>
          </a:p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underground with paper</a:t>
            </a:r>
          </a:p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triangles</a:t>
            </a:r>
          </a:p>
        </p:txBody>
      </p:sp>
      <p:sp>
        <p:nvSpPr>
          <p:cNvPr id="10" name="His worm book outsold Origin of Species "/>
          <p:cNvSpPr txBox="1"/>
          <p:nvPr/>
        </p:nvSpPr>
        <p:spPr>
          <a:xfrm>
            <a:off x="4667250" y="12725400"/>
            <a:ext cx="5715000" cy="7962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His worm book outsold </a:t>
            </a:r>
            <a:r>
              <a:rPr sz="2400" b="0" i="1">
                <a:solidFill>
                  <a:srgbClr val="4F3433"/>
                </a:solidFill>
                <a:latin typeface="Fredoka"/>
              </a:rPr>
              <a:t>Origin</a:t>
            </a:r>
            <a:r>
              <a:rPr sz="240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400" b="0" i="1">
                <a:solidFill>
                  <a:srgbClr val="4F3433"/>
                </a:solidFill>
                <a:latin typeface="Fredoka"/>
              </a:rPr>
              <a:t>of</a:t>
            </a:r>
          </a:p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4F3433"/>
                </a:solidFill>
                <a:latin typeface="Fredoka"/>
              </a:rPr>
              <a:t>Species</a:t>
            </a:r>
            <a:r>
              <a:rPr sz="2400" b="0" i="0">
                <a:solidFill>
                  <a:srgbClr val="4F3433"/>
                </a:solidFill>
                <a:latin typeface="Fredoka"/>
              </a:rPr>
              <a:t> at his publisher’s 1881 sale</a:t>
            </a:r>
          </a:p>
        </p:txBody>
      </p:sp>
      <p:pic>
        <p:nvPicPr>
          <p:cNvPr id="11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 with three worms" descr="f4-jar-t2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4206875"/>
            <a:ext cx="5254625" cy="9842500"/>
          </a:xfrm>
          <a:prstGeom prst="rect">
            <a:avLst/>
          </a:prstGeom>
        </p:spPr>
      </p:pic>
      <p:sp>
        <p:nvSpPr>
          <p:cNvPr id="3" name="Arrow 1"/>
          <p:cNvSpPr/>
          <p:nvPr/>
        </p:nvSpPr>
        <p:spPr>
          <a:xfrm>
            <a:off x="3590925" y="4476750"/>
            <a:ext cx="2409825" cy="2352675"/>
          </a:xfrm>
          <a:custGeom>
            <a:avLst/>
            <a:gdLst/>
            <a:ahLst/>
            <a:cxnLst/>
            <a:rect l="l" t="t" r="r" b="b"/>
            <a:pathLst>
              <a:path w="2409825" h="2352675">
                <a:moveTo>
                  <a:pt x="2409825" y="0"/>
                </a:moveTo>
                <a:lnTo>
                  <a:pt x="2337599" y="126896"/>
                </a:lnTo>
                <a:lnTo>
                  <a:pt x="2262922" y="251281"/>
                </a:lnTo>
                <a:lnTo>
                  <a:pt x="2185794" y="373157"/>
                </a:lnTo>
                <a:lnTo>
                  <a:pt x="2106216" y="492522"/>
                </a:lnTo>
                <a:lnTo>
                  <a:pt x="2024187" y="609377"/>
                </a:lnTo>
                <a:lnTo>
                  <a:pt x="1939707" y="723721"/>
                </a:lnTo>
                <a:lnTo>
                  <a:pt x="1852776" y="835556"/>
                </a:lnTo>
                <a:lnTo>
                  <a:pt x="1763395" y="944880"/>
                </a:lnTo>
                <a:lnTo>
                  <a:pt x="1671563" y="1051694"/>
                </a:lnTo>
                <a:lnTo>
                  <a:pt x="1577280" y="1155998"/>
                </a:lnTo>
                <a:lnTo>
                  <a:pt x="1480547" y="1257791"/>
                </a:lnTo>
                <a:lnTo>
                  <a:pt x="1381363" y="1357074"/>
                </a:lnTo>
                <a:lnTo>
                  <a:pt x="1279728" y="1453847"/>
                </a:lnTo>
                <a:lnTo>
                  <a:pt x="1175643" y="1548110"/>
                </a:lnTo>
                <a:lnTo>
                  <a:pt x="1069107" y="1639863"/>
                </a:lnTo>
                <a:lnTo>
                  <a:pt x="960120" y="1729105"/>
                </a:lnTo>
                <a:lnTo>
                  <a:pt x="848682" y="1815837"/>
                </a:lnTo>
                <a:lnTo>
                  <a:pt x="734794" y="1900059"/>
                </a:lnTo>
                <a:lnTo>
                  <a:pt x="618455" y="1981771"/>
                </a:lnTo>
                <a:lnTo>
                  <a:pt x="499666" y="2060972"/>
                </a:lnTo>
                <a:lnTo>
                  <a:pt x="378425" y="2137663"/>
                </a:lnTo>
                <a:lnTo>
                  <a:pt x="254734" y="2211844"/>
                </a:lnTo>
                <a:lnTo>
                  <a:pt x="128592" y="2283515"/>
                </a:lnTo>
                <a:lnTo>
                  <a:pt x="0" y="235267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rrow 2"/>
          <p:cNvSpPr/>
          <p:nvPr/>
        </p:nvSpPr>
        <p:spPr>
          <a:xfrm>
            <a:off x="2076450" y="8373824"/>
            <a:ext cx="3924300" cy="989251"/>
          </a:xfrm>
          <a:custGeom>
            <a:avLst/>
            <a:gdLst/>
            <a:ahLst/>
            <a:cxnLst/>
            <a:rect l="l" t="t" r="r" b="b"/>
            <a:pathLst>
              <a:path w="3924300" h="989251">
                <a:moveTo>
                  <a:pt x="3924300" y="8176"/>
                </a:moveTo>
                <a:lnTo>
                  <a:pt x="3749035" y="2044"/>
                </a:lnTo>
                <a:lnTo>
                  <a:pt x="3574792" y="0"/>
                </a:lnTo>
                <a:lnTo>
                  <a:pt x="3401571" y="2044"/>
                </a:lnTo>
                <a:lnTo>
                  <a:pt x="3229372" y="8176"/>
                </a:lnTo>
                <a:lnTo>
                  <a:pt x="3058195" y="18396"/>
                </a:lnTo>
                <a:lnTo>
                  <a:pt x="2888040" y="32703"/>
                </a:lnTo>
                <a:lnTo>
                  <a:pt x="2718906" y="51098"/>
                </a:lnTo>
                <a:lnTo>
                  <a:pt x="2550795" y="73581"/>
                </a:lnTo>
                <a:lnTo>
                  <a:pt x="2383706" y="100152"/>
                </a:lnTo>
                <a:lnTo>
                  <a:pt x="2217638" y="130810"/>
                </a:lnTo>
                <a:lnTo>
                  <a:pt x="2052593" y="165557"/>
                </a:lnTo>
                <a:lnTo>
                  <a:pt x="1888569" y="204391"/>
                </a:lnTo>
                <a:lnTo>
                  <a:pt x="1725568" y="247313"/>
                </a:lnTo>
                <a:lnTo>
                  <a:pt x="1563588" y="294323"/>
                </a:lnTo>
                <a:lnTo>
                  <a:pt x="1402631" y="345421"/>
                </a:lnTo>
                <a:lnTo>
                  <a:pt x="1242695" y="400606"/>
                </a:lnTo>
                <a:lnTo>
                  <a:pt x="1083781" y="459879"/>
                </a:lnTo>
                <a:lnTo>
                  <a:pt x="925890" y="523240"/>
                </a:lnTo>
                <a:lnTo>
                  <a:pt x="769020" y="590689"/>
                </a:lnTo>
                <a:lnTo>
                  <a:pt x="613172" y="662226"/>
                </a:lnTo>
                <a:lnTo>
                  <a:pt x="458346" y="737851"/>
                </a:lnTo>
                <a:lnTo>
                  <a:pt x="304542" y="817563"/>
                </a:lnTo>
                <a:lnTo>
                  <a:pt x="151760" y="901363"/>
                </a:lnTo>
                <a:lnTo>
                  <a:pt x="0" y="989251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row 3"/>
          <p:cNvSpPr/>
          <p:nvPr/>
        </p:nvSpPr>
        <p:spPr>
          <a:xfrm>
            <a:off x="4543425" y="10953750"/>
            <a:ext cx="1457325" cy="762000"/>
          </a:xfrm>
          <a:custGeom>
            <a:avLst/>
            <a:gdLst/>
            <a:ahLst/>
            <a:cxnLst/>
            <a:rect l="l" t="t" r="r" b="b"/>
            <a:pathLst>
              <a:path w="1457325" h="762000">
                <a:moveTo>
                  <a:pt x="1457325" y="762000"/>
                </a:moveTo>
                <a:lnTo>
                  <a:pt x="1408774" y="706973"/>
                </a:lnTo>
                <a:lnTo>
                  <a:pt x="1359165" y="653971"/>
                </a:lnTo>
                <a:lnTo>
                  <a:pt x="1308497" y="602992"/>
                </a:lnTo>
                <a:lnTo>
                  <a:pt x="1256771" y="554038"/>
                </a:lnTo>
                <a:lnTo>
                  <a:pt x="1203986" y="507107"/>
                </a:lnTo>
                <a:lnTo>
                  <a:pt x="1150144" y="462201"/>
                </a:lnTo>
                <a:lnTo>
                  <a:pt x="1095243" y="419318"/>
                </a:lnTo>
                <a:lnTo>
                  <a:pt x="1039283" y="378460"/>
                </a:lnTo>
                <a:lnTo>
                  <a:pt x="982266" y="339626"/>
                </a:lnTo>
                <a:lnTo>
                  <a:pt x="924190" y="302816"/>
                </a:lnTo>
                <a:lnTo>
                  <a:pt x="865055" y="268030"/>
                </a:lnTo>
                <a:lnTo>
                  <a:pt x="804863" y="235268"/>
                </a:lnTo>
                <a:lnTo>
                  <a:pt x="743611" y="204530"/>
                </a:lnTo>
                <a:lnTo>
                  <a:pt x="681302" y="175816"/>
                </a:lnTo>
                <a:lnTo>
                  <a:pt x="617934" y="149126"/>
                </a:lnTo>
                <a:lnTo>
                  <a:pt x="553508" y="124460"/>
                </a:lnTo>
                <a:lnTo>
                  <a:pt x="488024" y="101818"/>
                </a:lnTo>
                <a:lnTo>
                  <a:pt x="421481" y="81201"/>
                </a:lnTo>
                <a:lnTo>
                  <a:pt x="353880" y="62607"/>
                </a:lnTo>
                <a:lnTo>
                  <a:pt x="285221" y="46038"/>
                </a:lnTo>
                <a:lnTo>
                  <a:pt x="215503" y="31492"/>
                </a:lnTo>
                <a:lnTo>
                  <a:pt x="144727" y="18971"/>
                </a:lnTo>
                <a:lnTo>
                  <a:pt x="72893" y="8473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eet the three worms"/>
          <p:cNvSpPr txBox="1"/>
          <p:nvPr/>
        </p:nvSpPr>
        <p:spPr>
          <a:xfrm>
            <a:off x="666750" y="2533650"/>
            <a:ext cx="9715500" cy="911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6300" b="1" i="0">
                <a:solidFill>
                  <a:srgbClr val="4F3433"/>
                </a:solidFill>
                <a:latin typeface="Fredoka"/>
              </a:rPr>
              <a:t>Meet the three worms</a:t>
            </a:r>
          </a:p>
        </p:txBody>
      </p:sp>
      <p:sp>
        <p:nvSpPr>
          <p:cNvPr id="7" name="The Composter (epigeic). Small and red. "/>
          <p:cNvSpPr txBox="1"/>
          <p:nvPr/>
        </p:nvSpPr>
        <p:spPr>
          <a:xfrm>
            <a:off x="6191250" y="3867150"/>
            <a:ext cx="466725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25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325" b="0" i="0">
                <a:solidFill>
                  <a:srgbClr val="4F3433"/>
                </a:solidFill>
                <a:latin typeface="Fredoka"/>
              </a:rPr>
              <a:t> </a:t>
            </a:r>
            <a:r>
              <a:rPr sz="2325" b="1" i="0">
                <a:solidFill>
                  <a:srgbClr val="4F3433"/>
                </a:solidFill>
                <a:latin typeface="Fredoka"/>
              </a:rPr>
              <a:t>Composter</a:t>
            </a:r>
            <a:r>
              <a:rPr sz="2325" b="0" i="0">
                <a:solidFill>
                  <a:srgbClr val="4F3433"/>
                </a:solidFill>
                <a:latin typeface="Fredoka"/>
              </a:rPr>
              <a:t> (epigeic).</a:t>
            </a:r>
          </a:p>
          <a:p>
            <a:pPr algn="l">
              <a:lnSpc>
                <a:spcPct val="122000"/>
              </a:lnSpc>
            </a:pPr>
            <a:r>
              <a:rPr sz="2325" b="0" i="0">
                <a:solidFill>
                  <a:srgbClr val="4F3433"/>
                </a:solidFill>
                <a:latin typeface="Fredoka"/>
              </a:rPr>
              <a:t>Small and red. Lives in the</a:t>
            </a:r>
          </a:p>
          <a:p>
            <a:pPr algn="l">
              <a:lnSpc>
                <a:spcPct val="122000"/>
              </a:lnSpc>
            </a:pPr>
            <a:r>
              <a:rPr sz="2325" b="0" i="0">
                <a:solidFill>
                  <a:srgbClr val="4F3433"/>
                </a:solidFill>
                <a:latin typeface="Fredoka"/>
              </a:rPr>
              <a:t>leaves and turns them into</a:t>
            </a:r>
          </a:p>
          <a:p>
            <a:pPr algn="l">
              <a:lnSpc>
                <a:spcPct val="122000"/>
              </a:lnSpc>
            </a:pPr>
            <a:r>
              <a:rPr sz="2325" b="0" i="0">
                <a:solidFill>
                  <a:srgbClr val="4F3433"/>
                </a:solidFill>
                <a:latin typeface="Fredoka"/>
              </a:rPr>
              <a:t>compost.</a:t>
            </a:r>
          </a:p>
        </p:txBody>
      </p:sp>
      <p:sp>
        <p:nvSpPr>
          <p:cNvPr id="8" name="The Mixer (endogeic). Pale. Eats its way"/>
          <p:cNvSpPr txBox="1"/>
          <p:nvPr/>
        </p:nvSpPr>
        <p:spPr>
          <a:xfrm>
            <a:off x="6191250" y="7962900"/>
            <a:ext cx="4667250" cy="1175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25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325" b="0" i="0">
                <a:solidFill>
                  <a:srgbClr val="4F3433"/>
                </a:solidFill>
                <a:latin typeface="Fredoka"/>
              </a:rPr>
              <a:t> </a:t>
            </a:r>
            <a:r>
              <a:rPr sz="2325" b="1" i="0">
                <a:solidFill>
                  <a:srgbClr val="4F3433"/>
                </a:solidFill>
                <a:latin typeface="Fredoka"/>
              </a:rPr>
              <a:t>Mixer</a:t>
            </a:r>
            <a:r>
              <a:rPr sz="2325" b="0" i="0">
                <a:solidFill>
                  <a:srgbClr val="4F3433"/>
                </a:solidFill>
                <a:latin typeface="Fredoka"/>
              </a:rPr>
              <a:t> (endogeic). Pale.</a:t>
            </a:r>
          </a:p>
          <a:p>
            <a:pPr algn="l">
              <a:lnSpc>
                <a:spcPct val="122000"/>
              </a:lnSpc>
            </a:pPr>
            <a:r>
              <a:rPr sz="2325" b="0" i="0">
                <a:solidFill>
                  <a:srgbClr val="4F3433"/>
                </a:solidFill>
                <a:latin typeface="Fredoka"/>
              </a:rPr>
              <a:t>Eats its way through the</a:t>
            </a:r>
          </a:p>
          <a:p>
            <a:pPr algn="l">
              <a:lnSpc>
                <a:spcPct val="122000"/>
              </a:lnSpc>
            </a:pPr>
            <a:r>
              <a:rPr sz="2325" b="0" i="0">
                <a:solidFill>
                  <a:srgbClr val="4F3433"/>
                </a:solidFill>
                <a:latin typeface="Fredoka"/>
              </a:rPr>
              <a:t>topsoil.</a:t>
            </a:r>
          </a:p>
        </p:txBody>
      </p:sp>
      <p:sp>
        <p:nvSpPr>
          <p:cNvPr id="9" name="The Engineer (anecic). Big and dark-head"/>
          <p:cNvSpPr txBox="1"/>
          <p:nvPr/>
        </p:nvSpPr>
        <p:spPr>
          <a:xfrm>
            <a:off x="6191250" y="11201400"/>
            <a:ext cx="466725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25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325" b="0" i="0">
                <a:solidFill>
                  <a:srgbClr val="4F3433"/>
                </a:solidFill>
                <a:latin typeface="Fredoka"/>
              </a:rPr>
              <a:t> </a:t>
            </a:r>
            <a:r>
              <a:rPr sz="2325" b="1" i="0">
                <a:solidFill>
                  <a:srgbClr val="4F3433"/>
                </a:solidFill>
                <a:latin typeface="Fredoka"/>
              </a:rPr>
              <a:t>Engineer</a:t>
            </a:r>
            <a:r>
              <a:rPr sz="2325" b="0" i="0">
                <a:solidFill>
                  <a:srgbClr val="4F3433"/>
                </a:solidFill>
                <a:latin typeface="Fredoka"/>
              </a:rPr>
              <a:t> (anecic). Big</a:t>
            </a:r>
          </a:p>
          <a:p>
            <a:pPr algn="l">
              <a:lnSpc>
                <a:spcPct val="122000"/>
              </a:lnSpc>
            </a:pPr>
            <a:r>
              <a:rPr sz="2325" b="0" i="0">
                <a:solidFill>
                  <a:srgbClr val="4F3433"/>
                </a:solidFill>
                <a:latin typeface="Fredoka"/>
              </a:rPr>
              <a:t>and dark-headed. Digs deep</a:t>
            </a:r>
          </a:p>
          <a:p>
            <a:pPr algn="l">
              <a:lnSpc>
                <a:spcPct val="122000"/>
              </a:lnSpc>
            </a:pPr>
            <a:r>
              <a:rPr sz="2325" b="0" i="0">
                <a:solidFill>
                  <a:srgbClr val="4F3433"/>
                </a:solidFill>
                <a:latin typeface="Fredoka"/>
              </a:rPr>
              <a:t>tunnels and pulls leaves</a:t>
            </a:r>
          </a:p>
          <a:p>
            <a:pPr algn="l">
              <a:lnSpc>
                <a:spcPct val="122000"/>
              </a:lnSpc>
            </a:pPr>
            <a:r>
              <a:rPr sz="2325" b="0" i="0">
                <a:solidFill>
                  <a:srgbClr val="4F3433"/>
                </a:solidFill>
                <a:latin typeface="Fredoka"/>
              </a:rPr>
              <a:t>down at night.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Three party jars" descr="f5-jars-t1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4758531"/>
            <a:ext cx="9176317" cy="5085670"/>
          </a:xfrm>
          <a:prstGeom prst="rect">
            <a:avLst/>
          </a:prstGeom>
        </p:spPr>
      </p:pic>
      <p:sp>
        <p:nvSpPr>
          <p:cNvPr id="3" name="Which worm are you today?"/>
          <p:cNvSpPr txBox="1"/>
          <p:nvPr/>
        </p:nvSpPr>
        <p:spPr>
          <a:xfrm>
            <a:off x="666750" y="2533650"/>
            <a:ext cx="9715500" cy="1775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i="0">
                <a:solidFill>
                  <a:srgbClr val="4F3433"/>
                </a:solidFill>
                <a:latin typeface="Fredoka"/>
              </a:rPr>
              <a:t>Which worm are you</a:t>
            </a:r>
          </a:p>
          <a:p>
            <a:pPr algn="l">
              <a:lnSpc>
                <a:spcPct val="105000"/>
              </a:lnSpc>
            </a:pPr>
            <a:r>
              <a:rPr sz="6300" b="1" i="0">
                <a:solidFill>
                  <a:srgbClr val="4F3433"/>
                </a:solidFill>
                <a:latin typeface="Fredoka"/>
              </a:rPr>
              <a:t>today?</a:t>
            </a:r>
          </a:p>
        </p:txBody>
      </p:sp>
      <p:sp>
        <p:nvSpPr>
          <p:cNvPr id="4" name="The Composter"/>
          <p:cNvSpPr txBox="1"/>
          <p:nvPr/>
        </p:nvSpPr>
        <p:spPr>
          <a:xfrm>
            <a:off x="66675" y="10058400"/>
            <a:ext cx="4000500" cy="46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2850" b="1" i="0">
                <a:solidFill>
                  <a:srgbClr val="4F3433"/>
                </a:solidFill>
                <a:latin typeface="Fredoka"/>
              </a:rPr>
              <a:t>The Composter</a:t>
            </a:r>
          </a:p>
        </p:txBody>
      </p:sp>
      <p:sp>
        <p:nvSpPr>
          <p:cNvPr id="5" name="The Mixer"/>
          <p:cNvSpPr txBox="1"/>
          <p:nvPr/>
        </p:nvSpPr>
        <p:spPr>
          <a:xfrm>
            <a:off x="3200400" y="10058400"/>
            <a:ext cx="4000500" cy="46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2850" b="1" i="0">
                <a:solidFill>
                  <a:srgbClr val="4F3433"/>
                </a:solidFill>
                <a:latin typeface="Fredoka"/>
              </a:rPr>
              <a:t>The Mixer</a:t>
            </a:r>
          </a:p>
        </p:txBody>
      </p:sp>
      <p:sp>
        <p:nvSpPr>
          <p:cNvPr id="6" name="The Engineer"/>
          <p:cNvSpPr txBox="1"/>
          <p:nvPr/>
        </p:nvSpPr>
        <p:spPr>
          <a:xfrm>
            <a:off x="6219825" y="10058400"/>
            <a:ext cx="4000500" cy="46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2850" b="1" i="0">
                <a:solidFill>
                  <a:srgbClr val="4F3433"/>
                </a:solidFill>
                <a:latin typeface="Fredoka"/>
              </a:rPr>
              <a:t>The Engineer</a:t>
            </a:r>
          </a:p>
        </p:txBody>
      </p:sp>
      <p:pic>
        <p:nvPicPr>
          <p:cNvPr id="7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