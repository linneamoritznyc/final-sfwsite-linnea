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Charles Darwin, The Formation of Vegetable Mould through the Action of Worms, 1881. Darwin Online: http://darwin-online.org.uk/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Tiunov and Scheu 1999, burrow walls of Lumbricus terrestris: https://www.nies.go.jp/chiiki1/protoz/refere/id6999/6910.htm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Capowiez et al. 2015, Biology and Fertility of Soils: https://doi.org/10.1007/s00374-015-1036-x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Kautz, Athmann and Köpke 2014: https://orgprints.org/23806/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Briones and Schmidt 2017, Global Change Biology: https://doi.org/10.1111/gcb.13744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6.png"/><Relationship Id="rId8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image" Target="../media/image19.png"/><Relationship Id="rId9" Type="http://schemas.openxmlformats.org/officeDocument/2006/relationships/image" Target="../media/image20.png"/><Relationship Id="rId10" Type="http://schemas.openxmlformats.org/officeDocument/2006/relationships/image" Target="../media/image21.png"/><Relationship Id="rId11" Type="http://schemas.openxmlformats.org/officeDocument/2006/relationships/image" Target="../media/image6.png"/><Relationship Id="rId1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6.png"/><Relationship Id="rId8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6.png"/><Relationship Id="rId6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worm-holes-slide-1-01-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headline"/>
          <p:cNvSpPr txBox="1"/>
          <p:nvPr/>
        </p:nvSpPr>
        <p:spPr>
          <a:xfrm>
            <a:off x="685800" y="1428750"/>
            <a:ext cx="8572500" cy="3581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8586"/>
              </a:lnSpc>
            </a:pPr>
            <a:r>
              <a:rPr sz="8100" i="1" b="0">
                <a:solidFill>
                  <a:srgbClr val="F4F1EA"/>
                </a:solidFill>
                <a:latin typeface="EB Garamond Medium"/>
              </a:rPr>
              <a:t>Worm holes are real.</a:t>
            </a:r>
          </a:p>
          <a:p>
            <a:pPr algn="l">
              <a:lnSpc>
                <a:spcPts val="8586"/>
              </a:lnSpc>
            </a:pPr>
            <a:r>
              <a:rPr sz="8100" i="1" b="0">
                <a:solidFill>
                  <a:srgbClr val="F4F1EA"/>
                </a:solidFill>
                <a:latin typeface="EB Garamond Medium"/>
              </a:rPr>
              <a:t>They're in your</a:t>
            </a:r>
          </a:p>
          <a:p>
            <a:pPr algn="l">
              <a:lnSpc>
                <a:spcPts val="8586"/>
              </a:lnSpc>
            </a:pPr>
            <a:r>
              <a:rPr sz="8100" i="1" b="0">
                <a:solidFill>
                  <a:srgbClr val="F4F1EA"/>
                </a:solidFill>
                <a:latin typeface="EB Garamond Medium"/>
              </a:rPr>
              <a:t>garden.</a:t>
            </a:r>
          </a:p>
        </p:txBody>
      </p:sp>
      <p:sp>
        <p:nvSpPr>
          <p:cNvPr id="4" name="small line"/>
          <p:cNvSpPr txBox="1"/>
          <p:nvPr/>
        </p:nvSpPr>
        <p:spPr>
          <a:xfrm>
            <a:off x="723900" y="5305425"/>
            <a:ext cx="8191500" cy="923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315"/>
              </a:lnSpc>
            </a:pPr>
            <a:r>
              <a:rPr sz="2550" i="0" b="0">
                <a:solidFill>
                  <a:srgbClr val="CDE0C4"/>
                </a:solidFill>
                <a:latin typeface="Montserrat SemiBold"/>
              </a:rPr>
              <a:t>Look for leaves standing up in the lawn. That's a</a:t>
            </a:r>
          </a:p>
          <a:p>
            <a:pPr algn="l">
              <a:lnSpc>
                <a:spcPts val="3315"/>
              </a:lnSpc>
            </a:pPr>
            <a:r>
              <a:rPr sz="2550" i="0" b="0">
                <a:solidFill>
                  <a:srgbClr val="CDE0C4"/>
                </a:solidFill>
                <a:latin typeface="Montserrat SemiBold"/>
              </a:rPr>
              <a:t>worm's front door.</a:t>
            </a:r>
          </a:p>
        </p:txBody>
      </p:sp>
      <p:pic>
        <p:nvPicPr>
          <p:cNvPr id="5" name="burrow" descr="worm-holes-slide-1-04-burr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3800" y="8877300"/>
            <a:ext cx="6981825" cy="3343275"/>
          </a:xfrm>
          <a:prstGeom prst="rect">
            <a:avLst/>
          </a:prstGeom>
        </p:spPr>
      </p:pic>
      <p:pic>
        <p:nvPicPr>
          <p:cNvPr id="6" name="soil mound" descr="worm-holes-slide-1-05-soil mou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8875" y="8191500"/>
            <a:ext cx="4286250" cy="3286125"/>
          </a:xfrm>
          <a:prstGeom prst="rect">
            <a:avLst/>
          </a:prstGeom>
        </p:spPr>
      </p:pic>
      <p:pic>
        <p:nvPicPr>
          <p:cNvPr id="7" name="moss" descr="worm-holes-slide-1-06-mos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47625" y="9191625"/>
            <a:ext cx="3619500" cy="2647950"/>
          </a:xfrm>
          <a:prstGeom prst="rect">
            <a:avLst/>
          </a:prstGeom>
        </p:spPr>
      </p:pic>
      <p:pic>
        <p:nvPicPr>
          <p:cNvPr id="8" name="midden" descr="worm-holes-slide-1-07-midde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14625" y="4905375"/>
            <a:ext cx="3810000" cy="4953000"/>
          </a:xfrm>
          <a:prstGeom prst="rect">
            <a:avLst/>
          </a:prstGeom>
        </p:spPr>
      </p:pic>
      <p:pic>
        <p:nvPicPr>
          <p:cNvPr id="9" name="logo" descr="worm-holes-slide-1-08-log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24825" y="47625"/>
            <a:ext cx="2038350" cy="20383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worm-holes-slide-1-01-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headline"/>
          <p:cNvSpPr txBox="1"/>
          <p:nvPr/>
        </p:nvSpPr>
        <p:spPr>
          <a:xfrm>
            <a:off x="685800" y="1428750"/>
            <a:ext cx="4572000" cy="5114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7632"/>
              </a:lnSpc>
            </a:pPr>
            <a:r>
              <a:rPr sz="7200" i="1" b="0">
                <a:solidFill>
                  <a:srgbClr val="F4F1EA"/>
                </a:solidFill>
                <a:latin typeface="EB Garamond Medium"/>
              </a:rPr>
              <a:t/>
            </a:r>
          </a:p>
          <a:p>
            <a:pPr algn="l">
              <a:lnSpc>
                <a:spcPts val="7632"/>
              </a:lnSpc>
            </a:pPr>
            <a:r>
              <a:rPr sz="7200" i="1" b="0">
                <a:solidFill>
                  <a:srgbClr val="F4F1EA"/>
                </a:solidFill>
                <a:latin typeface="EB Garamond Medium"/>
              </a:rPr>
              <a:t>Nightcrawlers</a:t>
            </a:r>
          </a:p>
          <a:p>
            <a:pPr algn="l">
              <a:lnSpc>
                <a:spcPts val="7632"/>
              </a:lnSpc>
            </a:pPr>
            <a:r>
              <a:rPr sz="7200" i="1" b="0">
                <a:solidFill>
                  <a:srgbClr val="F4F1EA"/>
                </a:solidFill>
                <a:latin typeface="EB Garamond Medium"/>
              </a:rPr>
              <a:t>dig straight</a:t>
            </a:r>
          </a:p>
          <a:p>
            <a:pPr algn="l">
              <a:lnSpc>
                <a:spcPts val="7632"/>
              </a:lnSpc>
            </a:pPr>
            <a:r>
              <a:rPr sz="7200" i="1" b="0">
                <a:solidFill>
                  <a:srgbClr val="F4F1EA"/>
                </a:solidFill>
                <a:latin typeface="EB Garamond Medium"/>
              </a:rPr>
              <a:t>down, up to</a:t>
            </a:r>
          </a:p>
          <a:p>
            <a:pPr algn="l">
              <a:lnSpc>
                <a:spcPts val="7632"/>
              </a:lnSpc>
            </a:pPr>
            <a:r>
              <a:rPr sz="7200" i="1" b="0">
                <a:solidFill>
                  <a:srgbClr val="F4F1EA"/>
                </a:solidFill>
                <a:latin typeface="EB Garamond Medium"/>
              </a:rPr>
              <a:t>2 meters.</a:t>
            </a:r>
          </a:p>
        </p:txBody>
      </p:sp>
      <p:pic>
        <p:nvPicPr>
          <p:cNvPr id="4" name="burrow" descr="worm-holes-slide-2-03-burr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28625" y="10210800"/>
            <a:ext cx="7458075" cy="2009775"/>
          </a:xfrm>
          <a:prstGeom prst="rect">
            <a:avLst/>
          </a:prstGeom>
        </p:spPr>
      </p:pic>
      <p:pic>
        <p:nvPicPr>
          <p:cNvPr id="5" name="burrow cross-section" descr="worm-holes-slide-2-04-burrow cross-sec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6375" y="3190875"/>
            <a:ext cx="4076700" cy="9715500"/>
          </a:xfrm>
          <a:prstGeom prst="rect">
            <a:avLst/>
          </a:prstGeom>
        </p:spPr>
      </p:pic>
      <p:pic>
        <p:nvPicPr>
          <p:cNvPr id="6" name="ruler" descr="worm-holes-slide-2-05-rul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05875" y="3619500"/>
            <a:ext cx="571500" cy="8858250"/>
          </a:xfrm>
          <a:prstGeom prst="rect">
            <a:avLst/>
          </a:prstGeom>
        </p:spPr>
      </p:pic>
      <p:sp>
        <p:nvSpPr>
          <p:cNvPr id="7" name="ruler label"/>
          <p:cNvSpPr txBox="1"/>
          <p:nvPr/>
        </p:nvSpPr>
        <p:spPr>
          <a:xfrm>
            <a:off x="9429750" y="11953875"/>
            <a:ext cx="7620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85"/>
              </a:lnSpc>
            </a:pPr>
            <a:r>
              <a:rPr sz="2250" i="0" b="0">
                <a:solidFill>
                  <a:srgbClr val="F4F1EA"/>
                </a:solidFill>
                <a:latin typeface="Montserrat SemiBold"/>
              </a:rPr>
              <a:t>2 m</a:t>
            </a:r>
          </a:p>
        </p:txBody>
      </p:sp>
      <p:pic>
        <p:nvPicPr>
          <p:cNvPr id="8" name="logo" descr="worm-holes-slide-1-08-log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24825" y="47625"/>
            <a:ext cx="2038350" cy="20383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worm-holes-slide-1-01-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headline"/>
          <p:cNvSpPr txBox="1"/>
          <p:nvPr/>
        </p:nvSpPr>
        <p:spPr>
          <a:xfrm>
            <a:off x="685800" y="1428750"/>
            <a:ext cx="8572500" cy="2390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8268"/>
              </a:lnSpc>
            </a:pPr>
            <a:r>
              <a:rPr sz="7800" i="1" b="0">
                <a:solidFill>
                  <a:srgbClr val="F4F1EA"/>
                </a:solidFill>
                <a:latin typeface="EB Garamond Medium"/>
              </a:rPr>
              <a:t>The burrow wall is a</a:t>
            </a:r>
          </a:p>
          <a:p>
            <a:pPr algn="l">
              <a:lnSpc>
                <a:spcPts val="8268"/>
              </a:lnSpc>
            </a:pPr>
            <a:r>
              <a:rPr sz="7800" i="1" b="0">
                <a:solidFill>
                  <a:srgbClr val="F4F1EA"/>
                </a:solidFill>
                <a:latin typeface="EB Garamond Medium"/>
              </a:rPr>
              <a:t>microbe city.</a:t>
            </a:r>
          </a:p>
        </p:txBody>
      </p:sp>
      <p:sp>
        <p:nvSpPr>
          <p:cNvPr id="4" name="small line"/>
          <p:cNvSpPr txBox="1"/>
          <p:nvPr/>
        </p:nvSpPr>
        <p:spPr>
          <a:xfrm>
            <a:off x="723900" y="4133850"/>
            <a:ext cx="8191500" cy="923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315"/>
              </a:lnSpc>
            </a:pPr>
            <a:r>
              <a:rPr sz="2550" i="0" b="0">
                <a:solidFill>
                  <a:srgbClr val="CDE0C4"/>
                </a:solidFill>
                <a:latin typeface="Montserrat SemiBold"/>
              </a:rPr>
              <a:t>Up to 9 times more microbial activity than the</a:t>
            </a:r>
          </a:p>
          <a:p>
            <a:pPr algn="l">
              <a:lnSpc>
                <a:spcPts val="3315"/>
              </a:lnSpc>
            </a:pPr>
            <a:r>
              <a:rPr sz="2550" i="0" b="0">
                <a:solidFill>
                  <a:srgbClr val="CDE0C4"/>
                </a:solidFill>
                <a:latin typeface="Montserrat SemiBold"/>
              </a:rPr>
              <a:t>soil around it.</a:t>
            </a:r>
          </a:p>
        </p:txBody>
      </p:sp>
      <p:pic>
        <p:nvPicPr>
          <p:cNvPr id="5" name="burrow" descr="worm-holes-slide-3-04-burr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28625" y="10744200"/>
            <a:ext cx="11144250" cy="1476375"/>
          </a:xfrm>
          <a:prstGeom prst="rect">
            <a:avLst/>
          </a:prstGeom>
        </p:spPr>
      </p:pic>
      <p:pic>
        <p:nvPicPr>
          <p:cNvPr id="6" name="magnifier stem" descr="worm-holes-slide-3-05-magnifier ste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3000" y="10096500"/>
            <a:ext cx="381000" cy="1333500"/>
          </a:xfrm>
          <a:prstGeom prst="rect">
            <a:avLst/>
          </a:prstGeom>
        </p:spPr>
      </p:pic>
      <p:pic>
        <p:nvPicPr>
          <p:cNvPr id="7" name="drilosphere magnifier" descr="worm-holes-slide-3-06-drilosphere magnifi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57375" y="4333875"/>
            <a:ext cx="6572250" cy="6343650"/>
          </a:xfrm>
          <a:prstGeom prst="rect">
            <a:avLst/>
          </a:prstGeom>
        </p:spPr>
      </p:pic>
      <p:pic>
        <p:nvPicPr>
          <p:cNvPr id="8" name="earthworm" descr="worm-holes-slide-3-07-earthwor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96125" y="9953625"/>
            <a:ext cx="2857500" cy="2724150"/>
          </a:xfrm>
          <a:prstGeom prst="rect">
            <a:avLst/>
          </a:prstGeom>
        </p:spPr>
      </p:pic>
      <p:pic>
        <p:nvPicPr>
          <p:cNvPr id="9" name="logo" descr="worm-holes-slide-1-08-log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24825" y="47625"/>
            <a:ext cx="2038350" cy="20383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worm-holes-slide-1-01-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headline"/>
          <p:cNvSpPr txBox="1"/>
          <p:nvPr/>
        </p:nvSpPr>
        <p:spPr>
          <a:xfrm>
            <a:off x="685800" y="1428750"/>
            <a:ext cx="8572500" cy="2533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8745"/>
              </a:lnSpc>
            </a:pPr>
            <a:r>
              <a:rPr sz="8250" i="1" b="0">
                <a:solidFill>
                  <a:srgbClr val="F4F1EA"/>
                </a:solidFill>
                <a:latin typeface="EB Garamond Medium"/>
              </a:rPr>
              <a:t>The burrows are</a:t>
            </a:r>
          </a:p>
          <a:p>
            <a:pPr algn="l">
              <a:lnSpc>
                <a:spcPts val="8745"/>
              </a:lnSpc>
            </a:pPr>
            <a:r>
              <a:rPr sz="8250" i="1" b="0">
                <a:solidFill>
                  <a:srgbClr val="F4F1EA"/>
                </a:solidFill>
                <a:latin typeface="EB Garamond Medium"/>
              </a:rPr>
              <a:t>plumbing.</a:t>
            </a:r>
          </a:p>
        </p:txBody>
      </p:sp>
      <p:sp>
        <p:nvSpPr>
          <p:cNvPr id="4" name="small line"/>
          <p:cNvSpPr txBox="1"/>
          <p:nvPr/>
        </p:nvSpPr>
        <p:spPr>
          <a:xfrm>
            <a:off x="723900" y="4257675"/>
            <a:ext cx="8191500" cy="923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315"/>
              </a:lnSpc>
            </a:pPr>
            <a:r>
              <a:rPr sz="2550" i="0" b="0">
                <a:solidFill>
                  <a:srgbClr val="CDE0C4"/>
                </a:solidFill>
                <a:latin typeface="Montserrat SemiBold"/>
              </a:rPr>
              <a:t>Rain runs straight down the tunnels, deep into</a:t>
            </a:r>
          </a:p>
          <a:p>
            <a:pPr algn="l">
              <a:lnSpc>
                <a:spcPts val="3315"/>
              </a:lnSpc>
            </a:pPr>
            <a:r>
              <a:rPr sz="2550" i="0" b="0">
                <a:solidFill>
                  <a:srgbClr val="CDE0C4"/>
                </a:solidFill>
                <a:latin typeface="Montserrat SemiBold"/>
              </a:rPr>
              <a:t>the soil.</a:t>
            </a:r>
          </a:p>
        </p:txBody>
      </p:sp>
      <p:pic>
        <p:nvPicPr>
          <p:cNvPr id="5" name="burrow" descr="worm-holes-slide-4-04-burr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28625" y="6877050"/>
            <a:ext cx="11144250" cy="5343525"/>
          </a:xfrm>
          <a:prstGeom prst="rect">
            <a:avLst/>
          </a:prstGeom>
        </p:spPr>
      </p:pic>
      <p:pic>
        <p:nvPicPr>
          <p:cNvPr id="6" name="rain 1" descr="worm-holes-slide-4-05-rain 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0" y="5334000"/>
            <a:ext cx="114300" cy="1809750"/>
          </a:xfrm>
          <a:prstGeom prst="rect">
            <a:avLst/>
          </a:prstGeom>
        </p:spPr>
      </p:pic>
      <p:pic>
        <p:nvPicPr>
          <p:cNvPr id="7" name="rain 2" descr="worm-holes-slide-4-06-rain 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95875" y="5715000"/>
            <a:ext cx="114300" cy="2476500"/>
          </a:xfrm>
          <a:prstGeom prst="rect">
            <a:avLst/>
          </a:prstGeom>
        </p:spPr>
      </p:pic>
      <p:pic>
        <p:nvPicPr>
          <p:cNvPr id="8" name="rain 3" descr="worm-holes-slide-4-07-rain 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0" y="5191125"/>
            <a:ext cx="114300" cy="3714750"/>
          </a:xfrm>
          <a:prstGeom prst="rect">
            <a:avLst/>
          </a:prstGeom>
        </p:spPr>
      </p:pic>
      <p:pic>
        <p:nvPicPr>
          <p:cNvPr id="9" name="rain 4" descr="worm-holes-slide-4-08-rain 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72125" y="5810250"/>
            <a:ext cx="114300" cy="2381250"/>
          </a:xfrm>
          <a:prstGeom prst="rect">
            <a:avLst/>
          </a:prstGeom>
        </p:spPr>
      </p:pic>
      <p:pic>
        <p:nvPicPr>
          <p:cNvPr id="10" name="rain 5" descr="worm-holes-slide-4-09-rain 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05500" y="5429250"/>
            <a:ext cx="114300" cy="1905000"/>
          </a:xfrm>
          <a:prstGeom prst="rect">
            <a:avLst/>
          </a:prstGeom>
        </p:spPr>
      </p:pic>
      <p:pic>
        <p:nvPicPr>
          <p:cNvPr id="11" name="wood chips" descr="worm-holes-slide-4-10-wood chip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81625" y="6572250"/>
            <a:ext cx="3714750" cy="2962275"/>
          </a:xfrm>
          <a:prstGeom prst="rect">
            <a:avLst/>
          </a:prstGeom>
        </p:spPr>
      </p:pic>
      <p:pic>
        <p:nvPicPr>
          <p:cNvPr id="12" name="moss" descr="worm-holes-slide-4-11-mos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57375" y="6667500"/>
            <a:ext cx="3524250" cy="2590800"/>
          </a:xfrm>
          <a:prstGeom prst="rect">
            <a:avLst/>
          </a:prstGeom>
        </p:spPr>
      </p:pic>
      <p:pic>
        <p:nvPicPr>
          <p:cNvPr id="13" name="logo" descr="worm-holes-slide-1-08-logo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24825" y="47625"/>
            <a:ext cx="2038350" cy="20383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worm-holes-slide-1-01-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headline"/>
          <p:cNvSpPr txBox="1"/>
          <p:nvPr/>
        </p:nvSpPr>
        <p:spPr>
          <a:xfrm>
            <a:off x="685800" y="1428750"/>
            <a:ext cx="8572500" cy="2533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8745"/>
              </a:lnSpc>
            </a:pPr>
            <a:r>
              <a:rPr sz="8250" i="1" b="0">
                <a:solidFill>
                  <a:srgbClr val="F4F1EA"/>
                </a:solidFill>
                <a:latin typeface="EB Garamond Medium"/>
              </a:rPr>
              <a:t>Roots follow the</a:t>
            </a:r>
          </a:p>
          <a:p>
            <a:pPr algn="l">
              <a:lnSpc>
                <a:spcPts val="8745"/>
              </a:lnSpc>
            </a:pPr>
            <a:r>
              <a:rPr sz="8250" i="1" b="0">
                <a:solidFill>
                  <a:srgbClr val="F4F1EA"/>
                </a:solidFill>
                <a:latin typeface="EB Garamond Medium"/>
              </a:rPr>
              <a:t>worms down.</a:t>
            </a:r>
          </a:p>
        </p:txBody>
      </p:sp>
      <p:sp>
        <p:nvSpPr>
          <p:cNvPr id="4" name="small line"/>
          <p:cNvSpPr txBox="1"/>
          <p:nvPr/>
        </p:nvSpPr>
        <p:spPr>
          <a:xfrm>
            <a:off x="723900" y="4257675"/>
            <a:ext cx="8191500" cy="923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315"/>
              </a:lnSpc>
            </a:pPr>
            <a:r>
              <a:rPr sz="2550" i="0" b="0">
                <a:solidFill>
                  <a:srgbClr val="CDE0C4"/>
                </a:solidFill>
                <a:latin typeface="Montserrat SemiBold"/>
              </a:rPr>
              <a:t>They grow along the nitrogen-rich burrow walls</a:t>
            </a:r>
          </a:p>
          <a:p>
            <a:pPr algn="l">
              <a:lnSpc>
                <a:spcPts val="3315"/>
              </a:lnSpc>
            </a:pPr>
            <a:r>
              <a:rPr sz="2550" i="0" b="0">
                <a:solidFill>
                  <a:srgbClr val="CDE0C4"/>
                </a:solidFill>
                <a:latin typeface="Montserrat SemiBold"/>
              </a:rPr>
              <a:t>into the subsoil.</a:t>
            </a:r>
          </a:p>
        </p:txBody>
      </p:sp>
      <p:pic>
        <p:nvPicPr>
          <p:cNvPr id="5" name="burrow" descr="worm-holes-slide-5-04-burr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28625" y="10734675"/>
            <a:ext cx="6124575" cy="1485900"/>
          </a:xfrm>
          <a:prstGeom prst="rect">
            <a:avLst/>
          </a:prstGeom>
        </p:spPr>
      </p:pic>
      <p:pic>
        <p:nvPicPr>
          <p:cNvPr id="6" name="root in burrow" descr="worm-holes-slide-5-05-root in burr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5375" y="4524375"/>
            <a:ext cx="3009900" cy="8477250"/>
          </a:xfrm>
          <a:prstGeom prst="rect">
            <a:avLst/>
          </a:prstGeom>
        </p:spPr>
      </p:pic>
      <p:pic>
        <p:nvPicPr>
          <p:cNvPr id="7" name="fiddlehead" descr="worm-holes-slide-5-06-fiddlehea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0875" y="9477375"/>
            <a:ext cx="3048000" cy="2962275"/>
          </a:xfrm>
          <a:prstGeom prst="rect">
            <a:avLst/>
          </a:prstGeom>
        </p:spPr>
      </p:pic>
      <p:pic>
        <p:nvPicPr>
          <p:cNvPr id="8" name="earthworm" descr="worm-holes-slide-5-07-earthwor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3375" y="8715375"/>
            <a:ext cx="3143250" cy="3571875"/>
          </a:xfrm>
          <a:prstGeom prst="rect">
            <a:avLst/>
          </a:prstGeom>
        </p:spPr>
      </p:pic>
      <p:pic>
        <p:nvPicPr>
          <p:cNvPr id="9" name="logo" descr="worm-holes-slide-1-08-log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24825" y="47625"/>
            <a:ext cx="2038350" cy="20383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worm-holes-slide-1-01-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headline"/>
          <p:cNvSpPr txBox="1"/>
          <p:nvPr/>
        </p:nvSpPr>
        <p:spPr>
          <a:xfrm>
            <a:off x="685800" y="1428750"/>
            <a:ext cx="8572500" cy="2533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8745"/>
              </a:lnSpc>
            </a:pPr>
            <a:r>
              <a:rPr sz="8250" i="1" b="0">
                <a:solidFill>
                  <a:srgbClr val="F4F1EA"/>
                </a:solidFill>
                <a:latin typeface="EB Garamond Medium"/>
              </a:rPr>
              <a:t>Plowing cuts the</a:t>
            </a:r>
          </a:p>
          <a:p>
            <a:pPr algn="l">
              <a:lnSpc>
                <a:spcPts val="8745"/>
              </a:lnSpc>
            </a:pPr>
            <a:r>
              <a:rPr sz="8250" i="1" b="0">
                <a:solidFill>
                  <a:srgbClr val="F4F1EA"/>
                </a:solidFill>
                <a:latin typeface="EB Garamond Medium"/>
              </a:rPr>
              <a:t>pipes.</a:t>
            </a:r>
          </a:p>
        </p:txBody>
      </p:sp>
      <p:sp>
        <p:nvSpPr>
          <p:cNvPr id="4" name="small line"/>
          <p:cNvSpPr txBox="1"/>
          <p:nvPr/>
        </p:nvSpPr>
        <p:spPr>
          <a:xfrm>
            <a:off x="723900" y="4257675"/>
            <a:ext cx="8191500" cy="923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315"/>
              </a:lnSpc>
            </a:pPr>
            <a:r>
              <a:rPr sz="2550" i="0" b="0">
                <a:solidFill>
                  <a:srgbClr val="CDE0C4"/>
                </a:solidFill>
                <a:latin typeface="Montserrat SemiBold"/>
              </a:rPr>
              <a:t>No-till fields have 137% more earthworms than</a:t>
            </a:r>
          </a:p>
          <a:p>
            <a:pPr algn="l">
              <a:lnSpc>
                <a:spcPts val="3315"/>
              </a:lnSpc>
            </a:pPr>
            <a:r>
              <a:rPr sz="2550" i="0" b="0">
                <a:solidFill>
                  <a:srgbClr val="CDE0C4"/>
                </a:solidFill>
                <a:latin typeface="Montserrat SemiBold"/>
              </a:rPr>
              <a:t>plowed ones.</a:t>
            </a:r>
          </a:p>
        </p:txBody>
      </p:sp>
      <p:pic>
        <p:nvPicPr>
          <p:cNvPr id="5" name="burrow" descr="worm-holes-slide-6-04-burr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28625" y="10734675"/>
            <a:ext cx="6505575" cy="1485900"/>
          </a:xfrm>
          <a:prstGeom prst="rect">
            <a:avLst/>
          </a:prstGeom>
        </p:spPr>
      </p:pic>
      <p:sp>
        <p:nvSpPr>
          <p:cNvPr id="6" name="137%"/>
          <p:cNvSpPr txBox="1"/>
          <p:nvPr/>
        </p:nvSpPr>
        <p:spPr>
          <a:xfrm>
            <a:off x="571500" y="6096000"/>
            <a:ext cx="5715000" cy="3095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750"/>
              </a:lnSpc>
            </a:pPr>
            <a:r>
              <a:rPr sz="18750" i="0" b="0">
                <a:solidFill>
                  <a:srgbClr val="F4F1EA"/>
                </a:solidFill>
                <a:latin typeface="EB Garamond SemiBold"/>
              </a:rPr>
              <a:t>137%</a:t>
            </a:r>
          </a:p>
        </p:txBody>
      </p:sp>
      <p:pic>
        <p:nvPicPr>
          <p:cNvPr id="7" name="spade cut" descr="worm-holes-slide-6-06-spade cu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6375" y="4524375"/>
            <a:ext cx="4914900" cy="8382000"/>
          </a:xfrm>
          <a:prstGeom prst="rect">
            <a:avLst/>
          </a:prstGeom>
        </p:spPr>
      </p:pic>
      <p:pic>
        <p:nvPicPr>
          <p:cNvPr id="8" name="logo" descr="worm-holes-slide-1-08-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4825" y="47625"/>
            <a:ext cx="2038350" cy="20383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