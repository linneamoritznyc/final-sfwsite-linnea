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508000"/>
            <a:ext cx="1439333" cy="1244600"/>
          </a:xfrm>
          <a:prstGeom prst="rect">
            <a:avLst/>
          </a:prstGeom>
        </p:spPr>
      </p:pic>
      <p:pic>
        <p:nvPicPr>
          <p:cNvPr id="4" name="soil-cross-section" descr="s1-05-soil-cross-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4000"/>
            <a:ext cx="9144000" cy="4826000"/>
          </a:xfrm>
          <a:prstGeom prst="rect">
            <a:avLst/>
          </a:prstGeom>
        </p:spPr>
      </p:pic>
      <p:pic>
        <p:nvPicPr>
          <p:cNvPr id="5" name="cover-crop-1" descr="s1-06-cover-crop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67" y="5469467"/>
            <a:ext cx="643467" cy="1320800"/>
          </a:xfrm>
          <a:prstGeom prst="rect">
            <a:avLst/>
          </a:prstGeom>
        </p:spPr>
      </p:pic>
      <p:pic>
        <p:nvPicPr>
          <p:cNvPr id="6" name="cover-crop-2" descr="s1-07-cover-crop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067" y="5740400"/>
            <a:ext cx="533400" cy="1049867"/>
          </a:xfrm>
          <a:prstGeom prst="rect">
            <a:avLst/>
          </a:prstGeom>
        </p:spPr>
      </p:pic>
      <p:pic>
        <p:nvPicPr>
          <p:cNvPr id="7" name="cover-crop-3" descr="s1-08-cover-crop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3333" y="5401733"/>
            <a:ext cx="668867" cy="1388533"/>
          </a:xfrm>
          <a:prstGeom prst="rect">
            <a:avLst/>
          </a:prstGeom>
        </p:spPr>
      </p:pic>
      <p:pic>
        <p:nvPicPr>
          <p:cNvPr id="8" name="cover-crop-4" descr="s1-09-cover-crop-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667" y="5638800"/>
            <a:ext cx="592667" cy="1151467"/>
          </a:xfrm>
          <a:prstGeom prst="rect">
            <a:avLst/>
          </a:prstGeom>
        </p:spPr>
      </p:pic>
      <p:pic>
        <p:nvPicPr>
          <p:cNvPr id="9" name="flower-norfolk-common-poppy" descr="s1-10-flower-norfolk-common-popp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5067" y="4826000"/>
            <a:ext cx="1058333" cy="1947333"/>
          </a:xfrm>
          <a:prstGeom prst="rect">
            <a:avLst/>
          </a:prstGeom>
        </p:spPr>
      </p:pic>
      <p:pic>
        <p:nvPicPr>
          <p:cNvPr id="10" name="flower-tamil-nadu-marigold" descr="s1-11-flower-tamil-nadu-mari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467" y="5080000"/>
            <a:ext cx="1092200" cy="1693333"/>
          </a:xfrm>
          <a:prstGeom prst="rect">
            <a:avLst/>
          </a:prstGeom>
        </p:spPr>
      </p:pic>
      <p:pic>
        <p:nvPicPr>
          <p:cNvPr id="11" name="earthworm" descr="s1-12-earthwor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9267" y="8466667"/>
            <a:ext cx="1744133" cy="2116667"/>
          </a:xfrm>
          <a:prstGeom prst="rect">
            <a:avLst/>
          </a:prstGeom>
        </p:spPr>
      </p:pic>
      <p:sp>
        <p:nvSpPr>
          <p:cNvPr id="12" name="headline"/>
          <p:cNvSpPr txBox="1"/>
          <p:nvPr/>
        </p:nvSpPr>
        <p:spPr>
          <a:xfrm>
            <a:off x="762000" y="1270000"/>
            <a:ext cx="6942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22371F"/>
                </a:solidFill>
                <a:latin typeface="Montserrat"/>
              </a:rPr>
              <a:t>How do worms work their magic?</a:t>
            </a:r>
          </a:p>
        </p:txBody>
      </p:sp>
      <p:sp>
        <p:nvSpPr>
          <p:cNvPr id="13" name="small-line"/>
          <p:cNvSpPr txBox="1"/>
          <p:nvPr/>
        </p:nvSpPr>
        <p:spPr>
          <a:xfrm>
            <a:off x="778933" y="2921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156826"/>
                </a:solidFill>
                <a:latin typeface="Source Sans Pro"/>
              </a:rPr>
              <a:t>World Earthworm Day, 21 October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