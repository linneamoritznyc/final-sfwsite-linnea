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f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soil" descr="f1-03-so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37333"/>
            <a:ext cx="9144000" cy="5418667"/>
          </a:xfrm>
          <a:prstGeom prst="rect">
            <a:avLst/>
          </a:prstGeom>
        </p:spPr>
      </p:pic>
      <p:pic>
        <p:nvPicPr>
          <p:cNvPr id="4" name="worm-epigeic" descr="f1-04-worm-epige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9863667"/>
            <a:ext cx="2785533" cy="3090333"/>
          </a:xfrm>
          <a:prstGeom prst="rect">
            <a:avLst/>
          </a:prstGeom>
        </p:spPr>
      </p:pic>
      <p:pic>
        <p:nvPicPr>
          <p:cNvPr id="5" name="worm-endogeic" descr="f1-05-worm-endoge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8733" y="9287933"/>
            <a:ext cx="3505200" cy="3666067"/>
          </a:xfrm>
          <a:prstGeom prst="rect">
            <a:avLst/>
          </a:prstGeom>
        </p:spPr>
      </p:pic>
      <p:pic>
        <p:nvPicPr>
          <p:cNvPr id="6" name="worm-anecic" descr="f1-06-worm-anec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867" y="8492067"/>
            <a:ext cx="3776133" cy="4461933"/>
          </a:xfrm>
          <a:prstGeom prst="rect">
            <a:avLst/>
          </a:prstGeom>
        </p:spPr>
      </p:pic>
      <p:pic>
        <p:nvPicPr>
          <p:cNvPr id="7" name="logo" descr="f1-07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2800" y="13292667"/>
            <a:ext cx="1270000" cy="1100667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711200" y="2794000"/>
            <a:ext cx="7721600" cy="423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7330" b="1">
                <a:solidFill>
                  <a:srgbClr val="22371F"/>
                </a:solidFill>
                <a:latin typeface="Montserrat"/>
              </a:rPr>
              <a:t>Is World Earthworm Day even a thing?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f2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soil" descr="f2-04-so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53333"/>
            <a:ext cx="9144000" cy="4402667"/>
          </a:xfrm>
          <a:prstGeom prst="rect">
            <a:avLst/>
          </a:prstGeom>
        </p:spPr>
      </p:pic>
      <p:pic>
        <p:nvPicPr>
          <p:cNvPr id="4" name="worm-anecic" descr="f2-05-worm-anec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333" y="9474200"/>
            <a:ext cx="4148667" cy="5003800"/>
          </a:xfrm>
          <a:prstGeom prst="rect">
            <a:avLst/>
          </a:prstGeom>
        </p:spPr>
      </p:pic>
      <p:pic>
        <p:nvPicPr>
          <p:cNvPr id="5" name="lamp-beam" descr="f2-06-lamp-b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6667" y="8881533"/>
            <a:ext cx="3810000" cy="2235200"/>
          </a:xfrm>
          <a:prstGeom prst="rect">
            <a:avLst/>
          </a:prstGeom>
        </p:spPr>
      </p:pic>
      <p:sp>
        <p:nvSpPr>
          <p:cNvPr id="6" name="yes"/>
          <p:cNvSpPr txBox="1"/>
          <p:nvPr/>
        </p:nvSpPr>
        <p:spPr>
          <a:xfrm>
            <a:off x="711200" y="2540000"/>
            <a:ext cx="7721600" cy="118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6930" b="1">
                <a:solidFill>
                  <a:srgbClr val="156826"/>
                </a:solidFill>
                <a:latin typeface="Montserrat"/>
              </a:rPr>
              <a:t>Yes, it's real.</a:t>
            </a:r>
          </a:p>
        </p:txBody>
      </p:sp>
      <p:sp>
        <p:nvSpPr>
          <p:cNvPr id="7" name="story"/>
          <p:cNvSpPr txBox="1"/>
          <p:nvPr/>
        </p:nvSpPr>
        <p:spPr>
          <a:xfrm>
            <a:off x="711200" y="3979333"/>
            <a:ext cx="7721600" cy="474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329" b="1">
                <a:solidFill>
                  <a:srgbClr val="4F3433"/>
                </a:solidFill>
                <a:latin typeface="Source Sans Pro"/>
              </a:rPr>
              <a:t>In 2016 the Earthworm Society of Britain nominated 21 October as World Earthworm Day, and they chose October to honor Charles Darwin, since his book on worms was published that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f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panel-epigeic" descr="f3-03-panel-epige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67" y="3810000"/>
            <a:ext cx="8568267" cy="3386667"/>
          </a:xfrm>
          <a:prstGeom prst="rect">
            <a:avLst/>
          </a:prstGeom>
        </p:spPr>
      </p:pic>
      <p:pic>
        <p:nvPicPr>
          <p:cNvPr id="4" name="worm-epigeic" descr="f3-05-worm-epige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067" y="4419600"/>
            <a:ext cx="2438400" cy="2658533"/>
          </a:xfrm>
          <a:prstGeom prst="rect">
            <a:avLst/>
          </a:prstGeom>
        </p:spPr>
      </p:pic>
      <p:pic>
        <p:nvPicPr>
          <p:cNvPr id="5" name="panel-endogeic" descr="f3-06-panel-endoge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867" y="6587067"/>
            <a:ext cx="8568267" cy="3386667"/>
          </a:xfrm>
          <a:prstGeom prst="rect">
            <a:avLst/>
          </a:prstGeom>
        </p:spPr>
      </p:pic>
      <p:pic>
        <p:nvPicPr>
          <p:cNvPr id="6" name="worm-endogeic" descr="f3-08-worm-endoge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333" y="6985000"/>
            <a:ext cx="2760133" cy="2870200"/>
          </a:xfrm>
          <a:prstGeom prst="rect">
            <a:avLst/>
          </a:prstGeom>
        </p:spPr>
      </p:pic>
      <p:pic>
        <p:nvPicPr>
          <p:cNvPr id="7" name="panel-anecic" descr="f3-09-panel-anec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867" y="9364133"/>
            <a:ext cx="8568267" cy="3386667"/>
          </a:xfrm>
          <a:prstGeom prst="rect">
            <a:avLst/>
          </a:prstGeom>
        </p:spPr>
      </p:pic>
      <p:pic>
        <p:nvPicPr>
          <p:cNvPr id="8" name="worm-anecic" descr="f3-11-worm-anec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7933" y="9398000"/>
            <a:ext cx="3039533" cy="3234267"/>
          </a:xfrm>
          <a:prstGeom prst="rect">
            <a:avLst/>
          </a:prstGeom>
        </p:spPr>
      </p:pic>
      <p:sp>
        <p:nvSpPr>
          <p:cNvPr id="9" name="headline"/>
          <p:cNvSpPr txBox="1"/>
          <p:nvPr/>
        </p:nvSpPr>
        <p:spPr>
          <a:xfrm>
            <a:off x="711200" y="2116667"/>
            <a:ext cx="7721600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6130" b="1">
                <a:solidFill>
                  <a:srgbClr val="22371F"/>
                </a:solidFill>
                <a:latin typeface="Montserrat"/>
              </a:rPr>
              <a:t>Which earthworm are you today?</a:t>
            </a:r>
          </a:p>
        </p:txBody>
      </p:sp>
      <p:sp>
        <p:nvSpPr>
          <p:cNvPr id="10" name="label-epigeic"/>
          <p:cNvSpPr txBox="1"/>
          <p:nvPr/>
        </p:nvSpPr>
        <p:spPr>
          <a:xfrm>
            <a:off x="1016000" y="4572000"/>
            <a:ext cx="4402667" cy="194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2670" b="1">
                <a:solidFill>
                  <a:srgbClr val="F4F1EA"/>
                </a:solidFill>
                <a:latin typeface="Source Sans Pro"/>
              </a:rPr>
              <a:t>Epigeic. Lives in the leaf litter and eats fast.</a:t>
            </a:r>
          </a:p>
        </p:txBody>
      </p:sp>
      <p:sp>
        <p:nvSpPr>
          <p:cNvPr id="11" name="label-endogeic"/>
          <p:cNvSpPr txBox="1"/>
          <p:nvPr/>
        </p:nvSpPr>
        <p:spPr>
          <a:xfrm>
            <a:off x="1016000" y="7349067"/>
            <a:ext cx="4402667" cy="194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2670" b="1">
                <a:solidFill>
                  <a:srgbClr val="F4F1EA"/>
                </a:solidFill>
                <a:latin typeface="Source Sans Pro"/>
              </a:rPr>
              <a:t>Endogeic. Stays in the topsoil and eats its way through it.</a:t>
            </a:r>
          </a:p>
        </p:txBody>
      </p:sp>
      <p:sp>
        <p:nvSpPr>
          <p:cNvPr id="12" name="label-anecic"/>
          <p:cNvSpPr txBox="1"/>
          <p:nvPr/>
        </p:nvSpPr>
        <p:spPr>
          <a:xfrm>
            <a:off x="1016000" y="10126133"/>
            <a:ext cx="4402667" cy="194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2670" b="1">
                <a:solidFill>
                  <a:srgbClr val="F4F1EA"/>
                </a:solidFill>
                <a:latin typeface="Source Sans Pro"/>
              </a:rPr>
              <a:t>Anecic. Digs deep vertical burrows and comes up at night.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