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1143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5.png"/><Relationship Id="rId4" Type="http://schemas.openxmlformats.org/officeDocument/2006/relationships/image" Target="../media/image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5.png"/><Relationship Id="rId4" Type="http://schemas.openxmlformats.org/officeDocument/2006/relationships/image" Target="../media/image1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s1-01-backgroun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earthworm" descr="s1-04-earthwor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5400" y="7484533"/>
            <a:ext cx="4013200" cy="3945467"/>
          </a:xfrm>
          <a:prstGeom prst="rect">
            <a:avLst/>
          </a:prstGeom>
        </p:spPr>
      </p:pic>
      <p:pic>
        <p:nvPicPr>
          <p:cNvPr id="4" name="fern-fiddlehead" descr="s1-05-fern-fiddlehea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8500533"/>
            <a:ext cx="2370667" cy="2641600"/>
          </a:xfrm>
          <a:prstGeom prst="rect">
            <a:avLst/>
          </a:prstGeom>
        </p:spPr>
      </p:pic>
      <p:sp>
        <p:nvSpPr>
          <p:cNvPr id="5" name="headline"/>
          <p:cNvSpPr txBox="1"/>
          <p:nvPr/>
        </p:nvSpPr>
        <p:spPr>
          <a:xfrm>
            <a:off x="609600" y="2540000"/>
            <a:ext cx="7924800" cy="3386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7470" b="1">
                <a:solidFill>
                  <a:srgbClr val="F4F1EA"/>
                </a:solidFill>
                <a:latin typeface="Montserrat"/>
              </a:rPr>
              <a:t>What does Regenerative actually mean?</a:t>
            </a:r>
          </a:p>
        </p:txBody>
      </p:sp>
      <p:sp>
        <p:nvSpPr>
          <p:cNvPr id="6" name="small-line"/>
          <p:cNvSpPr txBox="1"/>
          <p:nvPr/>
        </p:nvSpPr>
        <p:spPr>
          <a:xfrm>
            <a:off x="643467" y="6180667"/>
            <a:ext cx="7620000" cy="592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>
                <a:solidFill>
                  <a:srgbClr val="59A66C"/>
                </a:solidFill>
                <a:latin typeface="Source Sans 3"/>
              </a:rPr>
              <a:t>And who gets to decide?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s2-01-backgroun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logo" descr="s2-02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6000" y="541867"/>
            <a:ext cx="1168400" cy="1168400"/>
          </a:xfrm>
          <a:prstGeom prst="rect">
            <a:avLst/>
          </a:prstGeom>
        </p:spPr>
      </p:pic>
      <p:pic>
        <p:nvPicPr>
          <p:cNvPr id="4" name="pebbles" descr="s2-04-pebbl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667" y="9110133"/>
            <a:ext cx="2201333" cy="2091267"/>
          </a:xfrm>
          <a:prstGeom prst="rect">
            <a:avLst/>
          </a:prstGeom>
        </p:spPr>
      </p:pic>
      <p:sp>
        <p:nvSpPr>
          <p:cNvPr id="5" name="question"/>
          <p:cNvSpPr txBox="1"/>
          <p:nvPr/>
        </p:nvSpPr>
        <p:spPr>
          <a:xfrm>
            <a:off x="609600" y="2878667"/>
            <a:ext cx="7924800" cy="5926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7200" b="1">
                <a:solidFill>
                  <a:srgbClr val="F4F1EA"/>
                </a:solidFill>
                <a:latin typeface="Montserrat"/>
              </a:rPr>
              <a:t>A destination</a:t>
            </a:r>
          </a:p>
          <a:p>
            <a:pPr algn="l">
              <a:lnSpc>
                <a:spcPct val="106000"/>
              </a:lnSpc>
            </a:pPr>
            <a:r>
              <a:rPr sz="7200" b="1">
                <a:solidFill>
                  <a:srgbClr val="59A66C"/>
                </a:solidFill>
                <a:latin typeface="Montserrat"/>
              </a:rPr>
              <a:t>or a direction?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s3-01-backgroun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logo" descr="s2-02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6000" y="541867"/>
            <a:ext cx="1168400" cy="1168400"/>
          </a:xfrm>
          <a:prstGeom prst="rect">
            <a:avLst/>
          </a:prstGeom>
        </p:spPr>
      </p:pic>
      <p:pic>
        <p:nvPicPr>
          <p:cNvPr id="4" name="acorns" descr="s3-04-acorn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" y="9584267"/>
            <a:ext cx="2370667" cy="1159933"/>
          </a:xfrm>
          <a:prstGeom prst="rect">
            <a:avLst/>
          </a:prstGeom>
        </p:spPr>
      </p:pic>
      <p:sp>
        <p:nvSpPr>
          <p:cNvPr id="5" name="question"/>
          <p:cNvSpPr txBox="1"/>
          <p:nvPr/>
        </p:nvSpPr>
        <p:spPr>
          <a:xfrm>
            <a:off x="609600" y="2878667"/>
            <a:ext cx="7924800" cy="5926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7200" b="1">
                <a:solidFill>
                  <a:srgbClr val="F4F1EA"/>
                </a:solidFill>
                <a:latin typeface="Montserrat"/>
              </a:rPr>
              <a:t>A certified status</a:t>
            </a:r>
          </a:p>
          <a:p>
            <a:pPr algn="l">
              <a:lnSpc>
                <a:spcPct val="106000"/>
              </a:lnSpc>
            </a:pPr>
            <a:r>
              <a:rPr sz="7200" b="1">
                <a:solidFill>
                  <a:srgbClr val="59A66C"/>
                </a:solidFill>
                <a:latin typeface="Montserrat"/>
              </a:rPr>
              <a:t>or a way of thinking?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s4-01-backgroun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logo" descr="s2-02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6000" y="541867"/>
            <a:ext cx="1168400" cy="1168400"/>
          </a:xfrm>
          <a:prstGeom prst="rect">
            <a:avLst/>
          </a:prstGeom>
        </p:spPr>
      </p:pic>
      <p:pic>
        <p:nvPicPr>
          <p:cNvPr id="4" name="moss-clump" descr="s4-04-moss-clum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3333" y="9279467"/>
            <a:ext cx="2540000" cy="1752600"/>
          </a:xfrm>
          <a:prstGeom prst="rect">
            <a:avLst/>
          </a:prstGeom>
        </p:spPr>
      </p:pic>
      <p:sp>
        <p:nvSpPr>
          <p:cNvPr id="5" name="question"/>
          <p:cNvSpPr txBox="1"/>
          <p:nvPr/>
        </p:nvSpPr>
        <p:spPr>
          <a:xfrm>
            <a:off x="609600" y="2878667"/>
            <a:ext cx="7924800" cy="5926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7200" b="1">
                <a:solidFill>
                  <a:srgbClr val="F4F1EA"/>
                </a:solidFill>
                <a:latin typeface="Montserrat"/>
              </a:rPr>
              <a:t>A premium product,</a:t>
            </a:r>
          </a:p>
          <a:p>
            <a:pPr algn="l">
              <a:lnSpc>
                <a:spcPct val="106000"/>
              </a:lnSpc>
            </a:pPr>
            <a:r>
              <a:rPr sz="7200" b="1">
                <a:solidFill>
                  <a:srgbClr val="59A66C"/>
                </a:solidFill>
                <a:latin typeface="Montserrat"/>
              </a:rPr>
              <a:t>or a standard everyone who works the land can reach?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s5-01-backgroun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flower-poppy" descr="s5-02-flower-popp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667" y="762000"/>
            <a:ext cx="2201333" cy="4064000"/>
          </a:xfrm>
          <a:prstGeom prst="rect">
            <a:avLst/>
          </a:prstGeom>
        </p:spPr>
      </p:pic>
      <p:pic>
        <p:nvPicPr>
          <p:cNvPr id="4" name="flower-marigold" descr="s5-03-flower-marigo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62200" y="1346200"/>
            <a:ext cx="2218267" cy="3403600"/>
          </a:xfrm>
          <a:prstGeom prst="rect">
            <a:avLst/>
          </a:prstGeom>
        </p:spPr>
      </p:pic>
      <p:pic>
        <p:nvPicPr>
          <p:cNvPr id="5" name="flower-paintbrush" descr="s5-04-flower-paintbrush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18000" y="355600"/>
            <a:ext cx="2379133" cy="4368800"/>
          </a:xfrm>
          <a:prstGeom prst="rect">
            <a:avLst/>
          </a:prstGeom>
        </p:spPr>
      </p:pic>
      <p:pic>
        <p:nvPicPr>
          <p:cNvPr id="6" name="flower-heliconia" descr="s5-05-flower-heliconi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83867" y="143933"/>
            <a:ext cx="2472267" cy="4792133"/>
          </a:xfrm>
          <a:prstGeom prst="rect">
            <a:avLst/>
          </a:prstGeom>
        </p:spPr>
      </p:pic>
      <p:pic>
        <p:nvPicPr>
          <p:cNvPr id="7" name="logo" descr="s2-02-logo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66000" y="9990667"/>
            <a:ext cx="1168400" cy="1168400"/>
          </a:xfrm>
          <a:prstGeom prst="rect">
            <a:avLst/>
          </a:prstGeom>
        </p:spPr>
      </p:pic>
      <p:sp>
        <p:nvSpPr>
          <p:cNvPr id="8" name="headline"/>
          <p:cNvSpPr txBox="1"/>
          <p:nvPr/>
        </p:nvSpPr>
        <p:spPr>
          <a:xfrm>
            <a:off x="609600" y="6096000"/>
            <a:ext cx="7924800" cy="279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5330" b="1">
                <a:solidFill>
                  <a:srgbClr val="F4F1EA"/>
                </a:solidFill>
                <a:latin typeface="Montserrat"/>
              </a:rPr>
              <a:t>Living soil in the hands of every person who works the land.</a:t>
            </a:r>
          </a:p>
        </p:txBody>
      </p:sp>
      <p:sp>
        <p:nvSpPr>
          <p:cNvPr id="9" name="small-line"/>
          <p:cNvSpPr txBox="1"/>
          <p:nvPr/>
        </p:nvSpPr>
        <p:spPr>
          <a:xfrm>
            <a:off x="643467" y="9144000"/>
            <a:ext cx="7620000" cy="1100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70" b="1">
                <a:solidFill>
                  <a:srgbClr val="59A66C"/>
                </a:solidFill>
                <a:latin typeface="Source Sans 3"/>
              </a:rPr>
              <a:t>What does regenerative mean to you? Tell us in the comments.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