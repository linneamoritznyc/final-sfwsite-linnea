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nd" descr="s1-02-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979333"/>
          </a:xfrm>
          <a:prstGeom prst="rect">
            <a:avLst/>
          </a:prstGeom>
        </p:spPr>
      </p:pic>
      <p:pic>
        <p:nvPicPr>
          <p:cNvPr id="4" name="soil-strip" descr="s1-05-soil-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382000"/>
            <a:ext cx="9144000" cy="3048000"/>
          </a:xfrm>
          <a:prstGeom prst="rect">
            <a:avLst/>
          </a:prstGeom>
        </p:spPr>
      </p:pic>
      <p:pic>
        <p:nvPicPr>
          <p:cNvPr id="5" name="fern-fiddlehead" descr="s1-06-fern-fiddle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0" y="5808133"/>
            <a:ext cx="2794000" cy="3107267"/>
          </a:xfrm>
          <a:prstGeom prst="rect">
            <a:avLst/>
          </a:prstGeom>
        </p:spPr>
      </p:pic>
      <p:pic>
        <p:nvPicPr>
          <p:cNvPr id="6" name="earthworm" descr="s1-07-earthwo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3267" y="9321800"/>
            <a:ext cx="1913467" cy="1676400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609600" y="609600"/>
            <a:ext cx="7924800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33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8" name="small-line"/>
          <p:cNvSpPr txBox="1"/>
          <p:nvPr/>
        </p:nvSpPr>
        <p:spPr>
          <a:xfrm>
            <a:off x="643467" y="29210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70" b="1">
                <a:solidFill>
                  <a:srgbClr val="F4F1EA"/>
                </a:solidFill>
                <a:latin typeface="Source Sans 3"/>
              </a:rPr>
              <a:t>And who gets to decide?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2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541867"/>
            <a:ext cx="1270000" cy="1100667"/>
          </a:xfrm>
          <a:prstGeom prst="rect">
            <a:avLst/>
          </a:prstGeom>
        </p:spPr>
      </p:pic>
      <p:pic>
        <p:nvPicPr>
          <p:cNvPr id="4" name="soil-strip" descr="s2-04-soil-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90000"/>
            <a:ext cx="9144000" cy="2540000"/>
          </a:xfrm>
          <a:prstGeom prst="rect">
            <a:avLst/>
          </a:prstGeom>
        </p:spPr>
      </p:pic>
      <p:pic>
        <p:nvPicPr>
          <p:cNvPr id="5" name="moss-clump" descr="s2-05-moss-clu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2667" y="7653867"/>
            <a:ext cx="2540000" cy="1752600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609600" y="2201333"/>
            <a:ext cx="7924800" cy="541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930" b="1">
                <a:solidFill>
                  <a:srgbClr val="22371F"/>
                </a:solidFill>
                <a:latin typeface="Montserrat"/>
              </a:rPr>
              <a:t>A destination</a:t>
            </a:r>
          </a:p>
          <a:p>
            <a:pPr algn="l">
              <a:lnSpc>
                <a:spcPct val="106000"/>
              </a:lnSpc>
            </a:pPr>
            <a:r>
              <a:rPr sz="6930" b="1">
                <a:solidFill>
                  <a:srgbClr val="156826"/>
                </a:solidFill>
                <a:latin typeface="Montserrat"/>
              </a:rPr>
              <a:t>or a direction?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3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541867"/>
            <a:ext cx="1270000" cy="1100667"/>
          </a:xfrm>
          <a:prstGeom prst="rect">
            <a:avLst/>
          </a:prstGeom>
        </p:spPr>
      </p:pic>
      <p:pic>
        <p:nvPicPr>
          <p:cNvPr id="4" name="soil-strip" descr="s3-04-soil-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90000"/>
            <a:ext cx="9144000" cy="2540000"/>
          </a:xfrm>
          <a:prstGeom prst="rect">
            <a:avLst/>
          </a:prstGeom>
        </p:spPr>
      </p:pic>
      <p:pic>
        <p:nvPicPr>
          <p:cNvPr id="5" name="mushrooms" descr="s3-05-mushroo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333" y="6485467"/>
            <a:ext cx="2370667" cy="2921000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609600" y="2201333"/>
            <a:ext cx="7924800" cy="541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930" b="1">
                <a:solidFill>
                  <a:srgbClr val="22371F"/>
                </a:solidFill>
                <a:latin typeface="Montserrat"/>
              </a:rPr>
              <a:t>A certified status</a:t>
            </a:r>
          </a:p>
          <a:p>
            <a:pPr algn="l">
              <a:lnSpc>
                <a:spcPct val="106000"/>
              </a:lnSpc>
            </a:pPr>
            <a:r>
              <a:rPr sz="6930" b="1">
                <a:solidFill>
                  <a:srgbClr val="156826"/>
                </a:solidFill>
                <a:latin typeface="Montserrat"/>
              </a:rPr>
              <a:t>or a way of thinking?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4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541867"/>
            <a:ext cx="1270000" cy="1100667"/>
          </a:xfrm>
          <a:prstGeom prst="rect">
            <a:avLst/>
          </a:prstGeom>
        </p:spPr>
      </p:pic>
      <p:pic>
        <p:nvPicPr>
          <p:cNvPr id="4" name="soil-strip" descr="s4-04-soil-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90000"/>
            <a:ext cx="9144000" cy="2540000"/>
          </a:xfrm>
          <a:prstGeom prst="rect">
            <a:avLst/>
          </a:prstGeom>
        </p:spPr>
      </p:pic>
      <p:pic>
        <p:nvPicPr>
          <p:cNvPr id="5" name="fern-fiddlehead" descr="s4-05-fern-fiddle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0" y="7230533"/>
            <a:ext cx="1947333" cy="2167467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609600" y="2201333"/>
            <a:ext cx="7924800" cy="541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930" b="1">
                <a:solidFill>
                  <a:srgbClr val="22371F"/>
                </a:solidFill>
                <a:latin typeface="Montserrat"/>
              </a:rPr>
              <a:t>A premium product,</a:t>
            </a:r>
          </a:p>
          <a:p>
            <a:pPr algn="l">
              <a:lnSpc>
                <a:spcPct val="106000"/>
              </a:lnSpc>
            </a:pPr>
            <a:r>
              <a:rPr sz="6930" b="1">
                <a:solidFill>
                  <a:srgbClr val="156826"/>
                </a:solidFill>
                <a:latin typeface="Montserrat"/>
              </a:rPr>
              <a:t>or a standard everyone who works the land can reach?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5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nd" descr="s5-02-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64000"/>
          </a:xfrm>
          <a:prstGeom prst="rect">
            <a:avLst/>
          </a:prstGeom>
        </p:spPr>
      </p:pic>
      <p:pic>
        <p:nvPicPr>
          <p:cNvPr id="4" name="soil-strip" descr="s5-05-soil-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90000"/>
            <a:ext cx="9144000" cy="2540000"/>
          </a:xfrm>
          <a:prstGeom prst="rect">
            <a:avLst/>
          </a:prstGeom>
        </p:spPr>
      </p:pic>
      <p:pic>
        <p:nvPicPr>
          <p:cNvPr id="5" name="flower-poppy" descr="s5-06-flower-pop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533" y="5130800"/>
            <a:ext cx="2125133" cy="4097867"/>
          </a:xfrm>
          <a:prstGeom prst="rect">
            <a:avLst/>
          </a:prstGeom>
        </p:spPr>
      </p:pic>
      <p:pic>
        <p:nvPicPr>
          <p:cNvPr id="6" name="flower-marigold" descr="s5-07-flower-mari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2200" y="5706533"/>
            <a:ext cx="2218267" cy="3522133"/>
          </a:xfrm>
          <a:prstGeom prst="rect">
            <a:avLst/>
          </a:prstGeom>
        </p:spPr>
      </p:pic>
      <p:pic>
        <p:nvPicPr>
          <p:cNvPr id="7" name="flower-paintbrush" descr="s5-08-flower-paintbru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533" y="4707467"/>
            <a:ext cx="2387600" cy="4521200"/>
          </a:xfrm>
          <a:prstGeom prst="rect">
            <a:avLst/>
          </a:prstGeom>
        </p:spPr>
      </p:pic>
      <p:pic>
        <p:nvPicPr>
          <p:cNvPr id="8" name="flower-heliconia" descr="s5-09-flower-heliconi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6267" y="4673600"/>
            <a:ext cx="2167467" cy="4555067"/>
          </a:xfrm>
          <a:prstGeom prst="rect">
            <a:avLst/>
          </a:prstGeom>
        </p:spPr>
      </p:pic>
      <p:sp>
        <p:nvSpPr>
          <p:cNvPr id="9" name="headline"/>
          <p:cNvSpPr txBox="1"/>
          <p:nvPr/>
        </p:nvSpPr>
        <p:spPr>
          <a:xfrm>
            <a:off x="609600" y="609600"/>
            <a:ext cx="7924800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>
                <a:solidFill>
                  <a:srgbClr val="F4F1EA"/>
                </a:solidFill>
                <a:latin typeface="Montserrat"/>
              </a:rPr>
              <a:t>Living soil in the hands of every person who works the land.</a:t>
            </a:r>
          </a:p>
        </p:txBody>
      </p:sp>
      <p:sp>
        <p:nvSpPr>
          <p:cNvPr id="10" name="small-line"/>
          <p:cNvSpPr txBox="1"/>
          <p:nvPr/>
        </p:nvSpPr>
        <p:spPr>
          <a:xfrm>
            <a:off x="643467" y="2878667"/>
            <a:ext cx="76200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4F1EA"/>
                </a:solidFill>
                <a:latin typeface="Source Sans 3"/>
              </a:rPr>
              <a:t>What does regenerative mean to you? Tell us in the comments.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