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1-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band" descr="s1-02-b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262467"/>
            <a:ext cx="8991600" cy="4639733"/>
          </a:xfrm>
          <a:prstGeom prst="rect">
            <a:avLst/>
          </a:prstGeom>
        </p:spPr>
      </p:pic>
      <p:pic>
        <p:nvPicPr>
          <p:cNvPr id="4" name="dark-soil" descr="s1-05-dark-so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600" y="5774267"/>
            <a:ext cx="6756400" cy="4394200"/>
          </a:xfrm>
          <a:prstGeom prst="rect">
            <a:avLst/>
          </a:prstGeom>
        </p:spPr>
      </p:pic>
      <p:pic>
        <p:nvPicPr>
          <p:cNvPr id="5" name="mushrooms" descr="s1-06-mushroom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0667" y="8382000"/>
            <a:ext cx="2201333" cy="2709333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846667" y="1058333"/>
            <a:ext cx="7450667" cy="220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5200" b="1">
                <a:solidFill>
                  <a:srgbClr val="F4F1EA"/>
                </a:solidFill>
                <a:latin typeface="Montserrat"/>
              </a:rPr>
              <a:t>What does Regenerative actually mean?</a:t>
            </a:r>
          </a:p>
        </p:txBody>
      </p:sp>
      <p:sp>
        <p:nvSpPr>
          <p:cNvPr id="7" name="small-line"/>
          <p:cNvSpPr txBox="1"/>
          <p:nvPr/>
        </p:nvSpPr>
        <p:spPr>
          <a:xfrm>
            <a:off x="880533" y="3556000"/>
            <a:ext cx="7281333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70" b="1">
                <a:solidFill>
                  <a:srgbClr val="F4F1EA"/>
                </a:solidFill>
                <a:latin typeface="Source Sans 3"/>
              </a:rPr>
              <a:t>And who gets to decide?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2-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abel" descr="s2-02-lab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516467"/>
            <a:ext cx="8991600" cy="6756400"/>
          </a:xfrm>
          <a:prstGeom prst="rect">
            <a:avLst/>
          </a:prstGeom>
        </p:spPr>
      </p:pic>
      <p:pic>
        <p:nvPicPr>
          <p:cNvPr id="4" name="earthworm" descr="s2-04-earthwor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867" y="5300133"/>
            <a:ext cx="6637867" cy="6129867"/>
          </a:xfrm>
          <a:prstGeom prst="rect">
            <a:avLst/>
          </a:prstGeom>
        </p:spPr>
      </p:pic>
      <p:pic>
        <p:nvPicPr>
          <p:cNvPr id="5" name="logo" descr="s2-05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9863667"/>
            <a:ext cx="1100667" cy="956733"/>
          </a:xfrm>
          <a:prstGeom prst="rect">
            <a:avLst/>
          </a:prstGeom>
        </p:spPr>
      </p:pic>
      <p:sp>
        <p:nvSpPr>
          <p:cNvPr id="6" name="question"/>
          <p:cNvSpPr txBox="1"/>
          <p:nvPr/>
        </p:nvSpPr>
        <p:spPr>
          <a:xfrm>
            <a:off x="846667" y="1439333"/>
            <a:ext cx="7450667" cy="50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5870" b="1">
                <a:solidFill>
                  <a:srgbClr val="22371F"/>
                </a:solidFill>
                <a:latin typeface="Montserrat"/>
              </a:rPr>
              <a:t>A destination</a:t>
            </a:r>
          </a:p>
          <a:p>
            <a:pPr algn="l">
              <a:lnSpc>
                <a:spcPct val="106000"/>
              </a:lnSpc>
            </a:pPr>
            <a:r>
              <a:rPr sz="5870" b="1">
                <a:solidFill>
                  <a:srgbClr val="156826"/>
                </a:solidFill>
                <a:latin typeface="Montserrat"/>
              </a:rPr>
              <a:t>or a direction?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3-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abel" descr="s3-02-lab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516467"/>
            <a:ext cx="8991600" cy="6756400"/>
          </a:xfrm>
          <a:prstGeom prst="rect">
            <a:avLst/>
          </a:prstGeom>
        </p:spPr>
      </p:pic>
      <p:pic>
        <p:nvPicPr>
          <p:cNvPr id="4" name="acorns" descr="s3-04-acor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3533" y="7450667"/>
            <a:ext cx="4436533" cy="2887133"/>
          </a:xfrm>
          <a:prstGeom prst="rect">
            <a:avLst/>
          </a:prstGeom>
        </p:spPr>
      </p:pic>
      <p:pic>
        <p:nvPicPr>
          <p:cNvPr id="5" name="logo" descr="s2-05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9863667"/>
            <a:ext cx="1100667" cy="956733"/>
          </a:xfrm>
          <a:prstGeom prst="rect">
            <a:avLst/>
          </a:prstGeom>
        </p:spPr>
      </p:pic>
      <p:sp>
        <p:nvSpPr>
          <p:cNvPr id="6" name="question"/>
          <p:cNvSpPr txBox="1"/>
          <p:nvPr/>
        </p:nvSpPr>
        <p:spPr>
          <a:xfrm>
            <a:off x="846667" y="1439333"/>
            <a:ext cx="7450667" cy="50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5870" b="1">
                <a:solidFill>
                  <a:srgbClr val="22371F"/>
                </a:solidFill>
                <a:latin typeface="Montserrat"/>
              </a:rPr>
              <a:t>A certified status</a:t>
            </a:r>
          </a:p>
          <a:p>
            <a:pPr algn="l">
              <a:lnSpc>
                <a:spcPct val="106000"/>
              </a:lnSpc>
            </a:pPr>
            <a:r>
              <a:rPr sz="5870" b="1">
                <a:solidFill>
                  <a:srgbClr val="156826"/>
                </a:solidFill>
                <a:latin typeface="Montserrat"/>
              </a:rPr>
              <a:t>or a way of thinking?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4-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abel" descr="s4-02-lab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516467"/>
            <a:ext cx="8991600" cy="6756400"/>
          </a:xfrm>
          <a:prstGeom prst="rect">
            <a:avLst/>
          </a:prstGeom>
        </p:spPr>
      </p:pic>
      <p:pic>
        <p:nvPicPr>
          <p:cNvPr id="4" name="fern-fiddlehead" descr="s4-04-fern-fiddlehe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2933" y="6773333"/>
            <a:ext cx="3877733" cy="4241800"/>
          </a:xfrm>
          <a:prstGeom prst="rect">
            <a:avLst/>
          </a:prstGeom>
        </p:spPr>
      </p:pic>
      <p:pic>
        <p:nvPicPr>
          <p:cNvPr id="5" name="logo" descr="s2-05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9863667"/>
            <a:ext cx="1100667" cy="956733"/>
          </a:xfrm>
          <a:prstGeom prst="rect">
            <a:avLst/>
          </a:prstGeom>
        </p:spPr>
      </p:pic>
      <p:sp>
        <p:nvSpPr>
          <p:cNvPr id="6" name="question"/>
          <p:cNvSpPr txBox="1"/>
          <p:nvPr/>
        </p:nvSpPr>
        <p:spPr>
          <a:xfrm>
            <a:off x="846667" y="1439333"/>
            <a:ext cx="7450667" cy="50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5870" b="1">
                <a:solidFill>
                  <a:srgbClr val="22371F"/>
                </a:solidFill>
                <a:latin typeface="Montserrat"/>
              </a:rPr>
              <a:t>A premium product,</a:t>
            </a:r>
          </a:p>
          <a:p>
            <a:pPr algn="l">
              <a:lnSpc>
                <a:spcPct val="106000"/>
              </a:lnSpc>
            </a:pPr>
            <a:r>
              <a:rPr sz="5870" b="1">
                <a:solidFill>
                  <a:srgbClr val="156826"/>
                </a:solidFill>
                <a:latin typeface="Montserrat"/>
              </a:rPr>
              <a:t>or a standard everyone who works the land can reach?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5-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flower-poppy" descr="s5-02-flower-popp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267"/>
            <a:ext cx="2929467" cy="5317067"/>
          </a:xfrm>
          <a:prstGeom prst="rect">
            <a:avLst/>
          </a:prstGeom>
        </p:spPr>
      </p:pic>
      <p:pic>
        <p:nvPicPr>
          <p:cNvPr id="4" name="flower-marigold" descr="s5-03-flower-mari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400" y="846667"/>
            <a:ext cx="3107267" cy="4419600"/>
          </a:xfrm>
          <a:prstGeom prst="rect">
            <a:avLst/>
          </a:prstGeom>
        </p:spPr>
      </p:pic>
      <p:pic>
        <p:nvPicPr>
          <p:cNvPr id="5" name="flower-paintbrush" descr="s5-04-flower-paintbrus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9133" y="0"/>
            <a:ext cx="3217333" cy="5156200"/>
          </a:xfrm>
          <a:prstGeom prst="rect">
            <a:avLst/>
          </a:prstGeom>
        </p:spPr>
      </p:pic>
      <p:pic>
        <p:nvPicPr>
          <p:cNvPr id="6" name="flower-heliconia" descr="s5-05-flower-heliconi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1133" y="0"/>
            <a:ext cx="3217333" cy="5283200"/>
          </a:xfrm>
          <a:prstGeom prst="rect">
            <a:avLst/>
          </a:prstGeom>
        </p:spPr>
      </p:pic>
      <p:pic>
        <p:nvPicPr>
          <p:cNvPr id="7" name="band" descr="s5-06-ba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" y="6104467"/>
            <a:ext cx="8991600" cy="5063067"/>
          </a:xfrm>
          <a:prstGeom prst="rect">
            <a:avLst/>
          </a:prstGeom>
        </p:spPr>
      </p:pic>
      <p:sp>
        <p:nvSpPr>
          <p:cNvPr id="8" name="headline"/>
          <p:cNvSpPr txBox="1"/>
          <p:nvPr/>
        </p:nvSpPr>
        <p:spPr>
          <a:xfrm>
            <a:off x="846667" y="7027333"/>
            <a:ext cx="7450667" cy="220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70" b="1">
                <a:solidFill>
                  <a:srgbClr val="F4F1EA"/>
                </a:solidFill>
                <a:latin typeface="Montserrat"/>
              </a:rPr>
              <a:t>Living soil in the hands of every person who works the land.</a:t>
            </a:r>
          </a:p>
        </p:txBody>
      </p:sp>
      <p:sp>
        <p:nvSpPr>
          <p:cNvPr id="9" name="small-line"/>
          <p:cNvSpPr txBox="1"/>
          <p:nvPr/>
        </p:nvSpPr>
        <p:spPr>
          <a:xfrm>
            <a:off x="880533" y="9398000"/>
            <a:ext cx="7281333" cy="93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4F1EA"/>
                </a:solidFill>
                <a:latin typeface="Source Sans 3"/>
              </a:rPr>
              <a:t>What does regenerative mean to you? Tell us in the comments.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