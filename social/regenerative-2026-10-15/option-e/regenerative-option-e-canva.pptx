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1143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1-01-backgro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11430000"/>
          </a:xfrm>
          <a:prstGeom prst="rect">
            <a:avLst/>
          </a:prstGeom>
        </p:spPr>
      </p:pic>
      <p:pic>
        <p:nvPicPr>
          <p:cNvPr id="3" name="photo-high-five-at-compost" descr="s1-02-photo-high-five-at-compos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11430000"/>
          </a:xfrm>
          <a:prstGeom prst="rect">
            <a:avLst/>
          </a:prstGeom>
        </p:spPr>
      </p:pic>
      <p:pic>
        <p:nvPicPr>
          <p:cNvPr id="4" name="band" descr="s1-03-ba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9144000" cy="2794000"/>
          </a:xfrm>
          <a:prstGeom prst="rect">
            <a:avLst/>
          </a:prstGeom>
        </p:spPr>
      </p:pic>
      <p:sp>
        <p:nvSpPr>
          <p:cNvPr id="5" name="headline"/>
          <p:cNvSpPr txBox="1"/>
          <p:nvPr/>
        </p:nvSpPr>
        <p:spPr>
          <a:xfrm>
            <a:off x="609600" y="541867"/>
            <a:ext cx="7924800" cy="13546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270" b="1">
                <a:solidFill>
                  <a:srgbClr val="F4F1EA"/>
                </a:solidFill>
                <a:latin typeface="Montserrat"/>
              </a:rPr>
              <a:t>What does Regenerative actually mean?</a:t>
            </a:r>
          </a:p>
        </p:txBody>
      </p:sp>
      <p:sp>
        <p:nvSpPr>
          <p:cNvPr id="6" name="small-line"/>
          <p:cNvSpPr txBox="1"/>
          <p:nvPr/>
        </p:nvSpPr>
        <p:spPr>
          <a:xfrm>
            <a:off x="609600" y="1998133"/>
            <a:ext cx="7924800" cy="47413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>
                <a:solidFill>
                  <a:srgbClr val="F4F1EA"/>
                </a:solidFill>
                <a:latin typeface="Source Sans 3"/>
              </a:rPr>
              <a:t>And who gets to decide?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2-01-backgro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11430000"/>
          </a:xfrm>
          <a:prstGeom prst="rect">
            <a:avLst/>
          </a:prstGeom>
        </p:spPr>
      </p:pic>
      <p:pic>
        <p:nvPicPr>
          <p:cNvPr id="3" name="logo" descr="s2-02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2000" y="541867"/>
            <a:ext cx="1422400" cy="1236133"/>
          </a:xfrm>
          <a:prstGeom prst="rect">
            <a:avLst/>
          </a:prstGeom>
        </p:spPr>
      </p:pic>
      <p:sp>
        <p:nvSpPr>
          <p:cNvPr id="4" name="question"/>
          <p:cNvSpPr txBox="1"/>
          <p:nvPr/>
        </p:nvSpPr>
        <p:spPr>
          <a:xfrm>
            <a:off x="812800" y="3556000"/>
            <a:ext cx="7518400" cy="64346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6400" b="1">
                <a:solidFill>
                  <a:srgbClr val="22371F"/>
                </a:solidFill>
                <a:latin typeface="Montserrat"/>
              </a:rPr>
              <a:t>A destination</a:t>
            </a:r>
          </a:p>
          <a:p>
            <a:pPr algn="l">
              <a:lnSpc>
                <a:spcPct val="110000"/>
              </a:lnSpc>
            </a:pPr>
            <a:r>
              <a:rPr sz="6400" b="1">
                <a:solidFill>
                  <a:srgbClr val="156826"/>
                </a:solidFill>
                <a:latin typeface="Montserrat"/>
              </a:rPr>
              <a:t>or a direction?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3-01-backgro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11430000"/>
          </a:xfrm>
          <a:prstGeom prst="rect">
            <a:avLst/>
          </a:prstGeom>
        </p:spPr>
      </p:pic>
      <p:pic>
        <p:nvPicPr>
          <p:cNvPr id="3" name="logo" descr="s2-02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2000" y="541867"/>
            <a:ext cx="1422400" cy="1236133"/>
          </a:xfrm>
          <a:prstGeom prst="rect">
            <a:avLst/>
          </a:prstGeom>
        </p:spPr>
      </p:pic>
      <p:sp>
        <p:nvSpPr>
          <p:cNvPr id="4" name="question"/>
          <p:cNvSpPr txBox="1"/>
          <p:nvPr/>
        </p:nvSpPr>
        <p:spPr>
          <a:xfrm>
            <a:off x="812800" y="3556000"/>
            <a:ext cx="7518400" cy="64346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6400" b="1">
                <a:solidFill>
                  <a:srgbClr val="22371F"/>
                </a:solidFill>
                <a:latin typeface="Montserrat"/>
              </a:rPr>
              <a:t>A certified status</a:t>
            </a:r>
          </a:p>
          <a:p>
            <a:pPr algn="l">
              <a:lnSpc>
                <a:spcPct val="110000"/>
              </a:lnSpc>
            </a:pPr>
            <a:r>
              <a:rPr sz="6400" b="1">
                <a:solidFill>
                  <a:srgbClr val="156826"/>
                </a:solidFill>
                <a:latin typeface="Montserrat"/>
              </a:rPr>
              <a:t>or a way of thinking?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4-01-backgro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11430000"/>
          </a:xfrm>
          <a:prstGeom prst="rect">
            <a:avLst/>
          </a:prstGeom>
        </p:spPr>
      </p:pic>
      <p:pic>
        <p:nvPicPr>
          <p:cNvPr id="3" name="logo" descr="s2-02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2000" y="541867"/>
            <a:ext cx="1422400" cy="1236133"/>
          </a:xfrm>
          <a:prstGeom prst="rect">
            <a:avLst/>
          </a:prstGeom>
        </p:spPr>
      </p:pic>
      <p:sp>
        <p:nvSpPr>
          <p:cNvPr id="4" name="question"/>
          <p:cNvSpPr txBox="1"/>
          <p:nvPr/>
        </p:nvSpPr>
        <p:spPr>
          <a:xfrm>
            <a:off x="812800" y="3556000"/>
            <a:ext cx="7518400" cy="64346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6400" b="1">
                <a:solidFill>
                  <a:srgbClr val="22371F"/>
                </a:solidFill>
                <a:latin typeface="Montserrat"/>
              </a:rPr>
              <a:t>A premium product,</a:t>
            </a:r>
          </a:p>
          <a:p>
            <a:pPr algn="l">
              <a:lnSpc>
                <a:spcPct val="110000"/>
              </a:lnSpc>
            </a:pPr>
            <a:r>
              <a:rPr sz="6400" b="1">
                <a:solidFill>
                  <a:srgbClr val="156826"/>
                </a:solidFill>
                <a:latin typeface="Montserrat"/>
              </a:rPr>
              <a:t>or a standard everyone who works the land can reach?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5-01-backgro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11430000"/>
          </a:xfrm>
          <a:prstGeom prst="rect">
            <a:avLst/>
          </a:prstGeom>
        </p:spPr>
      </p:pic>
      <p:pic>
        <p:nvPicPr>
          <p:cNvPr id="3" name="flower-poppy" descr="s5-02-flower-popp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67" y="2099733"/>
            <a:ext cx="2489200" cy="4605867"/>
          </a:xfrm>
          <a:prstGeom prst="rect">
            <a:avLst/>
          </a:prstGeom>
        </p:spPr>
      </p:pic>
      <p:pic>
        <p:nvPicPr>
          <p:cNvPr id="4" name="flower-marigold" descr="s5-03-flower-mari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67467" y="2861733"/>
            <a:ext cx="2446867" cy="3759200"/>
          </a:xfrm>
          <a:prstGeom prst="rect">
            <a:avLst/>
          </a:prstGeom>
        </p:spPr>
      </p:pic>
      <p:pic>
        <p:nvPicPr>
          <p:cNvPr id="5" name="flower-paintbrush" descr="s5-04-flower-paintbrush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89400" y="1532467"/>
            <a:ext cx="2658533" cy="4893733"/>
          </a:xfrm>
          <a:prstGeom prst="rect">
            <a:avLst/>
          </a:prstGeom>
        </p:spPr>
      </p:pic>
      <p:pic>
        <p:nvPicPr>
          <p:cNvPr id="6" name="flower-heliconia" descr="s5-05-flower-heliconi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48400" y="1236133"/>
            <a:ext cx="2743200" cy="5317067"/>
          </a:xfrm>
          <a:prstGeom prst="rect">
            <a:avLst/>
          </a:prstGeom>
        </p:spPr>
      </p:pic>
      <p:pic>
        <p:nvPicPr>
          <p:cNvPr id="7" name="band" descr="s5-06-ban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7704667"/>
            <a:ext cx="9144000" cy="3725333"/>
          </a:xfrm>
          <a:prstGeom prst="rect">
            <a:avLst/>
          </a:prstGeom>
        </p:spPr>
      </p:pic>
      <p:sp>
        <p:nvSpPr>
          <p:cNvPr id="8" name="headline"/>
          <p:cNvSpPr txBox="1"/>
          <p:nvPr/>
        </p:nvSpPr>
        <p:spPr>
          <a:xfrm>
            <a:off x="609600" y="8246533"/>
            <a:ext cx="7924800" cy="194733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F4F1EA"/>
                </a:solidFill>
                <a:latin typeface="Montserrat"/>
              </a:rPr>
              <a:t>Living soil in the hands of every person who works the land.</a:t>
            </a:r>
          </a:p>
        </p:txBody>
      </p:sp>
      <p:sp>
        <p:nvSpPr>
          <p:cNvPr id="9" name="small-line"/>
          <p:cNvSpPr txBox="1"/>
          <p:nvPr/>
        </p:nvSpPr>
        <p:spPr>
          <a:xfrm>
            <a:off x="609600" y="10244667"/>
            <a:ext cx="7924800" cy="93133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>
                <a:solidFill>
                  <a:srgbClr val="F4F1EA"/>
                </a:solidFill>
                <a:latin typeface="Source Sans 3"/>
              </a:rPr>
              <a:t>What does regenerative mean to you? Tell us in the comments.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