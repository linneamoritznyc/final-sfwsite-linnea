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Sunny 1: poppy field, Wild Ken Hill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Sunny 2: cover crops, Capri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Sunny 3: morning sun, flowers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Text-post rules 1: cracked to alive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Text-post rules 3: soil in the letters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1: cracked to alive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3: soil in the letters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image 1: cream and soil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image 2: deep green, flowers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image 3: one 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A, slide 1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A, slide 2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A, slide 3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A, slide 4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A, slide 5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B: deep green ground, slide 1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B: deep green ground, slide 2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B: deep green ground, slide 3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B: deep green ground, slide 4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B: deep green ground, slide 5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C: the soil line, slide 1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C: the soil line, slide 2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C: the soil line, slide 3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C: the soil line, slide 4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C: the soil line, slide 5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D: specimen sheet, slide 1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D: specimen sheet, slide 2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D: specimen sheet, slide 3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D: specimen sheet, slide 4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D: specimen sheet, slide 5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E: one photo only, slide 1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E: one photo only, slide 2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E: one photo only, slide 3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E: one photo only, slide 4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Carousel E: one photo only, slide 5 of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jp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jpg"/><Relationship Id="rId4" Type="http://schemas.openxmlformats.org/officeDocument/2006/relationships/image" Target="../media/image34.png"/><Relationship Id="rId5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jp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jpg"/><Relationship Id="rId4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jpg"/><Relationship Id="rId4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jp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jp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jpg"/><Relationship Id="rId4" Type="http://schemas.openxmlformats.org/officeDocument/2006/relationships/image" Target="../media/image48.png"/><Relationship Id="rId5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jpg"/><Relationship Id="rId4" Type="http://schemas.openxmlformats.org/officeDocument/2006/relationships/image" Target="../media/image16.png"/><Relationship Id="rId5" Type="http://schemas.openxmlformats.org/officeDocument/2006/relationships/image" Target="../media/image5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jpg"/><Relationship Id="rId4" Type="http://schemas.openxmlformats.org/officeDocument/2006/relationships/image" Target="../media/image16.png"/><Relationship Id="rId5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jpg"/><Relationship Id="rId4" Type="http://schemas.openxmlformats.org/officeDocument/2006/relationships/image" Target="../media/image16.png"/><Relationship Id="rId5" Type="http://schemas.openxmlformats.org/officeDocument/2006/relationships/image" Target="../media/image5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jp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0.jp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jpg"/><Relationship Id="rId4" Type="http://schemas.openxmlformats.org/officeDocument/2006/relationships/image" Target="../media/image19.png"/><Relationship Id="rId5" Type="http://schemas.openxmlformats.org/officeDocument/2006/relationships/image" Target="../media/image66.png"/><Relationship Id="rId6" Type="http://schemas.openxmlformats.org/officeDocument/2006/relationships/image" Target="../media/image5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7.jpg"/><Relationship Id="rId4" Type="http://schemas.openxmlformats.org/officeDocument/2006/relationships/image" Target="../media/image19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0.jpg"/><Relationship Id="rId4" Type="http://schemas.openxmlformats.org/officeDocument/2006/relationships/image" Target="../media/image19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3.jp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0.jp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3.jp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7.jp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8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0.jp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8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3.jp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7.jpg"/><Relationship Id="rId4" Type="http://schemas.openxmlformats.org/officeDocument/2006/relationships/image" Target="../media/image99.jpg"/><Relationship Id="rId5" Type="http://schemas.openxmlformats.org/officeDocument/2006/relationships/image" Target="../media/image10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jpg"/><Relationship Id="rId4" Type="http://schemas.openxmlformats.org/officeDocument/2006/relationships/image" Target="../media/image10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3.jpg"/><Relationship Id="rId4" Type="http://schemas.openxmlformats.org/officeDocument/2006/relationships/image" Target="../media/image10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2.jpg"/><Relationship Id="rId4" Type="http://schemas.openxmlformats.org/officeDocument/2006/relationships/image" Target="../media/image10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3.jp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762000" y="1270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FFFFF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4" name="small-line"/>
          <p:cNvSpPr txBox="1"/>
          <p:nvPr/>
        </p:nvSpPr>
        <p:spPr>
          <a:xfrm>
            <a:off x="778933" y="3979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FFFFFF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762000" y="762000"/>
            <a:ext cx="7620000" cy="2370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33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4" name="small-line"/>
          <p:cNvSpPr txBox="1"/>
          <p:nvPr/>
        </p:nvSpPr>
        <p:spPr>
          <a:xfrm>
            <a:off x="778933" y="3090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22371F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cornflower" descr="s1-04-flower-cornfl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27333"/>
            <a:ext cx="2082800" cy="4402667"/>
          </a:xfrm>
          <a:prstGeom prst="rect">
            <a:avLst/>
          </a:prstGeom>
        </p:spPr>
      </p:pic>
      <p:pic>
        <p:nvPicPr>
          <p:cNvPr id="4" name="flower-marigold" descr="s1-05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933" y="8314267"/>
            <a:ext cx="2167467" cy="3115733"/>
          </a:xfrm>
          <a:prstGeom prst="rect">
            <a:avLst/>
          </a:prstGeom>
        </p:spPr>
      </p:pic>
      <p:pic>
        <p:nvPicPr>
          <p:cNvPr id="5" name="flower-paintbrush" descr="s1-06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9733" y="6824133"/>
            <a:ext cx="2573867" cy="4605867"/>
          </a:xfrm>
          <a:prstGeom prst="rect">
            <a:avLst/>
          </a:prstGeom>
        </p:spPr>
      </p:pic>
      <p:pic>
        <p:nvPicPr>
          <p:cNvPr id="6" name="flower-hibiscus" descr="s1-07-flower-hibisc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8923867"/>
            <a:ext cx="2463800" cy="2506133"/>
          </a:xfrm>
          <a:prstGeom prst="rect">
            <a:avLst/>
          </a:prstGeom>
        </p:spPr>
      </p:pic>
      <p:pic>
        <p:nvPicPr>
          <p:cNvPr id="7" name="flower-chamisa" descr="s1-08-flower-chami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7267" y="7755467"/>
            <a:ext cx="3098800" cy="3674533"/>
          </a:xfrm>
          <a:prstGeom prst="rect">
            <a:avLst/>
          </a:prstGeom>
        </p:spPr>
      </p:pic>
      <p:pic>
        <p:nvPicPr>
          <p:cNvPr id="8" name="flower-heliconia" descr="s1-09-flower-heliconi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6400800"/>
            <a:ext cx="2573867" cy="5029200"/>
          </a:xfrm>
          <a:prstGeom prst="rect">
            <a:avLst/>
          </a:prstGeom>
        </p:spPr>
      </p:pic>
      <p:pic>
        <p:nvPicPr>
          <p:cNvPr id="9" name="flower-cornflower-2" descr="s1-10-flower-cornflower-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6667" y="7535333"/>
            <a:ext cx="1947333" cy="3894667"/>
          </a:xfrm>
          <a:prstGeom prst="rect">
            <a:avLst/>
          </a:prstGeom>
        </p:spPr>
      </p:pic>
      <p:sp>
        <p:nvSpPr>
          <p:cNvPr id="10" name="headline"/>
          <p:cNvSpPr txBox="1"/>
          <p:nvPr/>
        </p:nvSpPr>
        <p:spPr>
          <a:xfrm>
            <a:off x="762000" y="2794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11" name="small-line"/>
          <p:cNvSpPr txBox="1"/>
          <p:nvPr/>
        </p:nvSpPr>
        <p:spPr>
          <a:xfrm>
            <a:off x="778933" y="5503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812800" y="7027333"/>
            <a:ext cx="75184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4" name="small-line"/>
          <p:cNvSpPr txBox="1"/>
          <p:nvPr/>
        </p:nvSpPr>
        <p:spPr>
          <a:xfrm>
            <a:off x="829733" y="9482667"/>
            <a:ext cx="75184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59A66C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word-regenerative-soil" descr="s1-03-word-regenerative-s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809067"/>
            <a:ext cx="8178800" cy="1219200"/>
          </a:xfrm>
          <a:prstGeom prst="rect">
            <a:avLst/>
          </a:prstGeom>
        </p:spPr>
      </p:pic>
      <p:sp>
        <p:nvSpPr>
          <p:cNvPr id="4" name="what-does"/>
          <p:cNvSpPr txBox="1"/>
          <p:nvPr/>
        </p:nvSpPr>
        <p:spPr>
          <a:xfrm>
            <a:off x="524933" y="3979333"/>
            <a:ext cx="80941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70" b="1">
                <a:solidFill>
                  <a:srgbClr val="4F3433"/>
                </a:solidFill>
                <a:latin typeface="Montserrat"/>
              </a:rPr>
              <a:t>What does</a:t>
            </a:r>
          </a:p>
        </p:txBody>
      </p:sp>
      <p:sp>
        <p:nvSpPr>
          <p:cNvPr id="5" name="actually-mean"/>
          <p:cNvSpPr txBox="1"/>
          <p:nvPr/>
        </p:nvSpPr>
        <p:spPr>
          <a:xfrm>
            <a:off x="524933" y="6223000"/>
            <a:ext cx="80941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70" b="1">
                <a:solidFill>
                  <a:srgbClr val="4F3433"/>
                </a:solidFill>
                <a:latin typeface="Montserrat"/>
              </a:rPr>
              <a:t>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541867" y="7281333"/>
            <a:ext cx="80941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ern-fiddlehead" descr="s1-04-fern-fiddleh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667" y="5469467"/>
            <a:ext cx="2201333" cy="2446867"/>
          </a:xfrm>
          <a:prstGeom prst="rect">
            <a:avLst/>
          </a:prstGeom>
        </p:spPr>
      </p:pic>
      <p:pic>
        <p:nvPicPr>
          <p:cNvPr id="4" name="logo" descr="s1-05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0" y="9652000"/>
            <a:ext cx="1168400" cy="11684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931333"/>
            <a:ext cx="7924800" cy="287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670" b="1">
                <a:solidFill>
                  <a:srgbClr val="4F3433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3725333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7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word-regenerative-soil" descr="s1-03-word-regenerative-s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33" y="3945467"/>
            <a:ext cx="8348133" cy="1337733"/>
          </a:xfrm>
          <a:prstGeom prst="rect">
            <a:avLst/>
          </a:prstGeom>
        </p:spPr>
      </p:pic>
      <p:pic>
        <p:nvPicPr>
          <p:cNvPr id="4" name="logo" descr="s1-06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719733"/>
            <a:ext cx="1270000" cy="1100667"/>
          </a:xfrm>
          <a:prstGeom prst="rect">
            <a:avLst/>
          </a:prstGeom>
        </p:spPr>
      </p:pic>
      <p:pic>
        <p:nvPicPr>
          <p:cNvPr id="5" name="fern-fiddlehead" descr="s1-07-fern-fiddle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8667" y="8771467"/>
            <a:ext cx="2032000" cy="2260600"/>
          </a:xfrm>
          <a:prstGeom prst="rect">
            <a:avLst/>
          </a:prstGeom>
        </p:spPr>
      </p:pic>
      <p:pic>
        <p:nvPicPr>
          <p:cNvPr id="6" name="mushrooms" descr="s1-08-mushroo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333" y="8822267"/>
            <a:ext cx="2032000" cy="2506133"/>
          </a:xfrm>
          <a:prstGeom prst="rect">
            <a:avLst/>
          </a:prstGeom>
        </p:spPr>
      </p:pic>
      <p:sp>
        <p:nvSpPr>
          <p:cNvPr id="7" name="what-does"/>
          <p:cNvSpPr txBox="1"/>
          <p:nvPr/>
        </p:nvSpPr>
        <p:spPr>
          <a:xfrm>
            <a:off x="491067" y="3048000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4F3433"/>
                </a:solidFill>
                <a:latin typeface="Montserrat"/>
              </a:rPr>
              <a:t>What does</a:t>
            </a:r>
          </a:p>
        </p:txBody>
      </p:sp>
      <p:sp>
        <p:nvSpPr>
          <p:cNvPr id="8" name="actually-mean"/>
          <p:cNvSpPr txBox="1"/>
          <p:nvPr/>
        </p:nvSpPr>
        <p:spPr>
          <a:xfrm>
            <a:off x="491067" y="52916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4F3433"/>
                </a:solidFill>
                <a:latin typeface="Montserrat"/>
              </a:rPr>
              <a:t>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524933" y="6434667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70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474133"/>
            <a:ext cx="1270000" cy="1100667"/>
          </a:xfrm>
          <a:prstGeom prst="rect">
            <a:avLst/>
          </a:prstGeom>
        </p:spPr>
      </p:pic>
      <p:pic>
        <p:nvPicPr>
          <p:cNvPr id="4" name="soil-strip" descr="s1-05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551333"/>
            <a:ext cx="9144000" cy="2878667"/>
          </a:xfrm>
          <a:prstGeom prst="rect">
            <a:avLst/>
          </a:prstGeom>
        </p:spPr>
      </p:pic>
      <p:pic>
        <p:nvPicPr>
          <p:cNvPr id="5" name="mushrooms" descr="s1-06-mushroo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333" y="6350000"/>
            <a:ext cx="2201333" cy="2709333"/>
          </a:xfrm>
          <a:prstGeom prst="rect">
            <a:avLst/>
          </a:prstGeom>
        </p:spPr>
      </p:pic>
      <p:pic>
        <p:nvPicPr>
          <p:cNvPr id="6" name="fern-fiddlehead" descr="s1-07-fern-fiddlehe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6417733"/>
            <a:ext cx="2370667" cy="2641600"/>
          </a:xfrm>
          <a:prstGeom prst="rect">
            <a:avLst/>
          </a:prstGeom>
        </p:spPr>
      </p:pic>
      <p:pic>
        <p:nvPicPr>
          <p:cNvPr id="7" name="moss" descr="s1-08-mo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5333" y="7433733"/>
            <a:ext cx="2370667" cy="1634067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1947333"/>
            <a:ext cx="7924800" cy="287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930" b="1">
                <a:solidFill>
                  <a:srgbClr val="4F3433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43467" y="4995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729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474133"/>
            <a:ext cx="1270000" cy="1270000"/>
          </a:xfrm>
          <a:prstGeom prst="rect">
            <a:avLst/>
          </a:prstGeom>
        </p:spPr>
      </p:pic>
      <p:pic>
        <p:nvPicPr>
          <p:cNvPr id="4" name="flower-poppy" descr="s1-05-flower-pop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867" y="7018867"/>
            <a:ext cx="2294467" cy="4250267"/>
          </a:xfrm>
          <a:prstGeom prst="rect">
            <a:avLst/>
          </a:prstGeom>
        </p:spPr>
      </p:pic>
      <p:pic>
        <p:nvPicPr>
          <p:cNvPr id="5" name="flower-marigold" descr="s1-06-flower-mari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7600" y="7772400"/>
            <a:ext cx="2336800" cy="3589867"/>
          </a:xfrm>
          <a:prstGeom prst="rect">
            <a:avLst/>
          </a:prstGeom>
        </p:spPr>
      </p:pic>
      <p:pic>
        <p:nvPicPr>
          <p:cNvPr id="6" name="flower-paintbrush" descr="s1-07-flower-paintbru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0333" y="6697133"/>
            <a:ext cx="2455333" cy="4555067"/>
          </a:xfrm>
          <a:prstGeom prst="rect">
            <a:avLst/>
          </a:prstGeom>
        </p:spPr>
      </p:pic>
      <p:pic>
        <p:nvPicPr>
          <p:cNvPr id="7" name="flower-heliconia" descr="s1-08-flower-helicon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200" y="6485467"/>
            <a:ext cx="2556933" cy="4944533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1693333"/>
            <a:ext cx="7924800" cy="287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93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43467" y="4741333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729" b="1">
                <a:solidFill>
                  <a:srgbClr val="59A66C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high-five-at-compost" descr="s1-02-photo-high-five-at-com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942667"/>
          </a:xfrm>
          <a:prstGeom prst="rect">
            <a:avLst/>
          </a:prstGeom>
        </p:spPr>
      </p:pic>
      <p:pic>
        <p:nvPicPr>
          <p:cNvPr id="4" name="logo" descr="s1-05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0" y="338667"/>
            <a:ext cx="1168400" cy="11684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7281333"/>
            <a:ext cx="7924800" cy="2370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130" b="1">
                <a:solidFill>
                  <a:srgbClr val="4F3433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9906000"/>
            <a:ext cx="762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156826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ark-soil" descr="s1-02-dark-so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418667"/>
            <a:ext cx="6096000" cy="3733800"/>
          </a:xfrm>
          <a:prstGeom prst="rect">
            <a:avLst/>
          </a:prstGeom>
        </p:spPr>
      </p:pic>
      <p:pic>
        <p:nvPicPr>
          <p:cNvPr id="4" name="earthworm" descr="s1-03-earthw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281333"/>
            <a:ext cx="3708400" cy="3894667"/>
          </a:xfrm>
          <a:prstGeom prst="rect">
            <a:avLst/>
          </a:prstGeom>
        </p:spPr>
      </p:pic>
      <p:pic>
        <p:nvPicPr>
          <p:cNvPr id="5" name="fern-fiddlehead" descr="s1-04-fern-fiddle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3835400"/>
            <a:ext cx="2540000" cy="2827867"/>
          </a:xfrm>
          <a:prstGeom prst="rect">
            <a:avLst/>
          </a:prstGeom>
        </p:spPr>
      </p:pic>
      <p:pic>
        <p:nvPicPr>
          <p:cNvPr id="6" name="mushrooms" descr="s1-05-mushroom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1333" y="8255000"/>
            <a:ext cx="2540000" cy="3132667"/>
          </a:xfrm>
          <a:prstGeom prst="rect">
            <a:avLst/>
          </a:prstGeom>
        </p:spPr>
      </p:pic>
      <p:pic>
        <p:nvPicPr>
          <p:cNvPr id="7" name="band" descr="s1-06-ban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2794000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541867"/>
            <a:ext cx="79248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09600" y="1998133"/>
            <a:ext cx="7924800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F4F1EA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7" y="2099733"/>
            <a:ext cx="2489200" cy="4605867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467" y="2861733"/>
            <a:ext cx="2446867" cy="37592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400" y="1532467"/>
            <a:ext cx="2658533" cy="4893733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36133"/>
            <a:ext cx="2743200" cy="5317067"/>
          </a:xfrm>
          <a:prstGeom prst="rect">
            <a:avLst/>
          </a:prstGeom>
        </p:spPr>
      </p:pic>
      <p:pic>
        <p:nvPicPr>
          <p:cNvPr id="7" name="band" descr="s5-06-ban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704667"/>
            <a:ext cx="9144000" cy="3725333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8246533"/>
            <a:ext cx="7924800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09600" y="102446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F4F1EA"/>
                </a:solidFill>
                <a:latin typeface="Source Sans Pro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earthworm" descr="s1-04-earthw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7484533"/>
            <a:ext cx="4013200" cy="3945467"/>
          </a:xfrm>
          <a:prstGeom prst="rect">
            <a:avLst/>
          </a:prstGeom>
        </p:spPr>
      </p:pic>
      <p:pic>
        <p:nvPicPr>
          <p:cNvPr id="4" name="fern-fiddlehead" descr="s1-07-fern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8500533"/>
            <a:ext cx="2370667" cy="26416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2540000"/>
            <a:ext cx="7924800" cy="338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74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43467" y="6180667"/>
            <a:ext cx="762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59A66C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5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pic>
        <p:nvPicPr>
          <p:cNvPr id="4" name="pebbles" descr="s2-04-pebb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7" y="9110133"/>
            <a:ext cx="2201333" cy="2091267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609600" y="2878667"/>
            <a:ext cx="7924800" cy="592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4F1EA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59A66C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5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pic>
        <p:nvPicPr>
          <p:cNvPr id="4" name="acorns" descr="s3-04-acor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9584267"/>
            <a:ext cx="2370667" cy="1159933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609600" y="2878667"/>
            <a:ext cx="7924800" cy="592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4F1EA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59A66C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5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541867"/>
            <a:ext cx="1168400" cy="1168400"/>
          </a:xfrm>
          <a:prstGeom prst="rect">
            <a:avLst/>
          </a:prstGeom>
        </p:spPr>
      </p:pic>
      <p:pic>
        <p:nvPicPr>
          <p:cNvPr id="4" name="moss-clump" descr="s4-04-moss-clu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33" y="9279467"/>
            <a:ext cx="2540000" cy="1752600"/>
          </a:xfrm>
          <a:prstGeom prst="rect">
            <a:avLst/>
          </a:prstGeom>
        </p:spPr>
      </p:pic>
      <p:sp>
        <p:nvSpPr>
          <p:cNvPr id="5" name="question"/>
          <p:cNvSpPr txBox="1"/>
          <p:nvPr/>
        </p:nvSpPr>
        <p:spPr>
          <a:xfrm>
            <a:off x="609600" y="2878667"/>
            <a:ext cx="7924800" cy="5926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7200" b="1">
                <a:solidFill>
                  <a:srgbClr val="F4F1EA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06000"/>
              </a:lnSpc>
            </a:pPr>
            <a:r>
              <a:rPr sz="7200" b="1">
                <a:solidFill>
                  <a:srgbClr val="59A66C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67" y="762000"/>
            <a:ext cx="2201333" cy="4064000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1346200"/>
            <a:ext cx="2218267" cy="34036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0" y="355600"/>
            <a:ext cx="2379133" cy="4368800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3867" y="143933"/>
            <a:ext cx="2472267" cy="4792133"/>
          </a:xfrm>
          <a:prstGeom prst="rect">
            <a:avLst/>
          </a:prstGeom>
        </p:spPr>
      </p:pic>
      <p:pic>
        <p:nvPicPr>
          <p:cNvPr id="7" name="logo" descr="s1-05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000" y="9990667"/>
            <a:ext cx="1168400" cy="1168400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6096000"/>
            <a:ext cx="79248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33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43467" y="9144000"/>
            <a:ext cx="7620000" cy="1100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70" b="1">
                <a:solidFill>
                  <a:srgbClr val="59A66C"/>
                </a:solidFill>
                <a:latin typeface="Source Sans Pro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nd" descr="s1-02-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979333"/>
          </a:xfrm>
          <a:prstGeom prst="rect">
            <a:avLst/>
          </a:prstGeom>
        </p:spPr>
      </p:pic>
      <p:pic>
        <p:nvPicPr>
          <p:cNvPr id="4" name="soil-strip" descr="s1-05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382000"/>
            <a:ext cx="9144000" cy="3048000"/>
          </a:xfrm>
          <a:prstGeom prst="rect">
            <a:avLst/>
          </a:prstGeom>
        </p:spPr>
      </p:pic>
      <p:pic>
        <p:nvPicPr>
          <p:cNvPr id="5" name="fern-fiddlehead" descr="s1-06-fern-fiddle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5808133"/>
            <a:ext cx="2794000" cy="3107267"/>
          </a:xfrm>
          <a:prstGeom prst="rect">
            <a:avLst/>
          </a:prstGeom>
        </p:spPr>
      </p:pic>
      <p:pic>
        <p:nvPicPr>
          <p:cNvPr id="6" name="earthworm" descr="s1-07-earthwor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267" y="9321800"/>
            <a:ext cx="1913467" cy="16764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609600" y="609600"/>
            <a:ext cx="7924800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33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8" name="small-line"/>
          <p:cNvSpPr txBox="1"/>
          <p:nvPr/>
        </p:nvSpPr>
        <p:spPr>
          <a:xfrm>
            <a:off x="643467" y="2921000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F4F1EA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541867"/>
            <a:ext cx="1270000" cy="1100667"/>
          </a:xfrm>
          <a:prstGeom prst="rect">
            <a:avLst/>
          </a:prstGeom>
        </p:spPr>
      </p:pic>
      <p:pic>
        <p:nvPicPr>
          <p:cNvPr id="4" name="soil-strip" descr="s2-04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moss-clump" descr="s4-04-moss-clu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2667" y="7653867"/>
            <a:ext cx="2540000" cy="1752600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609600" y="2201333"/>
            <a:ext cx="7924800" cy="541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93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06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541867"/>
            <a:ext cx="1270000" cy="1100667"/>
          </a:xfrm>
          <a:prstGeom prst="rect">
            <a:avLst/>
          </a:prstGeom>
        </p:spPr>
      </p:pic>
      <p:pic>
        <p:nvPicPr>
          <p:cNvPr id="4" name="soil-strip" descr="s3-04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mushrooms" descr="s3-05-mushroo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333" y="6485467"/>
            <a:ext cx="2370667" cy="2921000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609600" y="2201333"/>
            <a:ext cx="7924800" cy="541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93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06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6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541867"/>
            <a:ext cx="1270000" cy="1100667"/>
          </a:xfrm>
          <a:prstGeom prst="rect">
            <a:avLst/>
          </a:prstGeom>
        </p:spPr>
      </p:pic>
      <p:pic>
        <p:nvPicPr>
          <p:cNvPr id="4" name="soil-strip" descr="s4-04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fern-fiddlehead" descr="s4-05-fern-fiddlehe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7230533"/>
            <a:ext cx="1947333" cy="2167467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609600" y="2201333"/>
            <a:ext cx="7924800" cy="541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93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06000"/>
              </a:lnSpc>
            </a:pPr>
            <a:r>
              <a:rPr sz="693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nd" descr="s5-02-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4064000"/>
          </a:xfrm>
          <a:prstGeom prst="rect">
            <a:avLst/>
          </a:prstGeom>
        </p:spPr>
      </p:pic>
      <p:pic>
        <p:nvPicPr>
          <p:cNvPr id="4" name="soil-strip" descr="s5-05-soil-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890000"/>
            <a:ext cx="9144000" cy="2540000"/>
          </a:xfrm>
          <a:prstGeom prst="rect">
            <a:avLst/>
          </a:prstGeom>
        </p:spPr>
      </p:pic>
      <p:pic>
        <p:nvPicPr>
          <p:cNvPr id="5" name="flower-poppy" descr="s5-06-flower-pop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533" y="5130800"/>
            <a:ext cx="2125133" cy="4097867"/>
          </a:xfrm>
          <a:prstGeom prst="rect">
            <a:avLst/>
          </a:prstGeom>
        </p:spPr>
      </p:pic>
      <p:pic>
        <p:nvPicPr>
          <p:cNvPr id="6" name="flower-marigold" descr="s5-07-flower-mari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5706533"/>
            <a:ext cx="2218267" cy="3522133"/>
          </a:xfrm>
          <a:prstGeom prst="rect">
            <a:avLst/>
          </a:prstGeom>
        </p:spPr>
      </p:pic>
      <p:pic>
        <p:nvPicPr>
          <p:cNvPr id="7" name="flower-paintbrush" descr="s5-08-flower-paintbrus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9533" y="4707467"/>
            <a:ext cx="2387600" cy="4521200"/>
          </a:xfrm>
          <a:prstGeom prst="rect">
            <a:avLst/>
          </a:prstGeom>
        </p:spPr>
      </p:pic>
      <p:pic>
        <p:nvPicPr>
          <p:cNvPr id="8" name="flower-heliconia" descr="s5-09-flower-heliconi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6267" y="4673600"/>
            <a:ext cx="2167467" cy="4555067"/>
          </a:xfrm>
          <a:prstGeom prst="rect">
            <a:avLst/>
          </a:prstGeom>
        </p:spPr>
      </p:pic>
      <p:sp>
        <p:nvSpPr>
          <p:cNvPr id="9" name="headline"/>
          <p:cNvSpPr txBox="1"/>
          <p:nvPr/>
        </p:nvSpPr>
        <p:spPr>
          <a:xfrm>
            <a:off x="609600" y="609600"/>
            <a:ext cx="79248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80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10" name="small-line"/>
          <p:cNvSpPr txBox="1"/>
          <p:nvPr/>
        </p:nvSpPr>
        <p:spPr>
          <a:xfrm>
            <a:off x="643467" y="2878667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4F1EA"/>
                </a:solidFill>
                <a:latin typeface="Source Sans Pro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band" descr="s1-02-b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262467"/>
            <a:ext cx="8991600" cy="4639733"/>
          </a:xfrm>
          <a:prstGeom prst="rect">
            <a:avLst/>
          </a:prstGeom>
        </p:spPr>
      </p:pic>
      <p:pic>
        <p:nvPicPr>
          <p:cNvPr id="4" name="dark-soil" descr="s1-05-dark-so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5774267"/>
            <a:ext cx="6756400" cy="4394200"/>
          </a:xfrm>
          <a:prstGeom prst="rect">
            <a:avLst/>
          </a:prstGeom>
        </p:spPr>
      </p:pic>
      <p:pic>
        <p:nvPicPr>
          <p:cNvPr id="5" name="mushrooms" descr="s1-06-mushroo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667" y="8382000"/>
            <a:ext cx="2201333" cy="27093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846667" y="1058333"/>
            <a:ext cx="7450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20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7" name="small-line"/>
          <p:cNvSpPr txBox="1"/>
          <p:nvPr/>
        </p:nvSpPr>
        <p:spPr>
          <a:xfrm>
            <a:off x="880533" y="3556000"/>
            <a:ext cx="7281333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F4F1EA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2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abel" descr="s2-02-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516467"/>
            <a:ext cx="8991600" cy="6756400"/>
          </a:xfrm>
          <a:prstGeom prst="rect">
            <a:avLst/>
          </a:prstGeom>
        </p:spPr>
      </p:pic>
      <p:pic>
        <p:nvPicPr>
          <p:cNvPr id="4" name="earthworm" descr="s2-04-earthw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67" y="5300133"/>
            <a:ext cx="6637867" cy="6129867"/>
          </a:xfrm>
          <a:prstGeom prst="rect">
            <a:avLst/>
          </a:prstGeom>
        </p:spPr>
      </p:pic>
      <p:pic>
        <p:nvPicPr>
          <p:cNvPr id="5" name="logo" descr="s2-05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863667"/>
            <a:ext cx="1100667" cy="956733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846667" y="1439333"/>
            <a:ext cx="7450667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06000"/>
              </a:lnSpc>
            </a:pPr>
            <a:r>
              <a:rPr sz="587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abel" descr="s3-02-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516467"/>
            <a:ext cx="8991600" cy="6756400"/>
          </a:xfrm>
          <a:prstGeom prst="rect">
            <a:avLst/>
          </a:prstGeom>
        </p:spPr>
      </p:pic>
      <p:pic>
        <p:nvPicPr>
          <p:cNvPr id="4" name="acorns" descr="s3-04-acor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3533" y="7450667"/>
            <a:ext cx="4436533" cy="2887133"/>
          </a:xfrm>
          <a:prstGeom prst="rect">
            <a:avLst/>
          </a:prstGeom>
        </p:spPr>
      </p:pic>
      <p:pic>
        <p:nvPicPr>
          <p:cNvPr id="5" name="logo" descr="s2-05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863667"/>
            <a:ext cx="1100667" cy="956733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846667" y="1439333"/>
            <a:ext cx="7450667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06000"/>
              </a:lnSpc>
            </a:pPr>
            <a:r>
              <a:rPr sz="587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abel" descr="s4-02-lab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516467"/>
            <a:ext cx="8991600" cy="6756400"/>
          </a:xfrm>
          <a:prstGeom prst="rect">
            <a:avLst/>
          </a:prstGeom>
        </p:spPr>
      </p:pic>
      <p:pic>
        <p:nvPicPr>
          <p:cNvPr id="4" name="fern-fiddlehead" descr="s4-04-fern-fiddle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933" y="6773333"/>
            <a:ext cx="3877733" cy="4241800"/>
          </a:xfrm>
          <a:prstGeom prst="rect">
            <a:avLst/>
          </a:prstGeom>
        </p:spPr>
      </p:pic>
      <p:pic>
        <p:nvPicPr>
          <p:cNvPr id="5" name="logo" descr="s2-05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863667"/>
            <a:ext cx="1100667" cy="956733"/>
          </a:xfrm>
          <a:prstGeom prst="rect">
            <a:avLst/>
          </a:prstGeom>
        </p:spPr>
      </p:pic>
      <p:sp>
        <p:nvSpPr>
          <p:cNvPr id="6" name="question"/>
          <p:cNvSpPr txBox="1"/>
          <p:nvPr/>
        </p:nvSpPr>
        <p:spPr>
          <a:xfrm>
            <a:off x="846667" y="1439333"/>
            <a:ext cx="7450667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87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06000"/>
              </a:lnSpc>
            </a:pPr>
            <a:r>
              <a:rPr sz="587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267"/>
            <a:ext cx="2929467" cy="5317067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846667"/>
            <a:ext cx="3107267" cy="44196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133" y="0"/>
            <a:ext cx="3217333" cy="5156200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1133" y="0"/>
            <a:ext cx="3217333" cy="5283200"/>
          </a:xfrm>
          <a:prstGeom prst="rect">
            <a:avLst/>
          </a:prstGeom>
        </p:spPr>
      </p:pic>
      <p:pic>
        <p:nvPicPr>
          <p:cNvPr id="7" name="band" descr="s5-06-b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" y="6104467"/>
            <a:ext cx="8991600" cy="5063067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846667" y="7027333"/>
            <a:ext cx="7450667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7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880533" y="9398000"/>
            <a:ext cx="7281333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4F1EA"/>
                </a:solidFill>
                <a:latin typeface="Source Sans Pro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3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high-five-at-compost" descr="s1-02-photo-high-five-at-compo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band" descr="s1-03-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27940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609600" y="541867"/>
            <a:ext cx="79248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6" name="small-line"/>
          <p:cNvSpPr txBox="1"/>
          <p:nvPr/>
        </p:nvSpPr>
        <p:spPr>
          <a:xfrm>
            <a:off x="609600" y="1998133"/>
            <a:ext cx="7924800" cy="474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4F1EA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destination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direction?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certified status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way of thinking?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4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2-02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541867"/>
            <a:ext cx="1422400" cy="1236133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812800" y="3556000"/>
            <a:ext cx="7518400" cy="643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22371F"/>
                </a:solidFill>
                <a:latin typeface="Montserrat"/>
              </a:rPr>
              <a:t>A premium product,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56826"/>
                </a:solidFill>
                <a:latin typeface="Montserrat"/>
              </a:rPr>
              <a:t>or a standard everyone who works the land can reach?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5-01-backgrou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flower-poppy" descr="s5-02-flower-po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7" y="2099733"/>
            <a:ext cx="2489200" cy="4605867"/>
          </a:xfrm>
          <a:prstGeom prst="rect">
            <a:avLst/>
          </a:prstGeom>
        </p:spPr>
      </p:pic>
      <p:pic>
        <p:nvPicPr>
          <p:cNvPr id="4" name="flower-marigold" descr="s5-03-flower-mari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467" y="2861733"/>
            <a:ext cx="2446867" cy="3759200"/>
          </a:xfrm>
          <a:prstGeom prst="rect">
            <a:avLst/>
          </a:prstGeom>
        </p:spPr>
      </p:pic>
      <p:pic>
        <p:nvPicPr>
          <p:cNvPr id="5" name="flower-paintbrush" descr="s5-04-flower-paintbr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9400" y="1532467"/>
            <a:ext cx="2658533" cy="4893733"/>
          </a:xfrm>
          <a:prstGeom prst="rect">
            <a:avLst/>
          </a:prstGeom>
        </p:spPr>
      </p:pic>
      <p:pic>
        <p:nvPicPr>
          <p:cNvPr id="6" name="flower-heliconia" descr="s5-05-flower-helicon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36133"/>
            <a:ext cx="2743200" cy="5317067"/>
          </a:xfrm>
          <a:prstGeom prst="rect">
            <a:avLst/>
          </a:prstGeom>
        </p:spPr>
      </p:pic>
      <p:pic>
        <p:nvPicPr>
          <p:cNvPr id="7" name="band" descr="s5-06-b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704667"/>
            <a:ext cx="9144000" cy="3725333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609600" y="8246533"/>
            <a:ext cx="7924800" cy="194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4F1EA"/>
                </a:solidFill>
                <a:latin typeface="Montserrat"/>
              </a:rPr>
              <a:t>Living soil in the hands of every person who works the land.</a:t>
            </a:r>
          </a:p>
        </p:txBody>
      </p:sp>
      <p:sp>
        <p:nvSpPr>
          <p:cNvPr id="9" name="small-line"/>
          <p:cNvSpPr txBox="1"/>
          <p:nvPr/>
        </p:nvSpPr>
        <p:spPr>
          <a:xfrm>
            <a:off x="609600" y="10244667"/>
            <a:ext cx="79248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4F1EA"/>
                </a:solidFill>
                <a:latin typeface="Source Sans Pro"/>
              </a:rPr>
              <a:t>What does regenerative mean to you? Tell us in the comments.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