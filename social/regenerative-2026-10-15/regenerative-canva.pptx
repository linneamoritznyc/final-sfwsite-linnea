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ark-soil" descr="s1-02-dark-so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5418667"/>
            <a:ext cx="6096000" cy="3733800"/>
          </a:xfrm>
          <a:prstGeom prst="rect">
            <a:avLst/>
          </a:prstGeom>
        </p:spPr>
      </p:pic>
      <p:pic>
        <p:nvPicPr>
          <p:cNvPr id="4" name="earthworm" descr="s1-03-earthw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7281333"/>
            <a:ext cx="3708400" cy="3894667"/>
          </a:xfrm>
          <a:prstGeom prst="rect">
            <a:avLst/>
          </a:prstGeom>
        </p:spPr>
      </p:pic>
      <p:pic>
        <p:nvPicPr>
          <p:cNvPr id="5" name="fern-fiddlehead" descr="s1-04-fern-fiddle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3835400"/>
            <a:ext cx="2540000" cy="2827867"/>
          </a:xfrm>
          <a:prstGeom prst="rect">
            <a:avLst/>
          </a:prstGeom>
        </p:spPr>
      </p:pic>
      <p:pic>
        <p:nvPicPr>
          <p:cNvPr id="6" name="mushrooms" descr="s1-05-mushroo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1333" y="8255000"/>
            <a:ext cx="2540000" cy="3132667"/>
          </a:xfrm>
          <a:prstGeom prst="rect">
            <a:avLst/>
          </a:prstGeom>
        </p:spPr>
      </p:pic>
      <p:pic>
        <p:nvPicPr>
          <p:cNvPr id="7" name="band" descr="s1-06-ban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2794000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09600" y="541867"/>
            <a:ext cx="79248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27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609600" y="1998133"/>
            <a:ext cx="7924800" cy="474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800" b="0">
                <a:solidFill>
                  <a:srgbClr val="F4F1EA"/>
                </a:solidFill>
                <a:latin typeface="Source Sans 3"/>
              </a:rPr>
              <a:t>And who gets to decide?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541867"/>
            <a:ext cx="1422400" cy="1236133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812800" y="3556000"/>
            <a:ext cx="75184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6400" b="1">
                <a:solidFill>
                  <a:srgbClr val="22371F"/>
                </a:solidFill>
                <a:latin typeface="Montserrat"/>
              </a:rPr>
              <a:t>A destination</a:t>
            </a:r>
          </a:p>
          <a:p>
            <a:pPr>
              <a:lnSpc>
                <a:spcPct val="110000"/>
              </a:lnSpc>
            </a:pPr>
            <a:r>
              <a:rPr sz="6400" b="1">
                <a:solidFill>
                  <a:srgbClr val="156826"/>
                </a:solidFill>
                <a:latin typeface="Montserrat"/>
              </a:rPr>
              <a:t>or a direction?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541867"/>
            <a:ext cx="1422400" cy="1236133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812800" y="3556000"/>
            <a:ext cx="75184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6400" b="1">
                <a:solidFill>
                  <a:srgbClr val="22371F"/>
                </a:solidFill>
                <a:latin typeface="Montserrat"/>
              </a:rPr>
              <a:t>A certified status</a:t>
            </a:r>
          </a:p>
          <a:p>
            <a:pPr>
              <a:lnSpc>
                <a:spcPct val="110000"/>
              </a:lnSpc>
            </a:pPr>
            <a:r>
              <a:rPr sz="6400" b="1">
                <a:solidFill>
                  <a:srgbClr val="156826"/>
                </a:solidFill>
                <a:latin typeface="Montserrat"/>
              </a:rPr>
              <a:t>or a way of thinking?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541867"/>
            <a:ext cx="1422400" cy="1236133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812800" y="3556000"/>
            <a:ext cx="75184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6400" b="1">
                <a:solidFill>
                  <a:srgbClr val="22371F"/>
                </a:solidFill>
                <a:latin typeface="Montserrat"/>
              </a:rPr>
              <a:t>A premium product,</a:t>
            </a:r>
          </a:p>
          <a:p>
            <a:pPr>
              <a:lnSpc>
                <a:spcPct val="110000"/>
              </a:lnSpc>
            </a:pPr>
            <a:r>
              <a:rPr sz="6400" b="1">
                <a:solidFill>
                  <a:srgbClr val="156826"/>
                </a:solidFill>
                <a:latin typeface="Montserrat"/>
              </a:rPr>
              <a:t>or a standard everyone who works the land can reach?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poppy" descr="s5-02-flower-po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7" y="2099733"/>
            <a:ext cx="2489200" cy="4605867"/>
          </a:xfrm>
          <a:prstGeom prst="rect">
            <a:avLst/>
          </a:prstGeom>
        </p:spPr>
      </p:pic>
      <p:pic>
        <p:nvPicPr>
          <p:cNvPr id="4" name="flower-marigold" descr="s5-03-flower-mari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467" y="2861733"/>
            <a:ext cx="2446867" cy="3759200"/>
          </a:xfrm>
          <a:prstGeom prst="rect">
            <a:avLst/>
          </a:prstGeom>
        </p:spPr>
      </p:pic>
      <p:pic>
        <p:nvPicPr>
          <p:cNvPr id="5" name="flower-paintbrush" descr="s5-04-flower-paintbru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9400" y="1532467"/>
            <a:ext cx="2658533" cy="4893733"/>
          </a:xfrm>
          <a:prstGeom prst="rect">
            <a:avLst/>
          </a:prstGeom>
        </p:spPr>
      </p:pic>
      <p:pic>
        <p:nvPicPr>
          <p:cNvPr id="6" name="flower-heliconia" descr="s5-05-flower-heliconi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236133"/>
            <a:ext cx="2743200" cy="5317067"/>
          </a:xfrm>
          <a:prstGeom prst="rect">
            <a:avLst/>
          </a:prstGeom>
        </p:spPr>
      </p:pic>
      <p:pic>
        <p:nvPicPr>
          <p:cNvPr id="7" name="band" descr="s5-06-ban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7704667"/>
            <a:ext cx="9144000" cy="3725333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09600" y="8246533"/>
            <a:ext cx="7924800" cy="194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000" b="1">
                <a:solidFill>
                  <a:srgbClr val="F4F1EA"/>
                </a:solidFill>
                <a:latin typeface="Montserrat"/>
              </a:rPr>
              <a:t>Living soil in the hands of every person who works the land.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609600" y="10244667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800" b="0">
                <a:solidFill>
                  <a:srgbClr val="F4F1EA"/>
                </a:solidFill>
                <a:latin typeface="Source Sans 3"/>
              </a:rPr>
              <a:t>What does regenerative mean to you? Tell us in the comments.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