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733" y="338667"/>
            <a:ext cx="1100667" cy="956733"/>
          </a:xfrm>
          <a:prstGeom prst="rect">
            <a:avLst/>
          </a:prstGeom>
        </p:spPr>
      </p:pic>
      <p:pic>
        <p:nvPicPr>
          <p:cNvPr id="4" name="rule-1" descr="s1-06-rul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758267"/>
            <a:ext cx="7924800" cy="25400"/>
          </a:xfrm>
          <a:prstGeom prst="rect">
            <a:avLst/>
          </a:prstGeom>
        </p:spPr>
      </p:pic>
      <p:pic>
        <p:nvPicPr>
          <p:cNvPr id="5" name="rule-2" descr="s1-06-rul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994400"/>
            <a:ext cx="7924800" cy="25400"/>
          </a:xfrm>
          <a:prstGeom prst="rect">
            <a:avLst/>
          </a:prstGeom>
        </p:spPr>
      </p:pic>
      <p:pic>
        <p:nvPicPr>
          <p:cNvPr id="6" name="soil-strip" descr="s1-11-soil-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144000"/>
            <a:ext cx="9144000" cy="2286000"/>
          </a:xfrm>
          <a:prstGeom prst="rect">
            <a:avLst/>
          </a:prstGeom>
        </p:spPr>
      </p:pic>
      <p:pic>
        <p:nvPicPr>
          <p:cNvPr id="7" name="fern-fiddlehead" descr="s1-12-fern-fiddlehe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000" y="7687733"/>
            <a:ext cx="1693333" cy="1888067"/>
          </a:xfrm>
          <a:prstGeom prst="rect">
            <a:avLst/>
          </a:prstGeom>
        </p:spPr>
      </p:pic>
      <p:pic>
        <p:nvPicPr>
          <p:cNvPr id="8" name="mushrooms" descr="s1-13-mushroom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2000" y="7687733"/>
            <a:ext cx="1524000" cy="1879600"/>
          </a:xfrm>
          <a:prstGeom prst="rect">
            <a:avLst/>
          </a:prstGeom>
        </p:spPr>
      </p:pic>
      <p:sp>
        <p:nvSpPr>
          <p:cNvPr id="9" name="headline"/>
          <p:cNvSpPr txBox="1"/>
          <p:nvPr/>
        </p:nvSpPr>
        <p:spPr>
          <a:xfrm>
            <a:off x="609600" y="1016000"/>
            <a:ext cx="7924800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070" b="1">
                <a:solidFill>
                  <a:srgbClr val="4F3433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10" name="small-line"/>
          <p:cNvSpPr txBox="1"/>
          <p:nvPr/>
        </p:nvSpPr>
        <p:spPr>
          <a:xfrm>
            <a:off x="626533" y="3302000"/>
            <a:ext cx="6773333" cy="474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30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  <p:sp>
        <p:nvSpPr>
          <p:cNvPr id="11" name="question-1"/>
          <p:cNvSpPr txBox="1"/>
          <p:nvPr/>
        </p:nvSpPr>
        <p:spPr>
          <a:xfrm>
            <a:off x="609600" y="4148667"/>
            <a:ext cx="7924800" cy="474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29" b="1">
                <a:solidFill>
                  <a:srgbClr val="4F3433"/>
                </a:solidFill>
                <a:latin typeface="Montserrat"/>
              </a:rPr>
              <a:t>A destination </a:t>
            </a:r>
            <a:r>
              <a:rPr sz="3329" b="1">
                <a:solidFill>
                  <a:srgbClr val="156826"/>
                </a:solidFill>
                <a:latin typeface="Montserrat"/>
              </a:rPr>
              <a:t>or a direction?</a:t>
            </a:r>
          </a:p>
        </p:txBody>
      </p:sp>
      <p:sp>
        <p:nvSpPr>
          <p:cNvPr id="12" name="question-2"/>
          <p:cNvSpPr txBox="1"/>
          <p:nvPr/>
        </p:nvSpPr>
        <p:spPr>
          <a:xfrm>
            <a:off x="609600" y="4910667"/>
            <a:ext cx="7924800" cy="9482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29" b="1">
                <a:solidFill>
                  <a:srgbClr val="4F3433"/>
                </a:solidFill>
                <a:latin typeface="Montserrat"/>
              </a:rPr>
              <a:t>A certified status </a:t>
            </a:r>
            <a:r>
              <a:rPr sz="3329" b="1">
                <a:solidFill>
                  <a:srgbClr val="156826"/>
                </a:solidFill>
                <a:latin typeface="Montserrat"/>
              </a:rPr>
              <a:t>or a way of thinking?</a:t>
            </a:r>
          </a:p>
        </p:txBody>
      </p:sp>
      <p:sp>
        <p:nvSpPr>
          <p:cNvPr id="13" name="question-3"/>
          <p:cNvSpPr txBox="1"/>
          <p:nvPr/>
        </p:nvSpPr>
        <p:spPr>
          <a:xfrm>
            <a:off x="609600" y="6146800"/>
            <a:ext cx="7924800" cy="142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29" b="1">
                <a:solidFill>
                  <a:srgbClr val="4F3433"/>
                </a:solidFill>
                <a:latin typeface="Montserrat"/>
              </a:rPr>
              <a:t>A premium product, </a:t>
            </a:r>
            <a:r>
              <a:rPr sz="3329" b="1">
                <a:solidFill>
                  <a:srgbClr val="156826"/>
                </a:solidFill>
                <a:latin typeface="Montserrat"/>
              </a:rPr>
              <a:t>or a standard everyone who works the land can reach?</a:t>
            </a:r>
          </a:p>
        </p:txBody>
      </p:sp>
      <p:sp>
        <p:nvSpPr>
          <p:cNvPr id="14" name="cta"/>
          <p:cNvSpPr txBox="1"/>
          <p:nvPr/>
        </p:nvSpPr>
        <p:spPr>
          <a:xfrm>
            <a:off x="626533" y="7907867"/>
            <a:ext cx="4741333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30" b="1">
                <a:solidFill>
                  <a:srgbClr val="4F3433"/>
                </a:solidFill>
                <a:latin typeface="Source Sans Pro"/>
              </a:rPr>
              <a:t>What does regenerative mean to you? Tell us in the comments.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