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s1-02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2067" y="42333"/>
            <a:ext cx="1811867" cy="1811867"/>
          </a:xfrm>
          <a:prstGeom prst="rect">
            <a:avLst/>
          </a:prstGeom>
        </p:spPr>
      </p:pic>
      <p:pic>
        <p:nvPicPr>
          <p:cNvPr id="4" name="cake-plate" descr="s1-03-cake-p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067" y="9338733"/>
            <a:ext cx="7653867" cy="1727200"/>
          </a:xfrm>
          <a:prstGeom prst="rect">
            <a:avLst/>
          </a:prstGeom>
        </p:spPr>
      </p:pic>
      <p:pic>
        <p:nvPicPr>
          <p:cNvPr id="5" name="cake-tier-compost" descr="s1-04-cake-tier-compo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2400" y="8322733"/>
            <a:ext cx="6299200" cy="2150533"/>
          </a:xfrm>
          <a:prstGeom prst="rect">
            <a:avLst/>
          </a:prstGeom>
        </p:spPr>
      </p:pic>
      <p:pic>
        <p:nvPicPr>
          <p:cNvPr id="6" name="cake-tier-wood-chips" descr="s1-05-cake-tier-wood-chip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0400" y="7052733"/>
            <a:ext cx="5283200" cy="1981200"/>
          </a:xfrm>
          <a:prstGeom prst="rect">
            <a:avLst/>
          </a:prstGeom>
        </p:spPr>
      </p:pic>
      <p:pic>
        <p:nvPicPr>
          <p:cNvPr id="7" name="cake-tier-soil-roots" descr="s1-06-cake-tier-soil-roo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8400" y="5867400"/>
            <a:ext cx="4267200" cy="1896533"/>
          </a:xfrm>
          <a:prstGeom prst="rect">
            <a:avLst/>
          </a:prstGeom>
        </p:spPr>
      </p:pic>
      <p:pic>
        <p:nvPicPr>
          <p:cNvPr id="8" name="candle" descr="s1-07-cand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8000" y="4614333"/>
            <a:ext cx="508000" cy="1608667"/>
          </a:xfrm>
          <a:prstGeom prst="rect">
            <a:avLst/>
          </a:prstGeom>
        </p:spPr>
      </p:pic>
      <p:pic>
        <p:nvPicPr>
          <p:cNvPr id="9" name="seedling" descr="s1-08-seedlin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3667" y="6112933"/>
            <a:ext cx="1270000" cy="414867"/>
          </a:xfrm>
          <a:prstGeom prst="rect">
            <a:avLst/>
          </a:prstGeom>
        </p:spPr>
      </p:pic>
      <p:pic>
        <p:nvPicPr>
          <p:cNvPr id="10" name="flower-hibiscus" descr="s1-09-flower-hibiscu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7044267"/>
            <a:ext cx="3259667" cy="3530600"/>
          </a:xfrm>
          <a:prstGeom prst="rect">
            <a:avLst/>
          </a:prstGeom>
        </p:spPr>
      </p:pic>
      <p:pic>
        <p:nvPicPr>
          <p:cNvPr id="11" name="flower-marigold" descr="s1-10-flower-marigol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0000" y="6815667"/>
            <a:ext cx="2616200" cy="3471333"/>
          </a:xfrm>
          <a:prstGeom prst="rect">
            <a:avLst/>
          </a:prstGeom>
        </p:spPr>
      </p:pic>
      <p:pic>
        <p:nvPicPr>
          <p:cNvPr id="12" name="flower-poppy" descr="s1-11-flower-popp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4470400"/>
            <a:ext cx="2286000" cy="3928533"/>
          </a:xfrm>
          <a:prstGeom prst="rect">
            <a:avLst/>
          </a:prstGeom>
        </p:spPr>
      </p:pic>
      <p:pic>
        <p:nvPicPr>
          <p:cNvPr id="13" name="flower-paintbrush" descr="s1-12-flower-paintbrush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27333" y="4428067"/>
            <a:ext cx="2116667" cy="3674533"/>
          </a:xfrm>
          <a:prstGeom prst="rect">
            <a:avLst/>
          </a:prstGeom>
        </p:spPr>
      </p:pic>
      <p:pic>
        <p:nvPicPr>
          <p:cNvPr id="14" name="flower-jasmine" descr="s1-13-flower-jasmin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06067" y="9533467"/>
            <a:ext cx="2319867" cy="1896533"/>
          </a:xfrm>
          <a:prstGeom prst="rect">
            <a:avLst/>
          </a:prstGeom>
        </p:spPr>
      </p:pic>
      <p:sp>
        <p:nvSpPr>
          <p:cNvPr id="15" name="headline"/>
          <p:cNvSpPr txBox="1"/>
          <p:nvPr/>
        </p:nvSpPr>
        <p:spPr>
          <a:xfrm>
            <a:off x="609600" y="1016000"/>
            <a:ext cx="6942667" cy="3352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8800" i="1" b="0">
                <a:solidFill>
                  <a:srgbClr val="F4F1EA"/>
                </a:solidFill>
                <a:latin typeface="EB Garamond"/>
              </a:rPr>
              <a:t>Today we turn 1 🎂</a:t>
            </a:r>
          </a:p>
        </p:txBody>
      </p:sp>
      <p:sp>
        <p:nvSpPr>
          <p:cNvPr id="16" name="small"/>
          <p:cNvSpPr txBox="1"/>
          <p:nvPr/>
        </p:nvSpPr>
        <p:spPr>
          <a:xfrm>
            <a:off x="643467" y="3471333"/>
            <a:ext cx="6773333" cy="990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2400" i="0" b="1">
                <a:solidFill>
                  <a:srgbClr val="F4F1EA"/>
                </a:solidFill>
                <a:latin typeface="Montserrat"/>
              </a:rPr>
              <a:t>One year as a 501(c)(3) nonprofit.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2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flower-orchid" descr="s2-02-flower-orch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12067" cy="2988733"/>
          </a:xfrm>
          <a:prstGeom prst="rect">
            <a:avLst/>
          </a:prstGeom>
        </p:spPr>
      </p:pic>
      <p:pic>
        <p:nvPicPr>
          <p:cNvPr id="4" name="flower-foxglove" descr="s2-03-flower-foxglo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333" y="6510867"/>
            <a:ext cx="2370667" cy="4919133"/>
          </a:xfrm>
          <a:prstGeom prst="rect">
            <a:avLst/>
          </a:prstGeom>
        </p:spPr>
      </p:pic>
      <p:pic>
        <p:nvPicPr>
          <p:cNvPr id="5" name="flower-lavender" descr="s2-04-flower-lavend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2133" y="7374467"/>
            <a:ext cx="3293533" cy="4055533"/>
          </a:xfrm>
          <a:prstGeom prst="rect">
            <a:avLst/>
          </a:prstGeom>
        </p:spPr>
      </p:pic>
      <p:pic>
        <p:nvPicPr>
          <p:cNvPr id="6" name="flower-orchid-2" descr="s2-05-flower-orchid-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8991600"/>
            <a:ext cx="2658533" cy="2438400"/>
          </a:xfrm>
          <a:prstGeom prst="rect">
            <a:avLst/>
          </a:prstGeom>
        </p:spPr>
      </p:pic>
      <p:sp>
        <p:nvSpPr>
          <p:cNvPr id="7" name="words"/>
          <p:cNvSpPr txBox="1"/>
          <p:nvPr/>
        </p:nvSpPr>
        <p:spPr>
          <a:xfrm>
            <a:off x="711200" y="2540000"/>
            <a:ext cx="7620000" cy="643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5600" i="1" b="0">
                <a:solidFill>
                  <a:srgbClr val="6B4C7A"/>
                </a:solidFill>
                <a:latin typeface="EB Garamond"/>
              </a:rPr>
              <a:t>A year ago, we became a nonprofit foundation to carry Dr. Elaine Ingham's work to everyone who wants to learn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3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flower-gloriosa" descr="s3-02-flower-glorios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0"/>
            <a:ext cx="3200400" cy="3513667"/>
          </a:xfrm>
          <a:prstGeom prst="rect">
            <a:avLst/>
          </a:prstGeom>
        </p:spPr>
      </p:pic>
      <p:pic>
        <p:nvPicPr>
          <p:cNvPr id="4" name="flower-sunflower-chamisa" descr="s3-03-flower-sunflower-chamis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705600"/>
            <a:ext cx="4402667" cy="4724400"/>
          </a:xfrm>
          <a:prstGeom prst="rect">
            <a:avLst/>
          </a:prstGeom>
        </p:spPr>
      </p:pic>
      <p:pic>
        <p:nvPicPr>
          <p:cNvPr id="5" name="flower-hibiscus" descr="s3-04-flower-hibiscu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6667" y="7890933"/>
            <a:ext cx="3725333" cy="3539067"/>
          </a:xfrm>
          <a:prstGeom prst="rect">
            <a:avLst/>
          </a:prstGeom>
        </p:spPr>
      </p:pic>
      <p:pic>
        <p:nvPicPr>
          <p:cNvPr id="6" name="flower-marigold" descr="s3-05-flower-mari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7733" y="7408333"/>
            <a:ext cx="2726267" cy="3979333"/>
          </a:xfrm>
          <a:prstGeom prst="rect">
            <a:avLst/>
          </a:prstGeom>
        </p:spPr>
      </p:pic>
      <p:sp>
        <p:nvSpPr>
          <p:cNvPr id="7" name="big"/>
          <p:cNvSpPr txBox="1"/>
          <p:nvPr/>
        </p:nvSpPr>
        <p:spPr>
          <a:xfrm>
            <a:off x="541867" y="2201333"/>
            <a:ext cx="8128000" cy="1439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0" i="0" b="1">
                <a:solidFill>
                  <a:srgbClr val="22371F"/>
                </a:solidFill>
                <a:latin typeface="EB Garamond"/>
              </a:rPr>
              <a:t>More than $72,000</a:t>
            </a:r>
          </a:p>
        </p:txBody>
      </p:sp>
      <p:sp>
        <p:nvSpPr>
          <p:cNvPr id="8" name="words"/>
          <p:cNvSpPr txBox="1"/>
          <p:nvPr/>
        </p:nvSpPr>
        <p:spPr>
          <a:xfrm>
            <a:off x="592667" y="5080000"/>
            <a:ext cx="7450667" cy="220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4270" i="1" b="0">
                <a:solidFill>
                  <a:srgbClr val="22371F"/>
                </a:solidFill>
                <a:latin typeface="EB Garamond"/>
              </a:rPr>
              <a:t>in full scholarships in June alone, plus around $250,000 in partial scholarships.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4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flower-cornflower" descr="s4-02-flower-cornflo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800" y="25400"/>
            <a:ext cx="3369733" cy="5029200"/>
          </a:xfrm>
          <a:prstGeom prst="rect">
            <a:avLst/>
          </a:prstGeom>
        </p:spPr>
      </p:pic>
      <p:pic>
        <p:nvPicPr>
          <p:cNvPr id="4" name="mushrooms" descr="s4-03-mushroom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5067" y="8068733"/>
            <a:ext cx="3251200" cy="3361267"/>
          </a:xfrm>
          <a:prstGeom prst="rect">
            <a:avLst/>
          </a:prstGeom>
        </p:spPr>
      </p:pic>
      <p:pic>
        <p:nvPicPr>
          <p:cNvPr id="5" name="moss" descr="s4-04-mo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1067" y="9211733"/>
            <a:ext cx="3420533" cy="2218267"/>
          </a:xfrm>
          <a:prstGeom prst="rect">
            <a:avLst/>
          </a:prstGeom>
        </p:spPr>
      </p:pic>
      <p:pic>
        <p:nvPicPr>
          <p:cNvPr id="6" name="fern-fiddlehead" descr="s4-05-fern-fiddlehea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200" y="8568267"/>
            <a:ext cx="2980267" cy="2861733"/>
          </a:xfrm>
          <a:prstGeom prst="rect">
            <a:avLst/>
          </a:prstGeom>
        </p:spPr>
      </p:pic>
      <p:sp>
        <p:nvSpPr>
          <p:cNvPr id="7" name="big"/>
          <p:cNvSpPr txBox="1"/>
          <p:nvPr/>
        </p:nvSpPr>
        <p:spPr>
          <a:xfrm>
            <a:off x="541867" y="1016000"/>
            <a:ext cx="5926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0670" i="0" b="0">
                <a:solidFill>
                  <a:srgbClr val="F4F1EA"/>
                </a:solidFill>
                <a:latin typeface="EB Garamond"/>
              </a:rPr>
              <a:t>35</a:t>
            </a:r>
          </a:p>
        </p:txBody>
      </p:sp>
      <p:sp>
        <p:nvSpPr>
          <p:cNvPr id="8" name="words"/>
          <p:cNvSpPr txBox="1"/>
          <p:nvPr/>
        </p:nvSpPr>
        <p:spPr>
          <a:xfrm>
            <a:off x="609600" y="5418667"/>
            <a:ext cx="6773333" cy="279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4670" i="1" b="0">
                <a:solidFill>
                  <a:srgbClr val="F4F1EA"/>
                </a:solidFill>
                <a:latin typeface="EB Garamond"/>
              </a:rPr>
              <a:t>live events, with guests like Vandana Shiva, David Holmgren and Mary Cole.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5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flower-heliconia" descr="s5-02-flower-helicon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133" y="0"/>
            <a:ext cx="2573867" cy="5613400"/>
          </a:xfrm>
          <a:prstGeom prst="rect">
            <a:avLst/>
          </a:prstGeom>
        </p:spPr>
      </p:pic>
      <p:pic>
        <p:nvPicPr>
          <p:cNvPr id="4" name="flower-torch-ginger" descr="s5-03-flower-torch-gin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8667" y="6815667"/>
            <a:ext cx="3725333" cy="4614333"/>
          </a:xfrm>
          <a:prstGeom prst="rect">
            <a:avLst/>
          </a:prstGeom>
        </p:spPr>
      </p:pic>
      <p:pic>
        <p:nvPicPr>
          <p:cNvPr id="5" name="flower-hibiscus" descr="s5-04-flower-hibiscu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7247467"/>
            <a:ext cx="3911600" cy="4182533"/>
          </a:xfrm>
          <a:prstGeom prst="rect">
            <a:avLst/>
          </a:prstGeom>
        </p:spPr>
      </p:pic>
      <p:pic>
        <p:nvPicPr>
          <p:cNvPr id="6" name="flower-poro" descr="s5-05-flower-por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2533" y="8517467"/>
            <a:ext cx="3657600" cy="2912533"/>
          </a:xfrm>
          <a:prstGeom prst="rect">
            <a:avLst/>
          </a:prstGeom>
        </p:spPr>
      </p:pic>
      <p:sp>
        <p:nvSpPr>
          <p:cNvPr id="7" name="big"/>
          <p:cNvSpPr txBox="1"/>
          <p:nvPr/>
        </p:nvSpPr>
        <p:spPr>
          <a:xfrm>
            <a:off x="541867" y="3048000"/>
            <a:ext cx="6942667" cy="40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0" i="1" b="0">
                <a:solidFill>
                  <a:srgbClr val="156826"/>
                </a:solidFill>
                <a:latin typeface="EB Garamond"/>
              </a:rPr>
              <a:t>Our first course in Spanish.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6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flower-gloriosa" descr="s6-02-flower-glorios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667" y="0"/>
            <a:ext cx="3217333" cy="3589867"/>
          </a:xfrm>
          <a:prstGeom prst="rect">
            <a:avLst/>
          </a:prstGeom>
        </p:spPr>
      </p:pic>
      <p:pic>
        <p:nvPicPr>
          <p:cNvPr id="4" name="flower-lotus" descr="s6-03-flower-lot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086600"/>
            <a:ext cx="4097867" cy="4343400"/>
          </a:xfrm>
          <a:prstGeom prst="rect">
            <a:avLst/>
          </a:prstGeom>
        </p:spPr>
      </p:pic>
      <p:pic>
        <p:nvPicPr>
          <p:cNvPr id="5" name="flower-marigold" descr="s6-04-flower-mari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4467" y="7145867"/>
            <a:ext cx="3031067" cy="4165600"/>
          </a:xfrm>
          <a:prstGeom prst="rect">
            <a:avLst/>
          </a:prstGeom>
        </p:spPr>
      </p:pic>
      <p:pic>
        <p:nvPicPr>
          <p:cNvPr id="6" name="flower-jasmine" descr="s6-05-flower-jasm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5733" y="8873067"/>
            <a:ext cx="3420533" cy="2556933"/>
          </a:xfrm>
          <a:prstGeom prst="rect">
            <a:avLst/>
          </a:prstGeom>
        </p:spPr>
      </p:pic>
      <p:sp>
        <p:nvSpPr>
          <p:cNvPr id="7" name="big"/>
          <p:cNvSpPr txBox="1"/>
          <p:nvPr/>
        </p:nvSpPr>
        <p:spPr>
          <a:xfrm>
            <a:off x="541867" y="2370667"/>
            <a:ext cx="7620000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330" i="1" b="0">
                <a:solidFill>
                  <a:srgbClr val="F4F1EA"/>
                </a:solidFill>
                <a:latin typeface="EB Garamond"/>
              </a:rPr>
              <a:t>Our first workshop in Asia!</a:t>
            </a:r>
          </a:p>
        </p:txBody>
      </p:sp>
      <p:sp>
        <p:nvSpPr>
          <p:cNvPr id="8" name="words"/>
          <p:cNvSpPr txBox="1"/>
          <p:nvPr/>
        </p:nvSpPr>
        <p:spPr>
          <a:xfrm>
            <a:off x="592667" y="6434667"/>
            <a:ext cx="6434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4130" i="1" b="0">
                <a:solidFill>
                  <a:srgbClr val="F4F1EA"/>
                </a:solidFill>
                <a:latin typeface="EB Garamond"/>
              </a:rPr>
              <a:t>Hosted at the Save Soil Farm in Coimbatore India.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7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earthworm" descr="s7-02-earthw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23200"/>
            <a:ext cx="3039533" cy="3606800"/>
          </a:xfrm>
          <a:prstGeom prst="rect">
            <a:avLst/>
          </a:prstGeom>
        </p:spPr>
      </p:pic>
      <p:pic>
        <p:nvPicPr>
          <p:cNvPr id="4" name="acorns" descr="s7-03-acor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2933" y="9398000"/>
            <a:ext cx="3014133" cy="2023533"/>
          </a:xfrm>
          <a:prstGeom prst="rect">
            <a:avLst/>
          </a:prstGeom>
        </p:spPr>
      </p:pic>
      <p:pic>
        <p:nvPicPr>
          <p:cNvPr id="5" name="pebbles" descr="s7-04-pebbl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9733" y="9347200"/>
            <a:ext cx="2573867" cy="2082800"/>
          </a:xfrm>
          <a:prstGeom prst="rect">
            <a:avLst/>
          </a:prstGeom>
        </p:spPr>
      </p:pic>
      <p:pic>
        <p:nvPicPr>
          <p:cNvPr id="6" name="flower-globemallow" descr="s7-05-flower-globemallo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7600" y="6849533"/>
            <a:ext cx="2946400" cy="4580467"/>
          </a:xfrm>
          <a:prstGeom prst="rect">
            <a:avLst/>
          </a:prstGeom>
        </p:spPr>
      </p:pic>
      <p:pic>
        <p:nvPicPr>
          <p:cNvPr id="7" name="flower-paintbrush" descr="s7-06-flower-paintbrus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4067" y="0"/>
            <a:ext cx="2429933" cy="3522133"/>
          </a:xfrm>
          <a:prstGeom prst="rect">
            <a:avLst/>
          </a:prstGeom>
        </p:spPr>
      </p:pic>
      <p:sp>
        <p:nvSpPr>
          <p:cNvPr id="8" name="words"/>
          <p:cNvSpPr txBox="1"/>
          <p:nvPr/>
        </p:nvSpPr>
        <p:spPr>
          <a:xfrm>
            <a:off x="592667" y="1947333"/>
            <a:ext cx="7620000" cy="474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5470" i="1" b="0">
                <a:solidFill>
                  <a:srgbClr val="22371F"/>
                </a:solidFill>
                <a:latin typeface="EB Garamond"/>
              </a:rPr>
              <a:t>Foundation courses that no longer expire, weekly office hours, and every support message answered within 48 hours.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8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compost-fungal-threads" descr="s8-02-compost-fungal-thr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94600"/>
            <a:ext cx="3911600" cy="3835400"/>
          </a:xfrm>
          <a:prstGeom prst="rect">
            <a:avLst/>
          </a:prstGeom>
        </p:spPr>
      </p:pic>
      <p:pic>
        <p:nvPicPr>
          <p:cNvPr id="4" name="wood-chips" descr="s8-03-wood-chi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7067" y="8534400"/>
            <a:ext cx="3928533" cy="2895600"/>
          </a:xfrm>
          <a:prstGeom prst="rect">
            <a:avLst/>
          </a:prstGeom>
        </p:spPr>
      </p:pic>
      <p:pic>
        <p:nvPicPr>
          <p:cNvPr id="5" name="dark-soil" descr="s8-04-dark-soi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5733" y="8500533"/>
            <a:ext cx="3488267" cy="2472267"/>
          </a:xfrm>
          <a:prstGeom prst="rect">
            <a:avLst/>
          </a:prstGeom>
        </p:spPr>
      </p:pic>
      <p:pic>
        <p:nvPicPr>
          <p:cNvPr id="6" name="earthworm" descr="s8-05-earthwor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9667" y="7586133"/>
            <a:ext cx="2794000" cy="2607733"/>
          </a:xfrm>
          <a:prstGeom prst="rect">
            <a:avLst/>
          </a:prstGeom>
        </p:spPr>
      </p:pic>
      <p:pic>
        <p:nvPicPr>
          <p:cNvPr id="7" name="dry-leaves" descr="s8-06-dry-leav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6133" y="0"/>
            <a:ext cx="2827867" cy="2937933"/>
          </a:xfrm>
          <a:prstGeom prst="rect">
            <a:avLst/>
          </a:prstGeom>
        </p:spPr>
      </p:pic>
      <p:sp>
        <p:nvSpPr>
          <p:cNvPr id="8" name="words"/>
          <p:cNvSpPr txBox="1"/>
          <p:nvPr/>
        </p:nvSpPr>
        <p:spPr>
          <a:xfrm>
            <a:off x="592667" y="2032000"/>
            <a:ext cx="7620000" cy="4402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5730" i="1" b="0">
                <a:solidFill>
                  <a:srgbClr val="22371F"/>
                </a:solidFill>
                <a:latin typeface="EB Garamond"/>
              </a:rPr>
              <a:t>Launched our Compost Intensive Course, the first in a series of online group programs.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9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s9-02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" y="364067"/>
            <a:ext cx="1981200" cy="1981200"/>
          </a:xfrm>
          <a:prstGeom prst="rect">
            <a:avLst/>
          </a:prstGeom>
        </p:spPr>
      </p:pic>
      <p:pic>
        <p:nvPicPr>
          <p:cNvPr id="4" name="flower-poppy" descr="s9-03-flower-popp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739467"/>
            <a:ext cx="2565400" cy="4639733"/>
          </a:xfrm>
          <a:prstGeom prst="rect">
            <a:avLst/>
          </a:prstGeom>
        </p:spPr>
      </p:pic>
      <p:pic>
        <p:nvPicPr>
          <p:cNvPr id="5" name="flower-hibiscus" descr="s9-04-flower-hibiscu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0800" y="8288867"/>
            <a:ext cx="3454400" cy="3141133"/>
          </a:xfrm>
          <a:prstGeom prst="rect">
            <a:avLst/>
          </a:prstGeom>
        </p:spPr>
      </p:pic>
      <p:pic>
        <p:nvPicPr>
          <p:cNvPr id="6" name="flower-marigold" descr="s9-05-flower-mari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9200" y="7730067"/>
            <a:ext cx="2633133" cy="3674533"/>
          </a:xfrm>
          <a:prstGeom prst="rect">
            <a:avLst/>
          </a:prstGeom>
        </p:spPr>
      </p:pic>
      <p:pic>
        <p:nvPicPr>
          <p:cNvPr id="7" name="flower-paintbrush" descr="s9-06-flower-paintbrus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0200" y="7010400"/>
            <a:ext cx="2726267" cy="4267200"/>
          </a:xfrm>
          <a:prstGeom prst="rect">
            <a:avLst/>
          </a:prstGeom>
        </p:spPr>
      </p:pic>
      <p:pic>
        <p:nvPicPr>
          <p:cNvPr id="8" name="flower-foxglove" descr="s9-07-flower-foxglov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3467" y="6587067"/>
            <a:ext cx="2150533" cy="4775200"/>
          </a:xfrm>
          <a:prstGeom prst="rect">
            <a:avLst/>
          </a:prstGeom>
        </p:spPr>
      </p:pic>
      <p:sp>
        <p:nvSpPr>
          <p:cNvPr id="9" name="words"/>
          <p:cNvSpPr txBox="1"/>
          <p:nvPr/>
        </p:nvSpPr>
        <p:spPr>
          <a:xfrm>
            <a:off x="592667" y="2540000"/>
            <a:ext cx="7620000" cy="4402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</a:pPr>
            <a:r>
              <a:rPr sz="8000" i="1" b="0">
                <a:solidFill>
                  <a:srgbClr val="F4F1EA"/>
                </a:solidFill>
                <a:latin typeface="EB Garamond"/>
              </a:rPr>
              <a:t>Thank you for growing with us. Here's to year two. 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