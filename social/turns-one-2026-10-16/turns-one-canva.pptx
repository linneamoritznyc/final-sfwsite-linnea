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2067" y="42333"/>
            <a:ext cx="1811867" cy="1811867"/>
          </a:xfrm>
          <a:prstGeom prst="rect">
            <a:avLst/>
          </a:prstGeom>
        </p:spPr>
      </p:pic>
      <p:pic>
        <p:nvPicPr>
          <p:cNvPr id="4" name="cake-plate" descr="s1-03-cake-p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067" y="9338733"/>
            <a:ext cx="7653867" cy="1727200"/>
          </a:xfrm>
          <a:prstGeom prst="rect">
            <a:avLst/>
          </a:prstGeom>
        </p:spPr>
      </p:pic>
      <p:pic>
        <p:nvPicPr>
          <p:cNvPr id="5" name="cake-tier-compost" descr="s1-04-cake-tier-compo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2400" y="8322733"/>
            <a:ext cx="6299200" cy="2150533"/>
          </a:xfrm>
          <a:prstGeom prst="rect">
            <a:avLst/>
          </a:prstGeom>
        </p:spPr>
      </p:pic>
      <p:pic>
        <p:nvPicPr>
          <p:cNvPr id="6" name="cake-tier-wood-chips" descr="s1-05-cake-tier-wood-chi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0400" y="7052733"/>
            <a:ext cx="5283200" cy="1981200"/>
          </a:xfrm>
          <a:prstGeom prst="rect">
            <a:avLst/>
          </a:prstGeom>
        </p:spPr>
      </p:pic>
      <p:pic>
        <p:nvPicPr>
          <p:cNvPr id="7" name="cake-tier-soil-roots" descr="s1-06-cake-tier-soil-roo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8400" y="5867400"/>
            <a:ext cx="4267200" cy="1896533"/>
          </a:xfrm>
          <a:prstGeom prst="rect">
            <a:avLst/>
          </a:prstGeom>
        </p:spPr>
      </p:pic>
      <p:pic>
        <p:nvPicPr>
          <p:cNvPr id="8" name="candle" descr="s1-07-cand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4614333"/>
            <a:ext cx="508000" cy="1608667"/>
          </a:xfrm>
          <a:prstGeom prst="rect">
            <a:avLst/>
          </a:prstGeom>
        </p:spPr>
      </p:pic>
      <p:pic>
        <p:nvPicPr>
          <p:cNvPr id="9" name="seedling" descr="s1-08-seedl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3667" y="6112933"/>
            <a:ext cx="1270000" cy="414867"/>
          </a:xfrm>
          <a:prstGeom prst="rect">
            <a:avLst/>
          </a:prstGeom>
        </p:spPr>
      </p:pic>
      <p:pic>
        <p:nvPicPr>
          <p:cNvPr id="10" name="flower-hibiscus" descr="s1-09-flower-hibiscu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7044267"/>
            <a:ext cx="3259667" cy="3530600"/>
          </a:xfrm>
          <a:prstGeom prst="rect">
            <a:avLst/>
          </a:prstGeom>
        </p:spPr>
      </p:pic>
      <p:pic>
        <p:nvPicPr>
          <p:cNvPr id="11" name="flower-marigold" descr="s1-10-flower-marigol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0000" y="6815667"/>
            <a:ext cx="2616200" cy="3471333"/>
          </a:xfrm>
          <a:prstGeom prst="rect">
            <a:avLst/>
          </a:prstGeom>
        </p:spPr>
      </p:pic>
      <p:pic>
        <p:nvPicPr>
          <p:cNvPr id="12" name="flower-poppy" descr="s1-11-flower-popp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4470400"/>
            <a:ext cx="2286000" cy="3928533"/>
          </a:xfrm>
          <a:prstGeom prst="rect">
            <a:avLst/>
          </a:prstGeom>
        </p:spPr>
      </p:pic>
      <p:pic>
        <p:nvPicPr>
          <p:cNvPr id="13" name="flower-paintbrush" descr="s1-12-flower-paintbrus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27333" y="4428067"/>
            <a:ext cx="2116667" cy="3674533"/>
          </a:xfrm>
          <a:prstGeom prst="rect">
            <a:avLst/>
          </a:prstGeom>
        </p:spPr>
      </p:pic>
      <p:pic>
        <p:nvPicPr>
          <p:cNvPr id="14" name="flower-jasmine" descr="s1-13-flower-jasmin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06067" y="9533467"/>
            <a:ext cx="2319867" cy="1896533"/>
          </a:xfrm>
          <a:prstGeom prst="rect">
            <a:avLst/>
          </a:prstGeom>
        </p:spPr>
      </p:pic>
      <p:sp>
        <p:nvSpPr>
          <p:cNvPr id="15" name="headline"/>
          <p:cNvSpPr txBox="1"/>
          <p:nvPr/>
        </p:nvSpPr>
        <p:spPr>
          <a:xfrm>
            <a:off x="609600" y="1016000"/>
            <a:ext cx="6942667" cy="335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800" i="1" b="0">
                <a:solidFill>
                  <a:srgbClr val="F4F1EA"/>
                </a:solidFill>
                <a:latin typeface="EB Garamond"/>
              </a:rPr>
              <a:t>Today we turn 1 🎂</a:t>
            </a:r>
          </a:p>
        </p:txBody>
      </p:sp>
      <p:sp>
        <p:nvSpPr>
          <p:cNvPr id="16" name="small"/>
          <p:cNvSpPr txBox="1"/>
          <p:nvPr/>
        </p:nvSpPr>
        <p:spPr>
          <a:xfrm>
            <a:off x="643467" y="3471333"/>
            <a:ext cx="6773333" cy="99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i="0" b="1">
                <a:solidFill>
                  <a:srgbClr val="F4F1EA"/>
                </a:solidFill>
                <a:latin typeface="Montserrat"/>
              </a:rPr>
              <a:t>One year as a 501(c)(3) nonprofit.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elaine" descr="s2-02-photo-ela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790267"/>
          </a:xfrm>
          <a:prstGeom prst="rect">
            <a:avLst/>
          </a:prstGeom>
        </p:spPr>
      </p:pic>
      <p:pic>
        <p:nvPicPr>
          <p:cNvPr id="4" name="photo-elaine-ceremony" descr="s2-03-photo-elaine-ceremon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0" y="8178800"/>
            <a:ext cx="3810000" cy="3115733"/>
          </a:xfrm>
          <a:prstGeom prst="rect">
            <a:avLst/>
          </a:prstGeom>
        </p:spPr>
      </p:pic>
      <p:pic>
        <p:nvPicPr>
          <p:cNvPr id="5" name="flower-foxglove" descr="s2-04-flower-foxglo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7333" y="4741333"/>
            <a:ext cx="2116667" cy="3894667"/>
          </a:xfrm>
          <a:prstGeom prst="rect">
            <a:avLst/>
          </a:prstGeom>
        </p:spPr>
      </p:pic>
      <p:pic>
        <p:nvPicPr>
          <p:cNvPr id="6" name="flower-orchid" descr="s2-05-flower-orch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130800"/>
            <a:ext cx="2497667" cy="2616200"/>
          </a:xfrm>
          <a:prstGeom prst="rect">
            <a:avLst/>
          </a:prstGeom>
        </p:spPr>
      </p:pic>
      <p:sp>
        <p:nvSpPr>
          <p:cNvPr id="7" name="words"/>
          <p:cNvSpPr txBox="1"/>
          <p:nvPr/>
        </p:nvSpPr>
        <p:spPr>
          <a:xfrm>
            <a:off x="609600" y="7027333"/>
            <a:ext cx="5418667" cy="35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29" i="1" b="0">
                <a:solidFill>
                  <a:srgbClr val="6B4C7A"/>
                </a:solidFill>
                <a:latin typeface="EB Garamond"/>
              </a:rPr>
              <a:t>A year ago, we became a nonprofit foundation to carry Dr. Elaine Ingham's work to everyone who wants to learn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certificates-stone-wall" descr="s3-02-photo-certificates-stone-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80267"/>
            <a:ext cx="5029200" cy="4199467"/>
          </a:xfrm>
          <a:prstGeom prst="rect">
            <a:avLst/>
          </a:prstGeom>
        </p:spPr>
      </p:pic>
      <p:pic>
        <p:nvPicPr>
          <p:cNvPr id="4" name="photo-graduates-purple" descr="s3-03-photo-graduates-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0200" y="3437467"/>
            <a:ext cx="5003800" cy="3962400"/>
          </a:xfrm>
          <a:prstGeom prst="rect">
            <a:avLst/>
          </a:prstGeom>
        </p:spPr>
      </p:pic>
      <p:pic>
        <p:nvPicPr>
          <p:cNvPr id="5" name="photo-certificates-terrace" descr="s3-04-photo-certificates-terra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00" y="6705600"/>
            <a:ext cx="4673600" cy="4199467"/>
          </a:xfrm>
          <a:prstGeom prst="rect">
            <a:avLst/>
          </a:prstGeom>
        </p:spPr>
      </p:pic>
      <p:pic>
        <p:nvPicPr>
          <p:cNvPr id="6" name="photo-graduates-aug-2023" descr="s3-05-photo-graduates-aug-20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8533" y="6858000"/>
            <a:ext cx="5215467" cy="4233333"/>
          </a:xfrm>
          <a:prstGeom prst="rect">
            <a:avLst/>
          </a:prstGeom>
        </p:spPr>
      </p:pic>
      <p:pic>
        <p:nvPicPr>
          <p:cNvPr id="7" name="flower-gloriosa" descr="s3-06-flower-glorios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1200" y="9304867"/>
            <a:ext cx="2971800" cy="2125133"/>
          </a:xfrm>
          <a:prstGeom prst="rect">
            <a:avLst/>
          </a:prstGeom>
        </p:spPr>
      </p:pic>
      <p:sp>
        <p:nvSpPr>
          <p:cNvPr id="8" name="big"/>
          <p:cNvSpPr txBox="1"/>
          <p:nvPr/>
        </p:nvSpPr>
        <p:spPr>
          <a:xfrm>
            <a:off x="541867" y="677333"/>
            <a:ext cx="8128000" cy="110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470" i="0" b="1">
                <a:solidFill>
                  <a:srgbClr val="22371F"/>
                </a:solidFill>
                <a:latin typeface="EB Garamond"/>
              </a:rPr>
              <a:t>More than $72,000</a:t>
            </a:r>
          </a:p>
        </p:txBody>
      </p:sp>
      <p:sp>
        <p:nvSpPr>
          <p:cNvPr id="9" name="words"/>
          <p:cNvSpPr txBox="1"/>
          <p:nvPr/>
        </p:nvSpPr>
        <p:spPr>
          <a:xfrm>
            <a:off x="575733" y="1905000"/>
            <a:ext cx="7620000" cy="110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200" i="1" b="0">
                <a:solidFill>
                  <a:srgbClr val="22371F"/>
                </a:solidFill>
                <a:latin typeface="EB Garamond"/>
              </a:rPr>
              <a:t>in full scholarships in June alone, plus around $250,000 in partial scholarships.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microscopy-group" descr="s4-02-photo-microscopy-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15733"/>
            <a:ext cx="5731933" cy="4605867"/>
          </a:xfrm>
          <a:prstGeom prst="rect">
            <a:avLst/>
          </a:prstGeom>
        </p:spPr>
      </p:pic>
      <p:pic>
        <p:nvPicPr>
          <p:cNvPr id="4" name="photo-microscopy-costa-rica" descr="s4-03-photo-microscopy-costa-ri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4292600"/>
            <a:ext cx="5029200" cy="4284133"/>
          </a:xfrm>
          <a:prstGeom prst="rect">
            <a:avLst/>
          </a:prstGeom>
        </p:spPr>
      </p:pic>
      <p:pic>
        <p:nvPicPr>
          <p:cNvPr id="5" name="photo-laughing-at-microscope" descr="s4-04-photo-laughing-at-microsco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00" y="7018867"/>
            <a:ext cx="5469467" cy="4250267"/>
          </a:xfrm>
          <a:prstGeom prst="rect">
            <a:avLst/>
          </a:prstGeom>
        </p:spPr>
      </p:pic>
      <p:pic>
        <p:nvPicPr>
          <p:cNvPr id="6" name="flower-cornflower" descr="s4-05-flower-cornflow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5333" y="7857067"/>
            <a:ext cx="2709333" cy="3572933"/>
          </a:xfrm>
          <a:prstGeom prst="rect">
            <a:avLst/>
          </a:prstGeom>
        </p:spPr>
      </p:pic>
      <p:pic>
        <p:nvPicPr>
          <p:cNvPr id="7" name="mushrooms" descr="s4-06-mushroo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9733" y="9177867"/>
            <a:ext cx="1964267" cy="2252133"/>
          </a:xfrm>
          <a:prstGeom prst="rect">
            <a:avLst/>
          </a:prstGeom>
        </p:spPr>
      </p:pic>
      <p:sp>
        <p:nvSpPr>
          <p:cNvPr id="8" name="big"/>
          <p:cNvSpPr txBox="1"/>
          <p:nvPr/>
        </p:nvSpPr>
        <p:spPr>
          <a:xfrm>
            <a:off x="541867" y="338667"/>
            <a:ext cx="3556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0000" i="0" b="0">
                <a:solidFill>
                  <a:srgbClr val="F4F1EA"/>
                </a:solidFill>
                <a:latin typeface="EB Garamond"/>
              </a:rPr>
              <a:t>35</a:t>
            </a:r>
          </a:p>
        </p:txBody>
      </p:sp>
      <p:sp>
        <p:nvSpPr>
          <p:cNvPr id="9" name="words"/>
          <p:cNvSpPr txBox="1"/>
          <p:nvPr/>
        </p:nvSpPr>
        <p:spPr>
          <a:xfrm>
            <a:off x="3979333" y="1016000"/>
            <a:ext cx="4741333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29" i="1" b="0">
                <a:solidFill>
                  <a:srgbClr val="F4F1EA"/>
                </a:solidFill>
                <a:latin typeface="EB Garamond"/>
              </a:rPr>
              <a:t>live events, with guests like Vandana Shiva, David Holmgren and Mary Cole.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high-five" descr="s5-02-photo-high-f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84400"/>
            <a:ext cx="5816600" cy="4436533"/>
          </a:xfrm>
          <a:prstGeom prst="rect">
            <a:avLst/>
          </a:prstGeom>
        </p:spPr>
      </p:pic>
      <p:pic>
        <p:nvPicPr>
          <p:cNvPr id="4" name="photo-staff-and-mentors" descr="s5-03-photo-staff-and-ment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2467" y="4368800"/>
            <a:ext cx="5071533" cy="4131733"/>
          </a:xfrm>
          <a:prstGeom prst="rect">
            <a:avLst/>
          </a:prstGeom>
        </p:spPr>
      </p:pic>
      <p:pic>
        <p:nvPicPr>
          <p:cNvPr id="5" name="photo-group-at-compost-pile" descr="s5-04-photo-group-at-compost-p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6629400"/>
            <a:ext cx="6163733" cy="4690533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0467" y="1778000"/>
            <a:ext cx="2023533" cy="4402667"/>
          </a:xfrm>
          <a:prstGeom prst="rect">
            <a:avLst/>
          </a:prstGeom>
        </p:spPr>
      </p:pic>
      <p:pic>
        <p:nvPicPr>
          <p:cNvPr id="7" name="flower-torch-ginger" descr="s5-06-flower-torch-gin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4667" y="8128000"/>
            <a:ext cx="2709333" cy="3302000"/>
          </a:xfrm>
          <a:prstGeom prst="rect">
            <a:avLst/>
          </a:prstGeom>
        </p:spPr>
      </p:pic>
      <p:sp>
        <p:nvSpPr>
          <p:cNvPr id="8" name="big"/>
          <p:cNvSpPr txBox="1"/>
          <p:nvPr/>
        </p:nvSpPr>
        <p:spPr>
          <a:xfrm>
            <a:off x="541867" y="677333"/>
            <a:ext cx="7620000" cy="220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870" i="1" b="0">
                <a:solidFill>
                  <a:srgbClr val="156826"/>
                </a:solidFill>
                <a:latin typeface="EB Garamond"/>
              </a:rPr>
              <a:t>Our first course in Spanish.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6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isha-adiyogi" descr="s6-02-photo-isha-adiyog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33" y="3784600"/>
            <a:ext cx="6248400" cy="5300133"/>
          </a:xfrm>
          <a:prstGeom prst="rect">
            <a:avLst/>
          </a:prstGeom>
        </p:spPr>
      </p:pic>
      <p:pic>
        <p:nvPicPr>
          <p:cNvPr id="4" name="photo-india-meal" descr="s6-03-photo-india-m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467" y="6570133"/>
            <a:ext cx="4639733" cy="4639733"/>
          </a:xfrm>
          <a:prstGeom prst="rect">
            <a:avLst/>
          </a:prstGeom>
        </p:spPr>
      </p:pic>
      <p:pic>
        <p:nvPicPr>
          <p:cNvPr id="5" name="flower-lotus" descr="s6-04-flower-lot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907867"/>
            <a:ext cx="3242733" cy="3522133"/>
          </a:xfrm>
          <a:prstGeom prst="rect">
            <a:avLst/>
          </a:prstGeom>
        </p:spPr>
      </p:pic>
      <p:pic>
        <p:nvPicPr>
          <p:cNvPr id="6" name="flower-marigold" descr="s6-05-flower-mari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0267" y="2751667"/>
            <a:ext cx="2353733" cy="3302000"/>
          </a:xfrm>
          <a:prstGeom prst="rect">
            <a:avLst/>
          </a:prstGeom>
        </p:spPr>
      </p:pic>
      <p:pic>
        <p:nvPicPr>
          <p:cNvPr id="7" name="flower-jasmine" descr="s6-06-flower-jasm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0" y="9296400"/>
            <a:ext cx="2743200" cy="2133600"/>
          </a:xfrm>
          <a:prstGeom prst="rect">
            <a:avLst/>
          </a:prstGeom>
        </p:spPr>
      </p:pic>
      <p:sp>
        <p:nvSpPr>
          <p:cNvPr id="8" name="big"/>
          <p:cNvSpPr txBox="1"/>
          <p:nvPr/>
        </p:nvSpPr>
        <p:spPr>
          <a:xfrm>
            <a:off x="541867" y="677333"/>
            <a:ext cx="7281333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470" i="1" b="0">
                <a:solidFill>
                  <a:srgbClr val="F4F1EA"/>
                </a:solidFill>
                <a:latin typeface="EB Garamond"/>
              </a:rPr>
              <a:t>Our first workshop in Asia!</a:t>
            </a:r>
          </a:p>
        </p:txBody>
      </p:sp>
      <p:sp>
        <p:nvSpPr>
          <p:cNvPr id="9" name="words"/>
          <p:cNvSpPr txBox="1"/>
          <p:nvPr/>
        </p:nvSpPr>
        <p:spPr>
          <a:xfrm>
            <a:off x="575733" y="2794000"/>
            <a:ext cx="6434667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070" i="1" b="0">
                <a:solidFill>
                  <a:srgbClr val="F4F1EA"/>
                </a:solidFill>
                <a:latin typeface="EB Garamond"/>
              </a:rPr>
              <a:t>Hosted at the Save Soil Farm in Coimbatore India.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7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amaranth-kenya" descr="s7-02-photo-amaranth-keny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46400"/>
            <a:ext cx="4927600" cy="4944533"/>
          </a:xfrm>
          <a:prstGeom prst="rect">
            <a:avLst/>
          </a:prstGeom>
        </p:spPr>
      </p:pic>
      <p:pic>
        <p:nvPicPr>
          <p:cNvPr id="4" name="photo-lined-tank" descr="s7-03-photo-lined-ta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200" y="3234267"/>
            <a:ext cx="4842933" cy="4030133"/>
          </a:xfrm>
          <a:prstGeom prst="rect">
            <a:avLst/>
          </a:prstGeom>
        </p:spPr>
      </p:pic>
      <p:pic>
        <p:nvPicPr>
          <p:cNvPr id="5" name="photo-greenhouse-nairobi" descr="s7-04-photo-greenhouse-nairob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8600" y="6790267"/>
            <a:ext cx="6485467" cy="4368800"/>
          </a:xfrm>
          <a:prstGeom prst="rect">
            <a:avLst/>
          </a:prstGeom>
        </p:spPr>
      </p:pic>
      <p:pic>
        <p:nvPicPr>
          <p:cNvPr id="6" name="earthworm" descr="s7-05-earthw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8864600"/>
            <a:ext cx="2379133" cy="2565400"/>
          </a:xfrm>
          <a:prstGeom prst="rect">
            <a:avLst/>
          </a:prstGeom>
        </p:spPr>
      </p:pic>
      <p:pic>
        <p:nvPicPr>
          <p:cNvPr id="7" name="flower-globemallow" descr="s7-06-flower-globemal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2667" y="8161867"/>
            <a:ext cx="2201333" cy="3268133"/>
          </a:xfrm>
          <a:prstGeom prst="rect">
            <a:avLst/>
          </a:prstGeom>
        </p:spPr>
      </p:pic>
      <p:sp>
        <p:nvSpPr>
          <p:cNvPr id="8" name="words"/>
          <p:cNvSpPr txBox="1"/>
          <p:nvPr/>
        </p:nvSpPr>
        <p:spPr>
          <a:xfrm>
            <a:off x="541867" y="677333"/>
            <a:ext cx="7874000" cy="2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4130" i="1" b="0">
                <a:solidFill>
                  <a:srgbClr val="22371F"/>
                </a:solidFill>
                <a:latin typeface="EB Garamond"/>
              </a:rPr>
              <a:t>Foundation courses that no longer expire, weekly office hours, and every support message answered within 48 hours.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8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cheering-compost-cage" descr="s8-02-photo-cheering-compost-c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16200"/>
            <a:ext cx="4699000" cy="5604933"/>
          </a:xfrm>
          <a:prstGeom prst="rect">
            <a:avLst/>
          </a:prstGeom>
        </p:spPr>
      </p:pic>
      <p:pic>
        <p:nvPicPr>
          <p:cNvPr id="4" name="photo-wild-ken-hill-pile" descr="s8-03-photo-wild-ken-hill-p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8667" y="2396067"/>
            <a:ext cx="4572000" cy="5367867"/>
          </a:xfrm>
          <a:prstGeom prst="rect">
            <a:avLst/>
          </a:prstGeom>
        </p:spPr>
      </p:pic>
      <p:pic>
        <p:nvPicPr>
          <p:cNvPr id="5" name="photo-four-men-plant-pile" descr="s8-04-photo-four-men-plant-p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289800"/>
            <a:ext cx="5088467" cy="4047067"/>
          </a:xfrm>
          <a:prstGeom prst="rect">
            <a:avLst/>
          </a:prstGeom>
        </p:spPr>
      </p:pic>
      <p:pic>
        <p:nvPicPr>
          <p:cNvPr id="6" name="photo-grey-shirts" descr="s8-05-photo-grey-shir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0200" y="6951133"/>
            <a:ext cx="5003800" cy="4047067"/>
          </a:xfrm>
          <a:prstGeom prst="rect">
            <a:avLst/>
          </a:prstGeom>
        </p:spPr>
      </p:pic>
      <p:pic>
        <p:nvPicPr>
          <p:cNvPr id="7" name="compost-fungal-threads" descr="s8-06-compost-fungal-threa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8067" y="9499600"/>
            <a:ext cx="2175933" cy="1930400"/>
          </a:xfrm>
          <a:prstGeom prst="rect">
            <a:avLst/>
          </a:prstGeom>
        </p:spPr>
      </p:pic>
      <p:pic>
        <p:nvPicPr>
          <p:cNvPr id="8" name="wood-chips" descr="s8-07-wood-chip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9694333"/>
            <a:ext cx="2218267" cy="1735667"/>
          </a:xfrm>
          <a:prstGeom prst="rect">
            <a:avLst/>
          </a:prstGeom>
        </p:spPr>
      </p:pic>
      <p:sp>
        <p:nvSpPr>
          <p:cNvPr id="9" name="words"/>
          <p:cNvSpPr txBox="1"/>
          <p:nvPr/>
        </p:nvSpPr>
        <p:spPr>
          <a:xfrm>
            <a:off x="541867" y="677333"/>
            <a:ext cx="7789333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4270" i="1" b="0">
                <a:solidFill>
                  <a:srgbClr val="22371F"/>
                </a:solidFill>
                <a:latin typeface="EB Garamond"/>
              </a:rPr>
              <a:t>Launched our Compost Intensive Course, the first in a series of online group programs.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9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poppy-field-group" descr="s9-02-photo-poppy-field-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7128933"/>
          </a:xfrm>
          <a:prstGeom prst="rect">
            <a:avLst/>
          </a:prstGeom>
        </p:spPr>
      </p:pic>
      <p:pic>
        <p:nvPicPr>
          <p:cNvPr id="4" name="photo-cyprus-group" descr="s9-03-photo-cyprus-gro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8800" y="7001933"/>
            <a:ext cx="3505200" cy="2929467"/>
          </a:xfrm>
          <a:prstGeom prst="rect">
            <a:avLst/>
          </a:prstGeom>
        </p:spPr>
      </p:pic>
      <p:pic>
        <p:nvPicPr>
          <p:cNvPr id="5" name="photo-field-walk-norfolk" descr="s9-04-photo-field-walk-norfo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7933" y="8847667"/>
            <a:ext cx="3606800" cy="2582333"/>
          </a:xfrm>
          <a:prstGeom prst="rect">
            <a:avLst/>
          </a:prstGeom>
        </p:spPr>
      </p:pic>
      <p:pic>
        <p:nvPicPr>
          <p:cNvPr id="6" name="logo" descr="s9-05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" y="9719733"/>
            <a:ext cx="1727200" cy="1710267"/>
          </a:xfrm>
          <a:prstGeom prst="rect">
            <a:avLst/>
          </a:prstGeom>
        </p:spPr>
      </p:pic>
      <p:pic>
        <p:nvPicPr>
          <p:cNvPr id="7" name="flower-poppy" descr="s9-06-flower-popp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57533" y="4792133"/>
            <a:ext cx="1786467" cy="3454400"/>
          </a:xfrm>
          <a:prstGeom prst="rect">
            <a:avLst/>
          </a:prstGeom>
        </p:spPr>
      </p:pic>
      <p:pic>
        <p:nvPicPr>
          <p:cNvPr id="8" name="flower-hibiscus" descr="s9-07-flower-hibiscu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7933" y="9364133"/>
            <a:ext cx="2421467" cy="2065867"/>
          </a:xfrm>
          <a:prstGeom prst="rect">
            <a:avLst/>
          </a:prstGeom>
        </p:spPr>
      </p:pic>
      <p:sp>
        <p:nvSpPr>
          <p:cNvPr id="9" name="words"/>
          <p:cNvSpPr txBox="1"/>
          <p:nvPr/>
        </p:nvSpPr>
        <p:spPr>
          <a:xfrm>
            <a:off x="541867" y="7281333"/>
            <a:ext cx="5249333" cy="279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4800" i="1" b="0">
                <a:solidFill>
                  <a:srgbClr val="F4F1EA"/>
                </a:solidFill>
                <a:latin typeface="EB Garamond"/>
              </a:rPr>
              <a:t>Thank you for growing with us. Here's to year two. 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